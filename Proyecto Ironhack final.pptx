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comments/modernComment_702A95DC_4717BDB5.xml" ContentType="application/vnd.ms-powerpoint.comments+xml"/>
  <Override PartName="/ppt/notesSlides/notesSlide2.xml" ContentType="application/vnd.openxmlformats-officedocument.presentationml.notesSlide+xml"/>
  <Override PartName="/ppt/comments/modernComment_104_0.xml" ContentType="application/vnd.ms-powerpoint.comments+xml"/>
  <Override PartName="/ppt/charts/chart1.xml" ContentType="application/vnd.openxmlformats-officedocument.drawingml.chart+xml"/>
  <Override PartName="/ppt/charts/chart2.xml" ContentType="application/vnd.openxmlformats-officedocument.drawingml.chart+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comments/modernComment_105_0.xml" ContentType="application/vnd.ms-powerpoint.comments+xml"/>
  <Override PartName="/ppt/charts/chart3.xml" ContentType="application/vnd.openxmlformats-officedocument.drawingml.chart+xml"/>
  <Override PartName="/ppt/charts/chart4.xml" ContentType="application/vnd.openxmlformats-officedocument.drawingml.chart+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comments/modernComment_702A95E2_78C8ECA3.xml" ContentType="application/vnd.ms-powerpoint.comments+xml"/>
  <Override PartName="/ppt/charts/chart5.xml" ContentType="application/vnd.openxmlformats-officedocument.drawingml.chart+xml"/>
  <Override PartName="/ppt/charts/style1.xml" ContentType="application/vnd.ms-office.chartstyle+xml"/>
  <Override PartName="/ppt/charts/colors1.xml" ContentType="application/vnd.ms-office.chartcolorstyle+xml"/>
  <Override PartName="/ppt/tags/tag10.xml" ContentType="application/vnd.openxmlformats-officedocument.presentationml.tag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1881839057" r:id="rId2"/>
    <p:sldId id="1881839068" r:id="rId3"/>
    <p:sldId id="1881839071" r:id="rId4"/>
    <p:sldId id="260" r:id="rId5"/>
    <p:sldId id="261" r:id="rId6"/>
    <p:sldId id="1881839075" r:id="rId7"/>
    <p:sldId id="1881839074" r:id="rId8"/>
    <p:sldId id="1881839065" r:id="rId9"/>
  </p:sldIdLst>
  <p:sldSz cx="9144000" cy="5143500" type="screen16x9"/>
  <p:notesSz cx="5143500" cy="9144000"/>
  <p:custDataLst>
    <p:tags r:id="rId11"/>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60CBE41-BFEA-41A7-9F43-7D9EFEA92253}">
          <p14:sldIdLst>
            <p14:sldId id="1881839057"/>
            <p14:sldId id="1881839068"/>
            <p14:sldId id="1881839071"/>
            <p14:sldId id="260"/>
            <p14:sldId id="261"/>
            <p14:sldId id="1881839075"/>
            <p14:sldId id="1881839074"/>
            <p14:sldId id="1881839065"/>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77E303-416F-17BD-FC16-4A9ADC911A97}" name="Iñaki Quer Corral" initials="IQ" userId="S::Inaki.Quer.Corral@es.ey.com::7e02d98a-f2c6-4fbb-9016-011a8461d2e7" providerId="AD"/>
  <p188:author id="{78FED54B-4CC2-C10E-0034-6782B36A3E93}" name="Carlos Herrera Guinart" initials="CH" userId="S::Carlos.Herrera.Guinart@es.ey.com::3b756f31-42db-4970-adac-9c41a4bafab5" providerId="AD"/>
  <p188:author id="{C0E0A584-288F-1329-2A2B-B21E91C145E5}" name="Paula Maria Besora" initials="PM" userId="S::Paula.Maria.Besora@es.ey.com::9cc480f5-6511-47ac-9988-286661b9c233" providerId="AD"/>
  <p188:author id="{DD2789A5-2085-FB3D-C119-FD48E5AB8001}" name="Paula Maria Besora" initials="PB" userId="S::paula.maria.besora@es.ey.com::9cc480f5-6511-47ac-9988-286661b9c233" providerId="AD"/>
  <p188:author id="{9A1279E1-BC1A-30A7-526E-5FFF2DBCD7B7}" name="Laia Maso I Reixach" initials="LM" userId="S::Laia.Maso.I.Reixach@es.ey.com::07ba3a86-e589-4d8d-9e66-87d4946c1585" providerId="AD"/>
  <p188:author id="{62E99FEF-73B5-0C54-860A-B09D75B2FC4F}" name="Paula Garcia Charques" initials="PC" userId="S::paula.garcia.charques@es.ey.com::8ffeba6d-7ab8-432e-9104-2928809bdde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7E700"/>
    <a:srgbClr val="1A1A24"/>
    <a:srgbClr val="A5A5A5"/>
    <a:srgbClr val="C4C4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810" dt="2026-10-05T15:59:13.286"/>
    <p1510:client id="{14EB01CF-431C-40E7-868E-3E0CA6E7F0C7}" v="723" vWet="1009" dt="2026-10-05T10:57:16.135"/>
    <p1510:client id="{42E78475-22E2-CC3B-838B-C9CA16A76B5F}" v="2" dt="2026-10-05T15:50:48.103"/>
    <p1510:client id="{46420406-94ED-4D69-A610-8CBF614034B8}" v="954" vWet="1401" dt="2026-10-05T14:42:55.036"/>
    <p1510:client id="{49F93C4F-E6E5-154F-B49B-13D4FA33E56B}" v="8" dt="2026-10-05T11:40:26.522"/>
    <p1510:client id="{4EE1F0B1-577C-B757-7679-136AD6227397}" v="83" dt="2026-10-05T11:59:03.744"/>
    <p1510:client id="{5238E3C6-7D3F-E40F-0E68-12E9EE491F2F}" v="14" dt="2026-10-05T13:45:52.338"/>
    <p1510:client id="{526DC463-D947-5F91-D1FC-7A94B947207D}" v="2" dt="2026-10-05T15:49:29.129"/>
    <p1510:client id="{5BA2BE22-2356-4BCC-A6D4-341D45B438EA}" v="1268" dt="2026-10-05T11:23:35.878"/>
    <p1510:client id="{6084E96F-28D6-273D-FBAA-073583258EEA}" v="3" dt="2026-10-05T08:23:39.483"/>
    <p1510:client id="{890B9F54-D28A-636F-743F-6B2A34B7712A}" v="2" dt="2026-10-05T14:44:19.273"/>
    <p1510:client id="{8A34FF94-E891-43A3-AFA1-A79DD4DE1901}" v="626" dt="2026-10-05T08:44:14.608"/>
    <p1510:client id="{A19B72BE-1E88-AF63-8086-D7D04F38F6F4}" v="11" dt="2026-10-05T11:43:48.948"/>
    <p1510:client id="{AEDDCF4C-9B73-4783-9B6F-109CFFDA8A8F}" v="347" dt="2026-10-05T11:45:47.571"/>
    <p1510:client id="{B2971D75-4F48-B4E4-43ED-1917644C65CD}" v="19" dt="2026-10-06T10:24:27.377"/>
    <p1510:client id="{BAF3B79D-F89E-424B-AF69-4505592D0735}" v="1403" vWet="1512" dt="2026-10-05T10:16:14.779"/>
    <p1510:client id="{E018A031-A1D7-4B73-9C7D-D564CD5BE087}" v="18" dt="2026-10-05T08:46:51.885"/>
    <p1510:client id="{E10B89CF-3ECB-4355-85A3-688FD4405AE8}" v="5" dt="2026-10-05T14:54:39.246"/>
    <p1510:client id="{F6509FE5-1EA8-5520-EE82-FFE1CEC850A9}" v="32" dt="2026-10-05T13:12:27.2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5.xml.rels><?xml version="1.0" encoding="UTF-8" standalone="yes"?>
<Relationships xmlns="http://schemas.openxmlformats.org/package/2006/relationships"><Relationship Id="rId3" Type="http://schemas.openxmlformats.org/officeDocument/2006/relationships/oleObject" Target="https://people.ey.com/personal/carlos_herrera_guinart_es_ey_com/Documents/Proyecto%20Ironhack_Pie.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2024 · €/habitante</c:v>
                </c:pt>
              </c:strCache>
            </c:strRef>
          </c:tx>
          <c:spPr>
            <a:solidFill>
              <a:srgbClr val="FFE600"/>
            </a:solidFill>
            <a:effectLst/>
          </c:spPr>
          <c:invertIfNegative val="0"/>
          <c:dPt>
            <c:idx val="0"/>
            <c:invertIfNegative val="0"/>
            <c:bubble3D val="0"/>
            <c:extLst>
              <c:ext xmlns:c16="http://schemas.microsoft.com/office/drawing/2014/chart" uri="{C3380CC4-5D6E-409C-BE32-E72D297353CC}">
                <c16:uniqueId val="{00000001-B02E-467F-83F2-2970A3AE241C}"/>
              </c:ext>
            </c:extLst>
          </c:dPt>
          <c:dPt>
            <c:idx val="1"/>
            <c:invertIfNegative val="0"/>
            <c:bubble3D val="0"/>
            <c:spPr>
              <a:solidFill>
                <a:srgbClr val="C4C4CD"/>
              </a:solidFill>
              <a:effectLst/>
            </c:spPr>
            <c:extLst>
              <c:ext xmlns:c16="http://schemas.microsoft.com/office/drawing/2014/chart" uri="{C3380CC4-5D6E-409C-BE32-E72D297353CC}">
                <c16:uniqueId val="{00000003-B02E-467F-83F2-2970A3AE241C}"/>
              </c:ext>
            </c:extLst>
          </c:dPt>
          <c:dPt>
            <c:idx val="2"/>
            <c:invertIfNegative val="0"/>
            <c:bubble3D val="0"/>
            <c:spPr>
              <a:solidFill>
                <a:srgbClr val="C4C4CD"/>
              </a:solidFill>
              <a:effectLst/>
            </c:spPr>
            <c:extLst>
              <c:ext xmlns:c16="http://schemas.microsoft.com/office/drawing/2014/chart" uri="{C3380CC4-5D6E-409C-BE32-E72D297353CC}">
                <c16:uniqueId val="{00000005-B02E-467F-83F2-2970A3AE241C}"/>
              </c:ext>
            </c:extLst>
          </c:dPt>
          <c:dPt>
            <c:idx val="3"/>
            <c:invertIfNegative val="0"/>
            <c:bubble3D val="0"/>
            <c:spPr>
              <a:solidFill>
                <a:srgbClr val="C4C4CD"/>
              </a:solidFill>
              <a:effectLst/>
            </c:spPr>
            <c:extLst>
              <c:ext xmlns:c16="http://schemas.microsoft.com/office/drawing/2014/chart" uri="{C3380CC4-5D6E-409C-BE32-E72D297353CC}">
                <c16:uniqueId val="{00000007-B02E-467F-83F2-2970A3AE241C}"/>
              </c:ext>
            </c:extLst>
          </c:dPt>
          <c:dPt>
            <c:idx val="4"/>
            <c:invertIfNegative val="0"/>
            <c:bubble3D val="0"/>
            <c:spPr>
              <a:solidFill>
                <a:srgbClr val="C4C4CD"/>
              </a:solidFill>
              <a:effectLst/>
            </c:spPr>
            <c:extLst>
              <c:ext xmlns:c16="http://schemas.microsoft.com/office/drawing/2014/chart" uri="{C3380CC4-5D6E-409C-BE32-E72D297353CC}">
                <c16:uniqueId val="{00000009-B02E-467F-83F2-2970A3AE241C}"/>
              </c:ext>
            </c:extLst>
          </c:dPt>
          <c:dPt>
            <c:idx val="5"/>
            <c:invertIfNegative val="0"/>
            <c:bubble3D val="0"/>
            <c:spPr>
              <a:solidFill>
                <a:srgbClr val="C4C4CD"/>
              </a:solidFill>
              <a:effectLst/>
            </c:spPr>
            <c:extLst>
              <c:ext xmlns:c16="http://schemas.microsoft.com/office/drawing/2014/chart" uri="{C3380CC4-5D6E-409C-BE32-E72D297353CC}">
                <c16:uniqueId val="{0000000B-B02E-467F-83F2-2970A3AE241C}"/>
              </c:ext>
            </c:extLst>
          </c:dPt>
          <c:dPt>
            <c:idx val="6"/>
            <c:invertIfNegative val="0"/>
            <c:bubble3D val="0"/>
            <c:spPr>
              <a:solidFill>
                <a:srgbClr val="C4C4CD"/>
              </a:solidFill>
              <a:effectLst/>
            </c:spPr>
            <c:extLst>
              <c:ext xmlns:c16="http://schemas.microsoft.com/office/drawing/2014/chart" uri="{C3380CC4-5D6E-409C-BE32-E72D297353CC}">
                <c16:uniqueId val="{0000000D-B02E-467F-83F2-2970A3AE241C}"/>
              </c:ext>
            </c:extLst>
          </c:dPt>
          <c:dPt>
            <c:idx val="7"/>
            <c:invertIfNegative val="0"/>
            <c:bubble3D val="0"/>
            <c:spPr>
              <a:solidFill>
                <a:srgbClr val="C4C4CD"/>
              </a:solidFill>
              <a:effectLst/>
            </c:spPr>
            <c:extLst>
              <c:ext xmlns:c16="http://schemas.microsoft.com/office/drawing/2014/chart" uri="{C3380CC4-5D6E-409C-BE32-E72D297353CC}">
                <c16:uniqueId val="{0000000F-B02E-467F-83F2-2970A3AE241C}"/>
              </c:ext>
            </c:extLst>
          </c:dPt>
          <c:dPt>
            <c:idx val="8"/>
            <c:invertIfNegative val="0"/>
            <c:bubble3D val="0"/>
            <c:spPr>
              <a:solidFill>
                <a:srgbClr val="C4C4CD"/>
              </a:solidFill>
              <a:effectLst/>
            </c:spPr>
            <c:extLst>
              <c:ext xmlns:c16="http://schemas.microsoft.com/office/drawing/2014/chart" uri="{C3380CC4-5D6E-409C-BE32-E72D297353CC}">
                <c16:uniqueId val="{00000011-B02E-467F-83F2-2970A3AE241C}"/>
              </c:ext>
            </c:extLst>
          </c:dPt>
          <c:dPt>
            <c:idx val="9"/>
            <c:invertIfNegative val="0"/>
            <c:bubble3D val="0"/>
            <c:spPr>
              <a:solidFill>
                <a:srgbClr val="C4C4CD"/>
              </a:solidFill>
              <a:effectLst/>
            </c:spPr>
            <c:extLst>
              <c:ext xmlns:c16="http://schemas.microsoft.com/office/drawing/2014/chart" uri="{C3380CC4-5D6E-409C-BE32-E72D297353CC}">
                <c16:uniqueId val="{00000013-B02E-467F-83F2-2970A3AE241C}"/>
              </c:ext>
            </c:extLst>
          </c:dPt>
          <c:dPt>
            <c:idx val="10"/>
            <c:invertIfNegative val="0"/>
            <c:bubble3D val="0"/>
            <c:spPr>
              <a:solidFill>
                <a:srgbClr val="C4C4CD"/>
              </a:solidFill>
              <a:effectLst/>
            </c:spPr>
            <c:extLst>
              <c:ext xmlns:c16="http://schemas.microsoft.com/office/drawing/2014/chart" uri="{C3380CC4-5D6E-409C-BE32-E72D297353CC}">
                <c16:uniqueId val="{00000015-B02E-467F-83F2-2970A3AE241C}"/>
              </c:ext>
            </c:extLst>
          </c:dPt>
          <c:dPt>
            <c:idx val="11"/>
            <c:invertIfNegative val="0"/>
            <c:bubble3D val="0"/>
            <c:spPr>
              <a:solidFill>
                <a:srgbClr val="C4C4CD"/>
              </a:solidFill>
              <a:effectLst/>
            </c:spPr>
            <c:extLst>
              <c:ext xmlns:c16="http://schemas.microsoft.com/office/drawing/2014/chart" uri="{C3380CC4-5D6E-409C-BE32-E72D297353CC}">
                <c16:uniqueId val="{00000017-B02E-467F-83F2-2970A3AE241C}"/>
              </c:ext>
            </c:extLst>
          </c:dPt>
          <c:dPt>
            <c:idx val="12"/>
            <c:invertIfNegative val="0"/>
            <c:bubble3D val="0"/>
            <c:spPr>
              <a:solidFill>
                <a:srgbClr val="C4C4CD"/>
              </a:solidFill>
              <a:effectLst/>
            </c:spPr>
            <c:extLst>
              <c:ext xmlns:c16="http://schemas.microsoft.com/office/drawing/2014/chart" uri="{C3380CC4-5D6E-409C-BE32-E72D297353CC}">
                <c16:uniqueId val="{00000019-B02E-467F-83F2-2970A3AE241C}"/>
              </c:ext>
            </c:extLst>
          </c:dPt>
          <c:dPt>
            <c:idx val="13"/>
            <c:invertIfNegative val="0"/>
            <c:bubble3D val="0"/>
            <c:spPr>
              <a:solidFill>
                <a:srgbClr val="C4C4CD"/>
              </a:solidFill>
              <a:effectLst/>
            </c:spPr>
            <c:extLst>
              <c:ext xmlns:c16="http://schemas.microsoft.com/office/drawing/2014/chart" uri="{C3380CC4-5D6E-409C-BE32-E72D297353CC}">
                <c16:uniqueId val="{0000001B-B02E-467F-83F2-2970A3AE241C}"/>
              </c:ext>
            </c:extLst>
          </c:dPt>
          <c:dPt>
            <c:idx val="14"/>
            <c:invertIfNegative val="0"/>
            <c:bubble3D val="0"/>
            <c:spPr>
              <a:solidFill>
                <a:srgbClr val="C4C4CD"/>
              </a:solidFill>
              <a:effectLst/>
            </c:spPr>
            <c:extLst>
              <c:ext xmlns:c16="http://schemas.microsoft.com/office/drawing/2014/chart" uri="{C3380CC4-5D6E-409C-BE32-E72D297353CC}">
                <c16:uniqueId val="{0000001D-B02E-467F-83F2-2970A3AE241C}"/>
              </c:ext>
            </c:extLst>
          </c:dPt>
          <c:dPt>
            <c:idx val="15"/>
            <c:invertIfNegative val="0"/>
            <c:bubble3D val="0"/>
            <c:spPr>
              <a:solidFill>
                <a:srgbClr val="C4C4CD"/>
              </a:solidFill>
              <a:effectLst/>
            </c:spPr>
            <c:extLst>
              <c:ext xmlns:c16="http://schemas.microsoft.com/office/drawing/2014/chart" uri="{C3380CC4-5D6E-409C-BE32-E72D297353CC}">
                <c16:uniqueId val="{0000001F-B02E-467F-83F2-2970A3AE241C}"/>
              </c:ext>
            </c:extLst>
          </c:dPt>
          <c:dPt>
            <c:idx val="16"/>
            <c:invertIfNegative val="0"/>
            <c:bubble3D val="0"/>
            <c:spPr>
              <a:solidFill>
                <a:srgbClr val="2E2E38"/>
              </a:solidFill>
              <a:effectLst/>
            </c:spPr>
            <c:extLst>
              <c:ext xmlns:c16="http://schemas.microsoft.com/office/drawing/2014/chart" uri="{C3380CC4-5D6E-409C-BE32-E72D297353CC}">
                <c16:uniqueId val="{00000021-B02E-467F-83F2-2970A3AE241C}"/>
              </c:ext>
            </c:extLst>
          </c:dPt>
          <c:dLbls>
            <c:numFmt formatCode="#,##0" sourceLinked="0"/>
            <c:spPr>
              <a:noFill/>
              <a:ln>
                <a:noFill/>
              </a:ln>
              <a:effectLst/>
            </c:spPr>
            <c:txPr>
              <a:bodyPr/>
              <a:lstStyle/>
              <a:p>
                <a:pPr>
                  <a:defRPr sz="800" b="0" i="0" u="none" strike="noStrike">
                    <a:solidFill>
                      <a:srgbClr val="2E2E38"/>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Asturias</c:v>
                </c:pt>
                <c:pt idx="1">
                  <c:v>Cantabria</c:v>
                </c:pt>
                <c:pt idx="2">
                  <c:v>Castilla y León</c:v>
                </c:pt>
                <c:pt idx="3">
                  <c:v>Extremadura</c:v>
                </c:pt>
                <c:pt idx="4">
                  <c:v>Galicia</c:v>
                </c:pt>
                <c:pt idx="5">
                  <c:v>Región de Murcia</c:v>
                </c:pt>
                <c:pt idx="6">
                  <c:v>C. Valenciana</c:v>
                </c:pt>
                <c:pt idx="7">
                  <c:v>Aragón</c:v>
                </c:pt>
                <c:pt idx="8">
                  <c:v>Canarias</c:v>
                </c:pt>
                <c:pt idx="9">
                  <c:v>La Rioja</c:v>
                </c:pt>
                <c:pt idx="10">
                  <c:v>C. F. de Navarra</c:v>
                </c:pt>
                <c:pt idx="11">
                  <c:v>Castilla-La Mancha</c:v>
                </c:pt>
                <c:pt idx="12">
                  <c:v>País Vasco</c:v>
                </c:pt>
                <c:pt idx="13">
                  <c:v>Andalucía</c:v>
                </c:pt>
                <c:pt idx="14">
                  <c:v>Islas Baleares</c:v>
                </c:pt>
                <c:pt idx="15">
                  <c:v>Madrid</c:v>
                </c:pt>
                <c:pt idx="16">
                  <c:v>Cataluña</c:v>
                </c:pt>
              </c:strCache>
            </c:strRef>
          </c:cat>
          <c:val>
            <c:numRef>
              <c:f>Sheet1!$B$2:$B$18</c:f>
              <c:numCache>
                <c:formatCode>General</c:formatCode>
                <c:ptCount val="17"/>
                <c:pt idx="0">
                  <c:v>835.01</c:v>
                </c:pt>
                <c:pt idx="1">
                  <c:v>801.8</c:v>
                </c:pt>
                <c:pt idx="2">
                  <c:v>784.18</c:v>
                </c:pt>
                <c:pt idx="3">
                  <c:v>773.82</c:v>
                </c:pt>
                <c:pt idx="4">
                  <c:v>736.84</c:v>
                </c:pt>
                <c:pt idx="5">
                  <c:v>723.07</c:v>
                </c:pt>
                <c:pt idx="6">
                  <c:v>706.57</c:v>
                </c:pt>
                <c:pt idx="7">
                  <c:v>699.66</c:v>
                </c:pt>
                <c:pt idx="8">
                  <c:v>679.86</c:v>
                </c:pt>
                <c:pt idx="9">
                  <c:v>678.49</c:v>
                </c:pt>
                <c:pt idx="10">
                  <c:v>663</c:v>
                </c:pt>
                <c:pt idx="11">
                  <c:v>660.74</c:v>
                </c:pt>
                <c:pt idx="12">
                  <c:v>631.12</c:v>
                </c:pt>
                <c:pt idx="13">
                  <c:v>598</c:v>
                </c:pt>
                <c:pt idx="14">
                  <c:v>589.55999999999995</c:v>
                </c:pt>
                <c:pt idx="15">
                  <c:v>583.88</c:v>
                </c:pt>
                <c:pt idx="16">
                  <c:v>570.74</c:v>
                </c:pt>
              </c:numCache>
            </c:numRef>
          </c:val>
          <c:extLst>
            <c:ext xmlns:c16="http://schemas.microsoft.com/office/drawing/2014/chart" uri="{C3380CC4-5D6E-409C-BE32-E72D297353CC}">
              <c16:uniqueId val="{00000022-B02E-467F-83F2-2970A3AE241C}"/>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2E2E38"/>
                </a:solidFill>
                <a:latin typeface="Arial"/>
              </a:defRPr>
            </a:pPr>
            <a:endParaRPr lang="en-US"/>
          </a:p>
        </c:txPr>
        <c:crossAx val="2094734552"/>
        <c:crosses val="autoZero"/>
        <c:auto val="1"/>
        <c:lblAlgn val="ctr"/>
        <c:lblOffset val="100"/>
        <c:noMultiLvlLbl val="1"/>
      </c:catAx>
      <c:valAx>
        <c:axId val="2094734552"/>
        <c:scaling>
          <c:orientation val="minMax"/>
          <c:max val="10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2025 · €/habitante</c:v>
                </c:pt>
              </c:strCache>
            </c:strRef>
          </c:tx>
          <c:spPr>
            <a:solidFill>
              <a:srgbClr val="FFE600"/>
            </a:solidFill>
            <a:effectLst/>
          </c:spPr>
          <c:invertIfNegative val="0"/>
          <c:dPt>
            <c:idx val="0"/>
            <c:invertIfNegative val="0"/>
            <c:bubble3D val="0"/>
            <c:extLst>
              <c:ext xmlns:c16="http://schemas.microsoft.com/office/drawing/2014/chart" uri="{C3380CC4-5D6E-409C-BE32-E72D297353CC}">
                <c16:uniqueId val="{00000001-801B-44F6-8B83-A1C8CEBC644F}"/>
              </c:ext>
            </c:extLst>
          </c:dPt>
          <c:dPt>
            <c:idx val="1"/>
            <c:invertIfNegative val="0"/>
            <c:bubble3D val="0"/>
            <c:spPr>
              <a:solidFill>
                <a:srgbClr val="C4C4CD"/>
              </a:solidFill>
              <a:effectLst/>
            </c:spPr>
            <c:extLst>
              <c:ext xmlns:c16="http://schemas.microsoft.com/office/drawing/2014/chart" uri="{C3380CC4-5D6E-409C-BE32-E72D297353CC}">
                <c16:uniqueId val="{00000003-801B-44F6-8B83-A1C8CEBC644F}"/>
              </c:ext>
            </c:extLst>
          </c:dPt>
          <c:dPt>
            <c:idx val="2"/>
            <c:invertIfNegative val="0"/>
            <c:bubble3D val="0"/>
            <c:spPr>
              <a:solidFill>
                <a:srgbClr val="C4C4CD"/>
              </a:solidFill>
              <a:effectLst/>
            </c:spPr>
            <c:extLst>
              <c:ext xmlns:c16="http://schemas.microsoft.com/office/drawing/2014/chart" uri="{C3380CC4-5D6E-409C-BE32-E72D297353CC}">
                <c16:uniqueId val="{00000005-801B-44F6-8B83-A1C8CEBC644F}"/>
              </c:ext>
            </c:extLst>
          </c:dPt>
          <c:dPt>
            <c:idx val="3"/>
            <c:invertIfNegative val="0"/>
            <c:bubble3D val="0"/>
            <c:spPr>
              <a:solidFill>
                <a:srgbClr val="C4C4CD"/>
              </a:solidFill>
              <a:effectLst/>
            </c:spPr>
            <c:extLst>
              <c:ext xmlns:c16="http://schemas.microsoft.com/office/drawing/2014/chart" uri="{C3380CC4-5D6E-409C-BE32-E72D297353CC}">
                <c16:uniqueId val="{00000007-801B-44F6-8B83-A1C8CEBC644F}"/>
              </c:ext>
            </c:extLst>
          </c:dPt>
          <c:dPt>
            <c:idx val="4"/>
            <c:invertIfNegative val="0"/>
            <c:bubble3D val="0"/>
            <c:spPr>
              <a:solidFill>
                <a:srgbClr val="C4C4CD"/>
              </a:solidFill>
              <a:effectLst/>
            </c:spPr>
            <c:extLst>
              <c:ext xmlns:c16="http://schemas.microsoft.com/office/drawing/2014/chart" uri="{C3380CC4-5D6E-409C-BE32-E72D297353CC}">
                <c16:uniqueId val="{00000009-801B-44F6-8B83-A1C8CEBC644F}"/>
              </c:ext>
            </c:extLst>
          </c:dPt>
          <c:dPt>
            <c:idx val="5"/>
            <c:invertIfNegative val="0"/>
            <c:bubble3D val="0"/>
            <c:spPr>
              <a:solidFill>
                <a:srgbClr val="C4C4CD"/>
              </a:solidFill>
              <a:effectLst/>
            </c:spPr>
            <c:extLst>
              <c:ext xmlns:c16="http://schemas.microsoft.com/office/drawing/2014/chart" uri="{C3380CC4-5D6E-409C-BE32-E72D297353CC}">
                <c16:uniqueId val="{0000000B-801B-44F6-8B83-A1C8CEBC644F}"/>
              </c:ext>
            </c:extLst>
          </c:dPt>
          <c:dPt>
            <c:idx val="6"/>
            <c:invertIfNegative val="0"/>
            <c:bubble3D val="0"/>
            <c:spPr>
              <a:solidFill>
                <a:srgbClr val="C4C4CD"/>
              </a:solidFill>
              <a:effectLst/>
            </c:spPr>
            <c:extLst>
              <c:ext xmlns:c16="http://schemas.microsoft.com/office/drawing/2014/chart" uri="{C3380CC4-5D6E-409C-BE32-E72D297353CC}">
                <c16:uniqueId val="{0000000D-801B-44F6-8B83-A1C8CEBC644F}"/>
              </c:ext>
            </c:extLst>
          </c:dPt>
          <c:dPt>
            <c:idx val="7"/>
            <c:invertIfNegative val="0"/>
            <c:bubble3D val="0"/>
            <c:spPr>
              <a:solidFill>
                <a:srgbClr val="C4C4CD"/>
              </a:solidFill>
              <a:effectLst/>
            </c:spPr>
            <c:extLst>
              <c:ext xmlns:c16="http://schemas.microsoft.com/office/drawing/2014/chart" uri="{C3380CC4-5D6E-409C-BE32-E72D297353CC}">
                <c16:uniqueId val="{0000000F-801B-44F6-8B83-A1C8CEBC644F}"/>
              </c:ext>
            </c:extLst>
          </c:dPt>
          <c:dPt>
            <c:idx val="8"/>
            <c:invertIfNegative val="0"/>
            <c:bubble3D val="0"/>
            <c:spPr>
              <a:solidFill>
                <a:srgbClr val="C4C4CD"/>
              </a:solidFill>
              <a:effectLst/>
            </c:spPr>
            <c:extLst>
              <c:ext xmlns:c16="http://schemas.microsoft.com/office/drawing/2014/chart" uri="{C3380CC4-5D6E-409C-BE32-E72D297353CC}">
                <c16:uniqueId val="{00000011-801B-44F6-8B83-A1C8CEBC644F}"/>
              </c:ext>
            </c:extLst>
          </c:dPt>
          <c:dPt>
            <c:idx val="9"/>
            <c:invertIfNegative val="0"/>
            <c:bubble3D val="0"/>
            <c:spPr>
              <a:solidFill>
                <a:srgbClr val="C4C4CD"/>
              </a:solidFill>
              <a:effectLst/>
            </c:spPr>
            <c:extLst>
              <c:ext xmlns:c16="http://schemas.microsoft.com/office/drawing/2014/chart" uri="{C3380CC4-5D6E-409C-BE32-E72D297353CC}">
                <c16:uniqueId val="{00000013-801B-44F6-8B83-A1C8CEBC644F}"/>
              </c:ext>
            </c:extLst>
          </c:dPt>
          <c:dPt>
            <c:idx val="10"/>
            <c:invertIfNegative val="0"/>
            <c:bubble3D val="0"/>
            <c:spPr>
              <a:solidFill>
                <a:srgbClr val="C4C4CD"/>
              </a:solidFill>
              <a:effectLst/>
            </c:spPr>
            <c:extLst>
              <c:ext xmlns:c16="http://schemas.microsoft.com/office/drawing/2014/chart" uri="{C3380CC4-5D6E-409C-BE32-E72D297353CC}">
                <c16:uniqueId val="{00000015-801B-44F6-8B83-A1C8CEBC644F}"/>
              </c:ext>
            </c:extLst>
          </c:dPt>
          <c:dPt>
            <c:idx val="11"/>
            <c:invertIfNegative val="0"/>
            <c:bubble3D val="0"/>
            <c:spPr>
              <a:solidFill>
                <a:srgbClr val="C4C4CD"/>
              </a:solidFill>
              <a:effectLst/>
            </c:spPr>
            <c:extLst>
              <c:ext xmlns:c16="http://schemas.microsoft.com/office/drawing/2014/chart" uri="{C3380CC4-5D6E-409C-BE32-E72D297353CC}">
                <c16:uniqueId val="{00000017-801B-44F6-8B83-A1C8CEBC644F}"/>
              </c:ext>
            </c:extLst>
          </c:dPt>
          <c:dPt>
            <c:idx val="12"/>
            <c:invertIfNegative val="0"/>
            <c:bubble3D val="0"/>
            <c:spPr>
              <a:solidFill>
                <a:srgbClr val="C4C4CD"/>
              </a:solidFill>
              <a:effectLst/>
            </c:spPr>
            <c:extLst>
              <c:ext xmlns:c16="http://schemas.microsoft.com/office/drawing/2014/chart" uri="{C3380CC4-5D6E-409C-BE32-E72D297353CC}">
                <c16:uniqueId val="{00000019-801B-44F6-8B83-A1C8CEBC644F}"/>
              </c:ext>
            </c:extLst>
          </c:dPt>
          <c:dPt>
            <c:idx val="13"/>
            <c:invertIfNegative val="0"/>
            <c:bubble3D val="0"/>
            <c:spPr>
              <a:solidFill>
                <a:srgbClr val="C4C4CD"/>
              </a:solidFill>
              <a:effectLst/>
            </c:spPr>
            <c:extLst>
              <c:ext xmlns:c16="http://schemas.microsoft.com/office/drawing/2014/chart" uri="{C3380CC4-5D6E-409C-BE32-E72D297353CC}">
                <c16:uniqueId val="{0000001B-801B-44F6-8B83-A1C8CEBC644F}"/>
              </c:ext>
            </c:extLst>
          </c:dPt>
          <c:dPt>
            <c:idx val="14"/>
            <c:invertIfNegative val="0"/>
            <c:bubble3D val="0"/>
            <c:spPr>
              <a:solidFill>
                <a:srgbClr val="C4C4CD"/>
              </a:solidFill>
              <a:effectLst/>
            </c:spPr>
            <c:extLst>
              <c:ext xmlns:c16="http://schemas.microsoft.com/office/drawing/2014/chart" uri="{C3380CC4-5D6E-409C-BE32-E72D297353CC}">
                <c16:uniqueId val="{0000001D-801B-44F6-8B83-A1C8CEBC644F}"/>
              </c:ext>
            </c:extLst>
          </c:dPt>
          <c:dPt>
            <c:idx val="15"/>
            <c:invertIfNegative val="0"/>
            <c:bubble3D val="0"/>
            <c:spPr>
              <a:solidFill>
                <a:srgbClr val="C4C4CD"/>
              </a:solidFill>
              <a:effectLst/>
            </c:spPr>
            <c:extLst>
              <c:ext xmlns:c16="http://schemas.microsoft.com/office/drawing/2014/chart" uri="{C3380CC4-5D6E-409C-BE32-E72D297353CC}">
                <c16:uniqueId val="{0000001F-801B-44F6-8B83-A1C8CEBC644F}"/>
              </c:ext>
            </c:extLst>
          </c:dPt>
          <c:dPt>
            <c:idx val="16"/>
            <c:invertIfNegative val="0"/>
            <c:bubble3D val="0"/>
            <c:spPr>
              <a:solidFill>
                <a:srgbClr val="2E2E38"/>
              </a:solidFill>
              <a:effectLst/>
            </c:spPr>
            <c:extLst>
              <c:ext xmlns:c16="http://schemas.microsoft.com/office/drawing/2014/chart" uri="{C3380CC4-5D6E-409C-BE32-E72D297353CC}">
                <c16:uniqueId val="{00000021-801B-44F6-8B83-A1C8CEBC644F}"/>
              </c:ext>
            </c:extLst>
          </c:dPt>
          <c:dLbls>
            <c:numFmt formatCode="#,##0" sourceLinked="0"/>
            <c:spPr>
              <a:noFill/>
              <a:ln>
                <a:noFill/>
              </a:ln>
              <a:effectLst/>
            </c:spPr>
            <c:txPr>
              <a:bodyPr/>
              <a:lstStyle/>
              <a:p>
                <a:pPr>
                  <a:defRPr sz="800" b="0" i="0" u="none" strike="noStrike">
                    <a:solidFill>
                      <a:srgbClr val="2E2E38"/>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Asturias</c:v>
                </c:pt>
                <c:pt idx="1">
                  <c:v>Cantabria</c:v>
                </c:pt>
                <c:pt idx="2">
                  <c:v>Castilla y León</c:v>
                </c:pt>
                <c:pt idx="3">
                  <c:v>Extremadura</c:v>
                </c:pt>
                <c:pt idx="4">
                  <c:v>Galicia</c:v>
                </c:pt>
                <c:pt idx="5">
                  <c:v>Región de Murcia</c:v>
                </c:pt>
                <c:pt idx="6">
                  <c:v>Aragón</c:v>
                </c:pt>
                <c:pt idx="7">
                  <c:v>C. Valenciana</c:v>
                </c:pt>
                <c:pt idx="8">
                  <c:v>La Rioja</c:v>
                </c:pt>
                <c:pt idx="9">
                  <c:v>Canarias</c:v>
                </c:pt>
                <c:pt idx="10">
                  <c:v>C. F. de Navarra</c:v>
                </c:pt>
                <c:pt idx="11">
                  <c:v>Castilla-La Mancha</c:v>
                </c:pt>
                <c:pt idx="12">
                  <c:v>País Vasco</c:v>
                </c:pt>
                <c:pt idx="13">
                  <c:v>Andalucía</c:v>
                </c:pt>
                <c:pt idx="14">
                  <c:v>Madrid</c:v>
                </c:pt>
                <c:pt idx="15">
                  <c:v>Islas Baleares</c:v>
                </c:pt>
                <c:pt idx="16">
                  <c:v>Cataluña</c:v>
                </c:pt>
              </c:strCache>
            </c:strRef>
          </c:cat>
          <c:val>
            <c:numRef>
              <c:f>Sheet1!$B$2:$B$18</c:f>
              <c:numCache>
                <c:formatCode>General</c:formatCode>
                <c:ptCount val="17"/>
                <c:pt idx="0">
                  <c:v>887.82</c:v>
                </c:pt>
                <c:pt idx="1">
                  <c:v>860.45</c:v>
                </c:pt>
                <c:pt idx="2">
                  <c:v>831.82</c:v>
                </c:pt>
                <c:pt idx="3">
                  <c:v>815.13</c:v>
                </c:pt>
                <c:pt idx="4">
                  <c:v>775.28</c:v>
                </c:pt>
                <c:pt idx="5">
                  <c:v>751.22</c:v>
                </c:pt>
                <c:pt idx="6">
                  <c:v>740.04</c:v>
                </c:pt>
                <c:pt idx="7">
                  <c:v>729.84</c:v>
                </c:pt>
                <c:pt idx="8">
                  <c:v>705.21</c:v>
                </c:pt>
                <c:pt idx="9">
                  <c:v>701.5</c:v>
                </c:pt>
                <c:pt idx="10">
                  <c:v>692.64</c:v>
                </c:pt>
                <c:pt idx="11">
                  <c:v>691.38</c:v>
                </c:pt>
                <c:pt idx="12">
                  <c:v>670.99</c:v>
                </c:pt>
                <c:pt idx="13">
                  <c:v>614.96</c:v>
                </c:pt>
                <c:pt idx="14">
                  <c:v>609.6</c:v>
                </c:pt>
                <c:pt idx="15">
                  <c:v>609.09</c:v>
                </c:pt>
                <c:pt idx="16">
                  <c:v>601.78</c:v>
                </c:pt>
              </c:numCache>
            </c:numRef>
          </c:val>
          <c:extLst>
            <c:ext xmlns:c16="http://schemas.microsoft.com/office/drawing/2014/chart" uri="{C3380CC4-5D6E-409C-BE32-E72D297353CC}">
              <c16:uniqueId val="{00000022-801B-44F6-8B83-A1C8CEBC644F}"/>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2E2E38"/>
                </a:solidFill>
                <a:latin typeface="Arial"/>
              </a:defRPr>
            </a:pPr>
            <a:endParaRPr lang="en-US"/>
          </a:p>
        </c:txPr>
        <c:crossAx val="2094734552"/>
        <c:crosses val="autoZero"/>
        <c:auto val="1"/>
        <c:lblAlgn val="ctr"/>
        <c:lblOffset val="100"/>
        <c:noMultiLvlLbl val="1"/>
      </c:catAx>
      <c:valAx>
        <c:axId val="2094734552"/>
        <c:scaling>
          <c:orientation val="minMax"/>
          <c:max val="10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Brecha 2025</c:v>
                </c:pt>
              </c:strCache>
            </c:strRef>
          </c:tx>
          <c:spPr>
            <a:solidFill>
              <a:srgbClr val="FFE600"/>
            </a:solidFill>
            <a:effectLst/>
          </c:spPr>
          <c:invertIfNegative val="0"/>
          <c:dPt>
            <c:idx val="0"/>
            <c:invertIfNegative val="0"/>
            <c:bubble3D val="0"/>
            <c:spPr>
              <a:solidFill>
                <a:srgbClr val="C4C4CD"/>
              </a:solidFill>
              <a:effectLst/>
            </c:spPr>
            <c:extLst>
              <c:ext xmlns:c16="http://schemas.microsoft.com/office/drawing/2014/chart" uri="{C3380CC4-5D6E-409C-BE32-E72D297353CC}">
                <c16:uniqueId val="{00000001-6D52-4FBF-9D6D-16E5ACE06C03}"/>
              </c:ext>
            </c:extLst>
          </c:dPt>
          <c:dPt>
            <c:idx val="1"/>
            <c:invertIfNegative val="0"/>
            <c:bubble3D val="0"/>
            <c:extLst>
              <c:ext xmlns:c16="http://schemas.microsoft.com/office/drawing/2014/chart" uri="{C3380CC4-5D6E-409C-BE32-E72D297353CC}">
                <c16:uniqueId val="{00000003-6D52-4FBF-9D6D-16E5ACE06C03}"/>
              </c:ext>
            </c:extLst>
          </c:dPt>
          <c:dPt>
            <c:idx val="2"/>
            <c:invertIfNegative val="0"/>
            <c:bubble3D val="0"/>
            <c:spPr>
              <a:solidFill>
                <a:srgbClr val="A5A5A5"/>
              </a:solidFill>
              <a:effectLst/>
            </c:spPr>
            <c:extLst>
              <c:ext xmlns:c16="http://schemas.microsoft.com/office/drawing/2014/chart" uri="{C3380CC4-5D6E-409C-BE32-E72D297353CC}">
                <c16:uniqueId val="{00000005-6D52-4FBF-9D6D-16E5ACE06C03}"/>
              </c:ext>
            </c:extLst>
          </c:dPt>
          <c:dLbls>
            <c:numFmt formatCode="#,##0.00" sourceLinked="0"/>
            <c:spPr>
              <a:noFill/>
              <a:ln>
                <a:noFill/>
              </a:ln>
              <a:effectLst/>
            </c:spPr>
            <c:txPr>
              <a:bodyPr/>
              <a:lstStyle/>
              <a:p>
                <a:pPr>
                  <a:defRPr sz="1300" b="1" i="0" u="none" strike="noStrike">
                    <a:solidFill>
                      <a:srgbClr val="2E2E38"/>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Sin receta · 47,5%</c:v>
                </c:pt>
                <c:pt idx="1">
                  <c:v>Recetas · 40,0%</c:v>
                </c:pt>
                <c:pt idx="2">
                  <c:v>Gasto hospitalario · 12,5%</c:v>
                </c:pt>
              </c:strCache>
            </c:strRef>
          </c:cat>
          <c:val>
            <c:numRef>
              <c:f>Sheet1!$B$2:$B$4</c:f>
              <c:numCache>
                <c:formatCode>0</c:formatCode>
                <c:ptCount val="3"/>
                <c:pt idx="0">
                  <c:v>135.9</c:v>
                </c:pt>
                <c:pt idx="1">
                  <c:v>114.49</c:v>
                </c:pt>
                <c:pt idx="2">
                  <c:v>35.65</c:v>
                </c:pt>
              </c:numCache>
            </c:numRef>
          </c:val>
          <c:extLst>
            <c:ext xmlns:c16="http://schemas.microsoft.com/office/drawing/2014/chart" uri="{C3380CC4-5D6E-409C-BE32-E72D297353CC}">
              <c16:uniqueId val="{00000006-6D52-4FBF-9D6D-16E5ACE06C03}"/>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2E2E38"/>
                </a:solidFill>
                <a:latin typeface="Arial"/>
              </a:defRPr>
            </a:pPr>
            <a:endParaRPr lang="en-US"/>
          </a:p>
        </c:txPr>
        <c:crossAx val="2094734552"/>
        <c:crosses val="autoZero"/>
        <c:auto val="1"/>
        <c:lblAlgn val="ctr"/>
        <c:lblOffset val="100"/>
        <c:noMultiLvlLbl val="1"/>
      </c:catAx>
      <c:valAx>
        <c:axId val="2094734552"/>
        <c:scaling>
          <c:orientation val="minMax"/>
          <c:max val="17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332033788174139"/>
          <c:y val="0.15142150803461063"/>
          <c:w val="0.73294346978557501"/>
          <c:h val="0.69715698393077874"/>
        </c:manualLayout>
      </c:layout>
      <c:doughnutChart>
        <c:varyColors val="0"/>
        <c:ser>
          <c:idx val="0"/>
          <c:order val="0"/>
          <c:dPt>
            <c:idx val="0"/>
            <c:bubble3D val="0"/>
            <c:spPr>
              <a:solidFill>
                <a:schemeClr val="accent3"/>
              </a:solidFill>
              <a:ln w="9525" cmpd="sng" algn="ctr">
                <a:solidFill>
                  <a:srgbClr val="747480"/>
                </a:solidFill>
                <a:prstDash val="solid"/>
              </a:ln>
            </c:spPr>
            <c:extLst>
              <c:ext xmlns:c16="http://schemas.microsoft.com/office/drawing/2014/chart" uri="{C3380CC4-5D6E-409C-BE32-E72D297353CC}">
                <c16:uniqueId val="{00000000-9BF1-4EC4-B67E-7FCE1C83B257}"/>
              </c:ext>
            </c:extLst>
          </c:dPt>
          <c:dPt>
            <c:idx val="1"/>
            <c:bubble3D val="0"/>
            <c:spPr>
              <a:solidFill>
                <a:srgbClr val="FFE600"/>
              </a:solidFill>
              <a:ln w="9525" cmpd="sng" algn="ctr">
                <a:solidFill>
                  <a:srgbClr val="747480"/>
                </a:solidFill>
                <a:prstDash val="solid"/>
              </a:ln>
            </c:spPr>
            <c:extLst>
              <c:ext xmlns:c16="http://schemas.microsoft.com/office/drawing/2014/chart" uri="{C3380CC4-5D6E-409C-BE32-E72D297353CC}">
                <c16:uniqueId val="{00000001-9BF1-4EC4-B67E-7FCE1C83B257}"/>
              </c:ext>
            </c:extLst>
          </c:dPt>
          <c:dPt>
            <c:idx val="2"/>
            <c:bubble3D val="0"/>
            <c:spPr>
              <a:solidFill>
                <a:srgbClr val="C4C4CD"/>
              </a:solidFill>
              <a:ln w="9525" cmpd="sng" algn="ctr">
                <a:solidFill>
                  <a:srgbClr val="747480"/>
                </a:solidFill>
                <a:prstDash val="solid"/>
              </a:ln>
            </c:spPr>
            <c:extLst>
              <c:ext xmlns:c16="http://schemas.microsoft.com/office/drawing/2014/chart" uri="{C3380CC4-5D6E-409C-BE32-E72D297353CC}">
                <c16:uniqueId val="{00000002-9BF1-4EC4-B67E-7FCE1C83B257}"/>
              </c:ext>
            </c:extLst>
          </c:dPt>
          <c:dLbls>
            <c:dLbl>
              <c:idx val="0"/>
              <c:layout>
                <c:manualLayout>
                  <c:x val="9.0968161143599735E-3"/>
                  <c:y val="-6.180469715698393E-3"/>
                </c:manualLayout>
              </c:layout>
              <c:numFmt formatCode="#,##0&quot;%&quot;;&quot;-&quot;#,##0&quot;%&quot;" sourceLinked="0"/>
              <c:spPr>
                <a:noFill/>
                <a:ln>
                  <a:noFill/>
                </a:ln>
              </c:spPr>
              <c:txPr>
                <a:bodyPr wrap="none"/>
                <a:lstStyle/>
                <a:p>
                  <a:pPr>
                    <a:defRPr sz="1400" kern="1200">
                      <a:solidFill>
                        <a:schemeClr val="tx1"/>
                      </a:solidFill>
                      <a:latin typeface="+mn-lt"/>
                      <a:ea typeface="+mn-ea"/>
                      <a:cs typeface="+mn-cs"/>
                    </a:defRPr>
                  </a:pPr>
                  <a:endParaRPr lang="es-E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9BF1-4EC4-B67E-7FCE1C83B257}"/>
                </c:ext>
              </c:extLst>
            </c:dLbl>
            <c:dLbl>
              <c:idx val="1"/>
              <c:layout>
                <c:manualLayout>
                  <c:x val="-7.7972709551656916E-3"/>
                  <c:y val="1.8541409147095178E-2"/>
                </c:manualLayout>
              </c:layout>
              <c:numFmt formatCode="#,##0&quot;%&quot;;&quot;-&quot;#,##0&quot;%&quot;" sourceLinked="0"/>
              <c:spPr>
                <a:noFill/>
                <a:ln>
                  <a:noFill/>
                </a:ln>
              </c:spPr>
              <c:txPr>
                <a:bodyPr wrap="none"/>
                <a:lstStyle/>
                <a:p>
                  <a:pPr>
                    <a:defRPr sz="1400" kern="1200">
                      <a:solidFill>
                        <a:schemeClr val="tx1"/>
                      </a:solidFill>
                      <a:latin typeface="+mn-lt"/>
                      <a:ea typeface="+mn-ea"/>
                      <a:cs typeface="+mn-cs"/>
                    </a:defRPr>
                  </a:pPr>
                  <a:endParaRPr lang="es-E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9BF1-4EC4-B67E-7FCE1C83B257}"/>
                </c:ext>
              </c:extLst>
            </c:dLbl>
            <c:dLbl>
              <c:idx val="2"/>
              <c:layout>
                <c:manualLayout>
                  <c:x val="-8.4470435347628325E-3"/>
                  <c:y val="-1.1124845488257108E-2"/>
                </c:manualLayout>
              </c:layout>
              <c:numFmt formatCode="#,##0&quot;%&quot;;&quot;-&quot;#,##0&quot;%&quot;" sourceLinked="0"/>
              <c:spPr>
                <a:noFill/>
                <a:ln>
                  <a:noFill/>
                </a:ln>
              </c:spPr>
              <c:txPr>
                <a:bodyPr wrap="none"/>
                <a:lstStyle/>
                <a:p>
                  <a:pPr>
                    <a:defRPr sz="1400" kern="1200">
                      <a:solidFill>
                        <a:schemeClr val="tx1"/>
                      </a:solidFill>
                      <a:latin typeface="+mn-lt"/>
                      <a:ea typeface="+mn-ea"/>
                      <a:cs typeface="+mn-cs"/>
                    </a:defRPr>
                  </a:pPr>
                  <a:endParaRPr lang="es-E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9BF1-4EC4-B67E-7FCE1C83B25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Sheet1!$A$1:$A$3</c:f>
              <c:numCache>
                <c:formatCode>General</c:formatCode>
                <c:ptCount val="3"/>
                <c:pt idx="0">
                  <c:v>34.02227510431679</c:v>
                </c:pt>
                <c:pt idx="1">
                  <c:v>43.496727060006023</c:v>
                </c:pt>
                <c:pt idx="2">
                  <c:v>22.480997835677179</c:v>
                </c:pt>
              </c:numCache>
            </c:numRef>
          </c:val>
          <c:extLst>
            <c:ext xmlns:c16="http://schemas.microsoft.com/office/drawing/2014/chart" uri="{C3380CC4-5D6E-409C-BE32-E72D297353CC}">
              <c16:uniqueId val="{00000003-9BF1-4EC4-B67E-7FCE1C83B257}"/>
            </c:ext>
          </c:extLst>
        </c:ser>
        <c:dLbls>
          <c:showLegendKey val="0"/>
          <c:showVal val="0"/>
          <c:showCatName val="0"/>
          <c:showSerName val="0"/>
          <c:showPercent val="0"/>
          <c:showBubbleSize val="0"/>
          <c:showLeaderLines val="1"/>
        </c:dLbls>
        <c:firstSliceAng val="0"/>
        <c:holeSize val="50"/>
      </c:doughnutChart>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Peso de los fármacos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spPr>
            <a:solidFill>
              <a:srgbClr val="ADADAD"/>
            </a:solidFill>
          </c:spPr>
          <c:dPt>
            <c:idx val="0"/>
            <c:bubble3D val="0"/>
            <c:spPr>
              <a:solidFill>
                <a:srgbClr val="FFE30F"/>
              </a:solidFill>
              <a:ln w="19050">
                <a:solidFill>
                  <a:schemeClr val="lt1"/>
                </a:solidFill>
              </a:ln>
              <a:effectLst/>
            </c:spPr>
            <c:extLst>
              <c:ext xmlns:c16="http://schemas.microsoft.com/office/drawing/2014/chart" uri="{C3380CC4-5D6E-409C-BE32-E72D297353CC}">
                <c16:uniqueId val="{00000001-7F3B-4711-A561-2E63EB2D142C}"/>
              </c:ext>
            </c:extLst>
          </c:dPt>
          <c:dPt>
            <c:idx val="1"/>
            <c:bubble3D val="0"/>
            <c:spPr>
              <a:solidFill>
                <a:srgbClr val="ADADAD"/>
              </a:solidFill>
              <a:ln w="19050">
                <a:solidFill>
                  <a:schemeClr val="lt1"/>
                </a:solidFill>
              </a:ln>
              <a:effectLst/>
            </c:spPr>
            <c:extLst>
              <c:ext xmlns:c16="http://schemas.microsoft.com/office/drawing/2014/chart" uri="{C3380CC4-5D6E-409C-BE32-E72D297353CC}">
                <c16:uniqueId val="{00000003-7F3B-4711-A561-2E63EB2D142C}"/>
              </c:ext>
            </c:extLst>
          </c:dPt>
          <c:dPt>
            <c:idx val="2"/>
            <c:bubble3D val="0"/>
            <c:spPr>
              <a:solidFill>
                <a:srgbClr val="000000"/>
              </a:solidFill>
              <a:ln w="19050">
                <a:solidFill>
                  <a:schemeClr val="lt1"/>
                </a:solidFill>
              </a:ln>
              <a:effectLst/>
            </c:spPr>
            <c:extLst>
              <c:ext xmlns:c16="http://schemas.microsoft.com/office/drawing/2014/chart" uri="{C3380CC4-5D6E-409C-BE32-E72D297353CC}">
                <c16:uniqueId val="{00000005-7F3B-4711-A561-2E63EB2D142C}"/>
              </c:ext>
            </c:extLst>
          </c:dPt>
          <c:dPt>
            <c:idx val="3"/>
            <c:bubble3D val="0"/>
            <c:spPr>
              <a:solidFill>
                <a:srgbClr val="ADADAD"/>
              </a:solidFill>
              <a:ln w="19050">
                <a:solidFill>
                  <a:schemeClr val="lt1"/>
                </a:solidFill>
              </a:ln>
              <a:effectLst/>
            </c:spPr>
            <c:extLst>
              <c:ext xmlns:c16="http://schemas.microsoft.com/office/drawing/2014/chart" uri="{C3380CC4-5D6E-409C-BE32-E72D297353CC}">
                <c16:uniqueId val="{00000007-7F3B-4711-A561-2E63EB2D142C}"/>
              </c:ext>
            </c:extLst>
          </c:dPt>
          <c:cat>
            <c:strRef>
              <c:f>Sheet1!$A$2:$A$5</c:f>
              <c:strCache>
                <c:ptCount val="3"/>
                <c:pt idx="0">
                  <c:v>1st Qtr</c:v>
                </c:pt>
                <c:pt idx="1">
                  <c:v>2nd Qtr</c:v>
                </c:pt>
                <c:pt idx="2">
                  <c:v>3rd Qtr</c:v>
                </c:pt>
              </c:strCache>
            </c:strRef>
          </c:cat>
          <c:val>
            <c:numRef>
              <c:f>Sheet1!$B$2:$B$5</c:f>
              <c:numCache>
                <c:formatCode>General</c:formatCode>
                <c:ptCount val="4"/>
                <c:pt idx="0">
                  <c:v>6</c:v>
                </c:pt>
                <c:pt idx="1">
                  <c:v>15</c:v>
                </c:pt>
                <c:pt idx="2">
                  <c:v>0.25</c:v>
                </c:pt>
              </c:numCache>
            </c:numRef>
          </c:val>
          <c:extLst>
            <c:ext xmlns:c16="http://schemas.microsoft.com/office/drawing/2014/chart" uri="{C3380CC4-5D6E-409C-BE32-E72D297353CC}">
              <c16:uniqueId val="{00000000-FDE8-4F89-91CE-FE09574CBE04}"/>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04_0.xml><?xml version="1.0" encoding="utf-8"?>
<p188:cmLst xmlns:a="http://schemas.openxmlformats.org/drawingml/2006/main" xmlns:r="http://schemas.openxmlformats.org/officeDocument/2006/relationships" xmlns:p188="http://schemas.microsoft.com/office/powerpoint/2018/8/main">
  <p188:cm id="{712451CF-E712-40FE-BF07-70916DA5646E}" authorId="{9A1279E1-BC1A-30A7-526E-5FFF2DBCD7B7}" created="2026-10-05T08:42:26.406">
    <pc:sldMkLst xmlns:pc="http://schemas.microsoft.com/office/powerpoint/2013/main/command">
      <pc:docMk/>
      <pc:sldMk cId="0" sldId="260"/>
    </pc:sldMkLst>
    <p188:replyLst>
      <p188:reply id="{8ADFF640-64C6-457D-B0AD-9863767544E3}" authorId="{9A1279E1-BC1A-30A7-526E-5FFF2DBCD7B7}" created="2026-10-05T08:43:38.958">
        <p188:txBody>
          <a:bodyPr/>
          <a:lstStyle/>
          <a:p>
            <a:r>
              <a:rPr lang="es-ES"/>
              <a:t>Afegir grafica de gast total de asturia vs cataluña</a:t>
            </a:r>
          </a:p>
        </p188:txBody>
      </p188:reply>
      <p188:reply id="{21F5675F-1537-46DA-BAC0-50A634477984}" authorId="{C0E0A584-288F-1329-2A2B-B21E91C145E5}" created="2026-10-05T08:46:36.607">
        <p188:txBody>
          <a:bodyPr/>
          <a:lstStyle/>
          <a:p>
            <a:r>
              <a:rPr lang="es-ES"/>
              <a:t>[@Ariadna Moliner Salguero] </a:t>
            </a:r>
          </a:p>
        </p188:txBody>
      </p188:reply>
      <p188:reply id="{2A18F437-924D-437A-9B1E-3ED9C6048A7C}" authorId="{9F77E303-416F-17BD-FC16-4A9ADC911A97}" created="2026-10-05T08:46:50.808">
        <p188:txBody>
          <a:bodyPr/>
          <a:lstStyle/>
          <a:p>
            <a:r>
              <a:rPr lang="es-ES"/>
              <a:t>ari</a:t>
            </a:r>
          </a:p>
        </p188:txBody>
      </p188:reply>
    </p188:replyLst>
    <p188:txBody>
      <a:bodyPr/>
      <a:lstStyle/>
      <a:p>
        <a:r>
          <a:rPr lang="es-ES"/>
          <a:t>Explicar perque escollim el €/habitante</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B83B6519-4BF8-4EFE-ACC2-22387C8C34FE}" authorId="{9A1279E1-BC1A-30A7-526E-5FFF2DBCD7B7}" created="2026-10-05T08:44:17.421">
    <pc:sldMkLst xmlns:pc="http://schemas.microsoft.com/office/powerpoint/2013/main/command">
      <pc:docMk/>
      <pc:sldMk cId="0" sldId="261"/>
    </pc:sldMkLst>
    <p188:replyLst>
      <p188:reply id="{9F58F87D-7878-4320-9CC3-2A827C581ADF}" authorId="{9A1279E1-BC1A-30A7-526E-5FFF2DBCD7B7}" created="2026-10-05T08:45:49.169">
        <p188:txBody>
          <a:bodyPr/>
          <a:lstStyle/>
          <a:p>
            <a:r>
              <a:rPr lang="es-ES"/>
              <a:t>Explicar dades generals de la brecha</a:t>
            </a:r>
          </a:p>
        </p188:txBody>
      </p188:reply>
      <p188:reply id="{DA31A9F6-861C-40E8-8ED5-F3A46E95ADC5}" authorId="{C0E0A584-288F-1329-2A2B-B21E91C145E5}" created="2026-10-05T08:46:49.831">
        <p188:txBody>
          <a:bodyPr/>
          <a:lstStyle/>
          <a:p>
            <a:r>
              <a:rPr lang="es-ES"/>
              <a:t>[@Paula Maria Besora] </a:t>
            </a:r>
          </a:p>
        </p188:txBody>
      </p188:reply>
    </p188:replyLst>
    <p188:txBody>
      <a:bodyPr/>
      <a:lstStyle/>
      <a:p>
        <a:r>
          <a:rPr lang="es-ES"/>
          <a:t>Explicar un altre cosa que no sigui la brecha por habitante, mirar dades</a:t>
        </a:r>
      </a:p>
    </p188:txBody>
  </p188:cm>
  <p188:cm id="{F7041246-16CC-4607-8E28-FD0855EFF774}" authorId="{62E99FEF-73B5-0C54-860A-B09D75B2FC4F}" created="2026-10-05T13:30:48.252">
    <pc:sldMkLst xmlns:pc="http://schemas.microsoft.com/office/powerpoint/2013/main/command">
      <pc:docMk/>
      <pc:sldMk cId="0" sldId="261"/>
    </pc:sldMkLst>
    <p188:txBody>
      <a:bodyPr/>
      <a:lstStyle/>
      <a:p>
        <a:r>
          <a:rPr lang="en-US"/>
          <a:t>quitar decimales</a:t>
        </a:r>
      </a:p>
    </p188:txBody>
    <p188:extLst>
      <p:ext xmlns:p="http://schemas.openxmlformats.org/presentationml/2006/main" uri="{57CB4572-C831-44C2-8A1C-0ADB6CCDFE69}">
        <p223:reactions xmlns:p223="http://schemas.microsoft.com/office/powerpoint/2022/03/main">
          <p223:rxn type="👍">
            <p223:instance time="2026-10-05T15:48:24.798" authorId="{DD2789A5-2085-FB3D-C119-FD48E5AB8001}"/>
          </p223:rxn>
        </p223:reactions>
      </p:ext>
    </p188:extLst>
  </p188:cm>
</p188:cmLst>
</file>

<file path=ppt/comments/modernComment_702A95DC_4717BDB5.xml><?xml version="1.0" encoding="utf-8"?>
<p188:cmLst xmlns:a="http://schemas.openxmlformats.org/drawingml/2006/main" xmlns:r="http://schemas.openxmlformats.org/officeDocument/2006/relationships" xmlns:p188="http://schemas.microsoft.com/office/powerpoint/2018/8/main">
  <p188:cm id="{3461308A-7EA8-4A44-808A-454AB5AD51D1}" authorId="{62E99FEF-73B5-0C54-860A-B09D75B2FC4F}" created="2026-10-05T13:21:41.211">
    <pc:sldMkLst xmlns:pc="http://schemas.microsoft.com/office/powerpoint/2013/main/command">
      <pc:docMk/>
      <pc:sldMk cId="1192738229" sldId="1881839068"/>
    </pc:sldMkLst>
    <p188:txBody>
      <a:bodyPr/>
      <a:lstStyle/>
      <a:p>
        <a:r>
          <a:rPr lang="en-US"/>
          <a:t>Hay que añadir 2026 </a:t>
        </a:r>
      </a:p>
    </p188:txBody>
  </p188:cm>
  <p188:cm id="{5B3AF2B0-89C1-4CBE-B18C-328A7979FD56}" authorId="{62E99FEF-73B5-0C54-860A-B09D75B2FC4F}" created="2026-10-05T13:22:14.745">
    <pc:sldMkLst xmlns:pc="http://schemas.microsoft.com/office/powerpoint/2013/main/command">
      <pc:docMk/>
      <pc:sldMk cId="1192738229" sldId="1881839068"/>
    </pc:sldMkLst>
    <p188:txBody>
      <a:bodyPr/>
      <a:lstStyle/>
      <a:p>
        <a:r>
          <a:rPr lang="en-US"/>
          <a:t>reescribir la pregunta?</a:t>
        </a:r>
      </a:p>
    </p188:txBody>
  </p188:cm>
</p188:cmLst>
</file>

<file path=ppt/comments/modernComment_702A95E2_78C8ECA3.xml><?xml version="1.0" encoding="utf-8"?>
<p188:cmLst xmlns:a="http://schemas.openxmlformats.org/drawingml/2006/main" xmlns:r="http://schemas.openxmlformats.org/officeDocument/2006/relationships" xmlns:p188="http://schemas.microsoft.com/office/powerpoint/2018/8/main">
  <p188:cm id="{A0982CDF-C82F-4FF6-B422-F801E6942DBD}" authorId="{9A1279E1-BC1A-30A7-526E-5FFF2DBCD7B7}" created="2026-10-05T08:47:00.526">
    <pc:sldMkLst xmlns:pc="http://schemas.microsoft.com/office/powerpoint/2013/main/command">
      <pc:docMk/>
      <pc:sldMk cId="0" sldId="262"/>
    </pc:sldMkLst>
    <p188:txBody>
      <a:bodyPr/>
      <a:lstStyle/>
      <a:p>
        <a:r>
          <a:rPr lang="es-ES"/>
          <a:t>Fer les conclusions y la explicacio</a:t>
        </a:r>
      </a:p>
    </p188:txBody>
  </p188:cm>
  <p188:cm id="{2DEC5287-FCFE-452A-AF36-50BDB150842F}" authorId="{9A1279E1-BC1A-30A7-526E-5FFF2DBCD7B7}" created="2026-10-05T08:47:10.344">
    <pc:sldMkLst xmlns:pc="http://schemas.microsoft.com/office/powerpoint/2013/main/command">
      <pc:docMk/>
      <pc:sldMk cId="0" sldId="262"/>
    </pc:sldMkLst>
    <p188:txBody>
      <a:bodyPr/>
      <a:lstStyle/>
      <a:p>
        <a:r>
          <a:rPr lang="es-ES"/>
          <a:t>carlos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DC68F-AAE8-304F-1171-4460E43B8B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40AF6-54F3-D53A-3708-3947DAA2AA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5140CD-10D0-464A-A0E4-383FFA286CD8}"/>
              </a:ext>
            </a:extLst>
          </p:cNvPr>
          <p:cNvSpPr>
            <a:spLocks noGrp="1"/>
          </p:cNvSpPr>
          <p:nvPr>
            <p:ph type="body" idx="1"/>
          </p:nvPr>
        </p:nvSpPr>
        <p:spPr/>
        <p:txBody>
          <a:bodyPr/>
          <a:lstStyle/>
          <a:p>
            <a:r>
              <a:rPr lang="es-ES"/>
              <a:t>Nuestra pregunta tiene dos partes. Primero, cómo ha evolucionado el gasto farmacéutico y sanitario en España entre 2024 y 2025. Después, por qué Asturias presenta un gasto por habitante muy superior al de Cataluña. Para responderla seguimos cuatro pasos: el contexto nacional, la disparidad entre comunidades, la comparación directa entre Asturias y Cataluña y, por último, en qué partidas se origina la brecha.</a:t>
            </a:r>
          </a:p>
        </p:txBody>
      </p:sp>
      <p:sp>
        <p:nvSpPr>
          <p:cNvPr id="4" name="Slide Number Placeholder 3">
            <a:extLst>
              <a:ext uri="{FF2B5EF4-FFF2-40B4-BE49-F238E27FC236}">
                <a16:creationId xmlns:a16="http://schemas.microsoft.com/office/drawing/2014/main" id="{BFE15F1C-9622-9A54-A7C3-B32A62F4B1F5}"/>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601848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kern="1200">
                <a:solidFill>
                  <a:schemeClr val="tx1"/>
                </a:solidFill>
                <a:effectLst/>
                <a:latin typeface="+mn-lt"/>
                <a:ea typeface="+mn-ea"/>
                <a:cs typeface="+mn-cs"/>
              </a:rPr>
              <a:t>Este gráfico muestra el gasto por habitante de las diecisiete comunidades autónomas en 2024 y en 2025. Lo relevante es que Asturias y Cataluña ocupan los dos extremos en ambos años: Asturias encabeza el ranking, con 835 euros por habitante en 2024 y casi 888 en 2025, mientras que Cataluña lo cierra, con unos 571 y 602 euros, respectivamente. Que las posiciones se repitan dos años seguidos indica que no estamos ante un dato puntual, sino ante un patrón persistente. Por eso merece la pena analizar con detalle la comparación entre estas dos comunidades.</a:t>
            </a:r>
            <a:endParaRPr lang="es-E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s-ES" sz="1200" b="0" i="0" kern="1200">
                <a:solidFill>
                  <a:schemeClr val="tx1"/>
                </a:solidFill>
                <a:effectLst/>
                <a:latin typeface="+mn-lt"/>
                <a:ea typeface="+mn-ea"/>
                <a:cs typeface="+mn-cs"/>
              </a:rPr>
              <a:t>INTRO: Antes de analizar las gráficas, distinguimos tres categorías. El gasto </a:t>
            </a:r>
            <a:r>
              <a:rPr lang="es-ES" sz="1200" b="1" i="0" kern="1200">
                <a:solidFill>
                  <a:schemeClr val="tx1"/>
                </a:solidFill>
                <a:effectLst/>
                <a:latin typeface="+mn-lt"/>
                <a:ea typeface="+mn-ea"/>
                <a:cs typeface="+mn-cs"/>
              </a:rPr>
              <a:t>hospitalario</a:t>
            </a:r>
            <a:r>
              <a:rPr lang="es-ES" sz="1200" b="0" i="0" kern="1200">
                <a:solidFill>
                  <a:schemeClr val="tx1"/>
                </a:solidFill>
                <a:effectLst/>
                <a:latin typeface="+mn-lt"/>
                <a:ea typeface="+mn-ea"/>
                <a:cs typeface="+mn-cs"/>
              </a:rPr>
              <a:t> incluye medicamentos financiados en hospitales y centros sanitarios. Las </a:t>
            </a:r>
            <a:r>
              <a:rPr lang="es-ES" sz="1200" b="1" i="0" kern="1200">
                <a:solidFill>
                  <a:schemeClr val="tx1"/>
                </a:solidFill>
                <a:effectLst/>
                <a:latin typeface="+mn-lt"/>
                <a:ea typeface="+mn-ea"/>
                <a:cs typeface="+mn-cs"/>
              </a:rPr>
              <a:t>recetas</a:t>
            </a:r>
            <a:r>
              <a:rPr lang="es-ES" sz="1200" b="0" i="0" kern="1200">
                <a:solidFill>
                  <a:schemeClr val="tx1"/>
                </a:solidFill>
                <a:effectLst/>
                <a:latin typeface="+mn-lt"/>
                <a:ea typeface="+mn-ea"/>
                <a:cs typeface="+mn-cs"/>
              </a:rPr>
              <a:t> incluyen medicamentos y productos sanitarios dispensados en farmacias mediante receta oficial. Y </a:t>
            </a:r>
            <a:r>
              <a:rPr lang="es-ES" sz="1200" b="1" i="0" kern="1200">
                <a:solidFill>
                  <a:schemeClr val="tx1"/>
                </a:solidFill>
                <a:effectLst/>
                <a:latin typeface="+mn-lt"/>
                <a:ea typeface="+mn-ea"/>
                <a:cs typeface="+mn-cs"/>
              </a:rPr>
              <a:t>sin receta</a:t>
            </a:r>
            <a:r>
              <a:rPr lang="es-ES" sz="1200" b="0" i="0" kern="1200">
                <a:solidFill>
                  <a:schemeClr val="tx1"/>
                </a:solidFill>
                <a:effectLst/>
                <a:latin typeface="+mn-lt"/>
                <a:ea typeface="+mn-ea"/>
                <a:cs typeface="+mn-cs"/>
              </a:rPr>
              <a:t> recoge productos sanitarios adquiridos fuera de esa dispensación.</a:t>
            </a:r>
          </a:p>
          <a:p>
            <a:pPr fontAlgn="t"/>
            <a:endParaRPr lang="es-ES" sz="1200" b="0" i="0" kern="1200">
              <a:solidFill>
                <a:schemeClr val="tx1"/>
              </a:solidFill>
              <a:effectLst/>
              <a:latin typeface="+mn-lt"/>
              <a:ea typeface="+mn-ea"/>
              <a:cs typeface="+mn-cs"/>
            </a:endParaRPr>
          </a:p>
          <a:p>
            <a:pPr fontAlgn="t"/>
            <a:r>
              <a:rPr lang="es-ES" sz="1200" b="0" i="0" kern="1200">
                <a:solidFill>
                  <a:schemeClr val="tx1"/>
                </a:solidFill>
                <a:effectLst/>
                <a:latin typeface="+mn-lt"/>
                <a:ea typeface="+mn-ea"/>
                <a:cs typeface="+mn-cs"/>
              </a:rPr>
              <a:t>GRÁFICO 1: En el gráfico de la izquierda vemos la composición del gasto nacional de 2025. El gasto total fue de 33.739,5 millones de euros: recetas representa el 43%, hospitalario el 34% y productos sin receta el 22%.</a:t>
            </a:r>
          </a:p>
          <a:p>
            <a:pPr fontAlgn="t"/>
            <a:endParaRPr lang="es-ES" sz="1200" b="0" i="0" kern="1200">
              <a:solidFill>
                <a:schemeClr val="tx1"/>
              </a:solidFill>
              <a:effectLst/>
              <a:latin typeface="+mn-lt"/>
              <a:ea typeface="+mn-ea"/>
              <a:cs typeface="+mn-cs"/>
            </a:endParaRPr>
          </a:p>
          <a:p>
            <a:pPr fontAlgn="t"/>
            <a:r>
              <a:rPr lang="es-ES" sz="1200" b="0" i="0" kern="1200">
                <a:solidFill>
                  <a:schemeClr val="tx1"/>
                </a:solidFill>
                <a:effectLst/>
                <a:latin typeface="+mn-lt"/>
                <a:ea typeface="+mn-ea"/>
                <a:cs typeface="+mn-cs"/>
              </a:rPr>
              <a:t>GRÁFICO 2: A la derecha analizamos la brecha entre Asturias y Cataluña, medida en euros por habitante. Asturias gasta 286,04 euros más por habitante. De esa diferencia, 135,90 euros proceden de productos sin receta, 114,49 de recetas y solo 35,65 del gasto hospitalario.</a:t>
            </a:r>
          </a:p>
          <a:p>
            <a:pPr fontAlgn="t"/>
            <a:endParaRPr lang="es-ES" sz="1200" b="0" i="0" kern="1200">
              <a:solidFill>
                <a:schemeClr val="tx1"/>
              </a:solidFill>
              <a:effectLst/>
              <a:latin typeface="+mn-lt"/>
              <a:ea typeface="+mn-ea"/>
              <a:cs typeface="+mn-cs"/>
            </a:endParaRPr>
          </a:p>
          <a:p>
            <a:pPr fontAlgn="t"/>
            <a:r>
              <a:rPr lang="es-ES" sz="1200" b="0" i="0" kern="1200">
                <a:solidFill>
                  <a:schemeClr val="tx1"/>
                </a:solidFill>
                <a:effectLst/>
                <a:latin typeface="+mn-lt"/>
                <a:ea typeface="+mn-ea"/>
                <a:cs typeface="+mn-cs"/>
              </a:rPr>
              <a:t>CONCLUSIÓN: En conclusión, aunque las recetas son la principal partida nacional, el 87,5% de la brecha se concentra conjuntamente en recetas y productos sin receta.</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kern="1200">
                <a:solidFill>
                  <a:schemeClr val="tx1"/>
                </a:solidFill>
                <a:effectLst/>
                <a:latin typeface="+mn-lt"/>
                <a:ea typeface="+mn-ea"/>
                <a:cs typeface="+mn-cs"/>
              </a:rPr>
              <a:t>La brecha no nace principalmente en los hospitales. Casi 9 de cada 10 euros de diferencia se encuentran en el gasto farmacéutico y en los productos sanitarios dispensados fuera del ámbito hospitalario.</a:t>
            </a:r>
          </a:p>
          <a:p>
            <a:endParaRPr lang="es-ES"/>
          </a:p>
        </p:txBody>
      </p:sp>
      <p:sp>
        <p:nvSpPr>
          <p:cNvPr id="4" name="Slide Number Placeholder 3"/>
          <p:cNvSpPr>
            <a:spLocks noGrp="1"/>
          </p:cNvSpPr>
          <p:nvPr>
            <p:ph type="sldNum" sz="quarter" idx="10"/>
          </p:nvPr>
        </p:nvSpPr>
        <p:spPr/>
        <p:txBody>
          <a:bodyPr/>
          <a:lstStyle/>
          <a:p>
            <a:fld id="{F7021451-1387-4CA6-816F-3879F97B5CBC}" type="slidenum">
              <a:rPr lang="es-ES" smtClean="0"/>
              <a:pPr/>
              <a:t>5</a:t>
            </a:fld>
            <a:endParaRPr lang="es-E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“Una </a:t>
            </a:r>
            <a:r>
              <a:rPr lang="en-US" err="1"/>
              <a:t>vez</a:t>
            </a:r>
            <a:r>
              <a:rPr lang="en-US"/>
              <a:t> </a:t>
            </a:r>
            <a:r>
              <a:rPr lang="en-US" err="1"/>
              <a:t>localizada</a:t>
            </a:r>
            <a:r>
              <a:rPr lang="en-US"/>
              <a:t> la </a:t>
            </a:r>
            <a:r>
              <a:rPr lang="en-US" err="1"/>
              <a:t>brecha</a:t>
            </a:r>
            <a:r>
              <a:rPr lang="en-US"/>
              <a:t>, </a:t>
            </a:r>
            <a:r>
              <a:rPr lang="en-US" err="1"/>
              <a:t>intentamos</a:t>
            </a:r>
            <a:r>
              <a:rPr lang="en-US"/>
              <a:t> </a:t>
            </a:r>
            <a:r>
              <a:rPr lang="en-US" err="1"/>
              <a:t>entender</a:t>
            </a:r>
            <a:r>
              <a:rPr lang="en-US"/>
              <a:t> </a:t>
            </a:r>
            <a:r>
              <a:rPr lang="en-US" err="1"/>
              <a:t>qué</a:t>
            </a:r>
            <a:r>
              <a:rPr lang="en-US"/>
              <a:t> </a:t>
            </a:r>
            <a:r>
              <a:rPr lang="en-US" err="1"/>
              <a:t>factores</a:t>
            </a:r>
            <a:r>
              <a:rPr lang="en-US"/>
              <a:t> </a:t>
            </a:r>
            <a:r>
              <a:rPr lang="en-US" err="1"/>
              <a:t>podrían</a:t>
            </a:r>
            <a:r>
              <a:rPr lang="en-US"/>
              <a:t> </a:t>
            </a:r>
            <a:r>
              <a:rPr lang="en-US" err="1"/>
              <a:t>explicarla</a:t>
            </a:r>
            <a:r>
              <a:rPr lang="en-US"/>
              <a:t>. El primero es la </a:t>
            </a:r>
            <a:r>
              <a:rPr lang="en-US" err="1"/>
              <a:t>estructura</a:t>
            </a:r>
            <a:r>
              <a:rPr lang="en-US"/>
              <a:t> </a:t>
            </a:r>
            <a:r>
              <a:rPr lang="en-US" err="1"/>
              <a:t>demográfica</a:t>
            </a:r>
            <a:r>
              <a:rPr lang="en-US"/>
              <a:t>: </a:t>
            </a:r>
            <a:r>
              <a:rPr lang="en-US" err="1"/>
              <a:t>en</a:t>
            </a:r>
            <a:r>
              <a:rPr lang="en-US"/>
              <a:t> Asturias, </a:t>
            </a:r>
            <a:r>
              <a:rPr lang="en-US" err="1"/>
              <a:t>aproximadamente</a:t>
            </a:r>
            <a:r>
              <a:rPr lang="en-US"/>
              <a:t> el 28% de la población </a:t>
            </a:r>
            <a:r>
              <a:rPr lang="en-US" err="1"/>
              <a:t>tiene</a:t>
            </a:r>
            <a:r>
              <a:rPr lang="en-US"/>
              <a:t> 65 </a:t>
            </a:r>
            <a:r>
              <a:rPr lang="en-US" err="1"/>
              <a:t>años</a:t>
            </a:r>
            <a:r>
              <a:rPr lang="en-US"/>
              <a:t> o </a:t>
            </a:r>
            <a:r>
              <a:rPr lang="en-US" err="1"/>
              <a:t>más</a:t>
            </a:r>
            <a:r>
              <a:rPr lang="en-US"/>
              <a:t>, </a:t>
            </a:r>
            <a:r>
              <a:rPr lang="en-US" err="1"/>
              <a:t>frente</a:t>
            </a:r>
            <a:r>
              <a:rPr lang="en-US"/>
              <a:t> a </a:t>
            </a:r>
            <a:r>
              <a:rPr lang="en-US" err="1"/>
              <a:t>cerca</a:t>
            </a:r>
            <a:r>
              <a:rPr lang="en-US"/>
              <a:t> del 20% </a:t>
            </a:r>
            <a:r>
              <a:rPr lang="en-US" err="1"/>
              <a:t>en</a:t>
            </a:r>
            <a:r>
              <a:rPr lang="en-US"/>
              <a:t> Cataluña. Esto </a:t>
            </a:r>
            <a:r>
              <a:rPr lang="en-US" err="1"/>
              <a:t>puede</a:t>
            </a:r>
            <a:r>
              <a:rPr lang="en-US"/>
              <a:t> </a:t>
            </a:r>
            <a:r>
              <a:rPr lang="en-US" err="1"/>
              <a:t>generar</a:t>
            </a:r>
            <a:r>
              <a:rPr lang="en-US"/>
              <a:t> </a:t>
            </a:r>
            <a:r>
              <a:rPr lang="en-US" err="1"/>
              <a:t>una</a:t>
            </a:r>
            <a:r>
              <a:rPr lang="en-US"/>
              <a:t> mayor </a:t>
            </a:r>
            <a:r>
              <a:rPr lang="en-US" err="1"/>
              <a:t>necesidad</a:t>
            </a:r>
            <a:r>
              <a:rPr lang="en-US"/>
              <a:t> de </a:t>
            </a:r>
            <a:r>
              <a:rPr lang="en-US" err="1"/>
              <a:t>tratamientos</a:t>
            </a:r>
            <a:r>
              <a:rPr lang="en-US"/>
              <a:t> y </a:t>
            </a:r>
            <a:r>
              <a:rPr lang="en-US" err="1"/>
              <a:t>recetas</a:t>
            </a:r>
            <a:r>
              <a:rPr lang="en-US"/>
              <a:t>. </a:t>
            </a:r>
            <a:r>
              <a:rPr lang="en-US" err="1"/>
              <a:t>Además</a:t>
            </a:r>
            <a:r>
              <a:rPr lang="en-US"/>
              <a:t>, </a:t>
            </a:r>
            <a:r>
              <a:rPr lang="en-US" err="1"/>
              <a:t>cada</a:t>
            </a:r>
            <a:r>
              <a:rPr lang="en-US"/>
              <a:t> comunidad </a:t>
            </a:r>
            <a:r>
              <a:rPr lang="en-US" err="1"/>
              <a:t>organiza</a:t>
            </a:r>
            <a:r>
              <a:rPr lang="en-US"/>
              <a:t> y </a:t>
            </a:r>
            <a:r>
              <a:rPr lang="en-US" err="1"/>
              <a:t>distribuye</a:t>
            </a:r>
            <a:r>
              <a:rPr lang="en-US"/>
              <a:t> sus </a:t>
            </a:r>
            <a:r>
              <a:rPr lang="en-US" err="1"/>
              <a:t>recursos</a:t>
            </a:r>
            <a:r>
              <a:rPr lang="en-US"/>
              <a:t> </a:t>
            </a:r>
            <a:r>
              <a:rPr lang="en-US" err="1"/>
              <a:t>sanitarios</a:t>
            </a:r>
            <a:r>
              <a:rPr lang="en-US"/>
              <a:t> de forma </a:t>
            </a:r>
            <a:r>
              <a:rPr lang="en-US" err="1"/>
              <a:t>diferente</a:t>
            </a:r>
            <a:r>
              <a:rPr lang="en-US"/>
              <a:t>. Por tanto, la </a:t>
            </a:r>
            <a:r>
              <a:rPr lang="en-US" err="1"/>
              <a:t>brecha</a:t>
            </a:r>
            <a:r>
              <a:rPr lang="en-US"/>
              <a:t> </a:t>
            </a:r>
            <a:r>
              <a:rPr lang="en-US" err="1"/>
              <a:t>probablemente</a:t>
            </a:r>
            <a:r>
              <a:rPr lang="en-US"/>
              <a:t> no </a:t>
            </a:r>
            <a:r>
              <a:rPr lang="en-US" err="1"/>
              <a:t>responde</a:t>
            </a:r>
            <a:r>
              <a:rPr lang="en-US"/>
              <a:t> a </a:t>
            </a:r>
            <a:r>
              <a:rPr lang="en-US" err="1"/>
              <a:t>una</a:t>
            </a:r>
            <a:r>
              <a:rPr lang="en-US"/>
              <a:t> sola causa, </a:t>
            </a:r>
            <a:r>
              <a:rPr lang="en-US" err="1"/>
              <a:t>sino</a:t>
            </a:r>
            <a:r>
              <a:rPr lang="en-US"/>
              <a:t> a la </a:t>
            </a:r>
            <a:r>
              <a:rPr lang="en-US" err="1"/>
              <a:t>combinación</a:t>
            </a:r>
            <a:r>
              <a:rPr lang="en-US"/>
              <a:t> de </a:t>
            </a:r>
            <a:r>
              <a:rPr lang="en-US" err="1"/>
              <a:t>envejecimiento</a:t>
            </a:r>
            <a:r>
              <a:rPr lang="en-US"/>
              <a:t>, </a:t>
            </a:r>
            <a:r>
              <a:rPr lang="en-US" err="1"/>
              <a:t>utilización</a:t>
            </a:r>
            <a:r>
              <a:rPr lang="en-US"/>
              <a:t> </a:t>
            </a:r>
            <a:r>
              <a:rPr lang="en-US" err="1"/>
              <a:t>farmacéutica</a:t>
            </a:r>
            <a:r>
              <a:rPr lang="en-US"/>
              <a:t> y </a:t>
            </a:r>
            <a:r>
              <a:rPr lang="en-US" err="1"/>
              <a:t>políticas</a:t>
            </a:r>
            <a:r>
              <a:rPr lang="en-US"/>
              <a:t> </a:t>
            </a:r>
            <a:r>
              <a:rPr lang="en-US" err="1"/>
              <a:t>sanitarias</a:t>
            </a:r>
            <a:r>
              <a:rPr lang="en-US"/>
              <a:t> </a:t>
            </a:r>
            <a:r>
              <a:rPr lang="en-US" err="1"/>
              <a:t>territoriales</a:t>
            </a:r>
            <a:r>
              <a:rPr lang="en-US"/>
              <a:t>.”</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CE5E9CC1-C706-0F49-92D6-E571CC5EEA8F}" type="slidenum">
              <a:rPr lang="en-US"/>
              <a:t>6</a:t>
            </a:fld>
            <a:endParaRPr lang="en-US"/>
          </a:p>
        </p:txBody>
      </p:sp>
    </p:spTree>
    <p:extLst>
      <p:ext uri="{BB962C8B-B14F-4D97-AF65-F5344CB8AC3E}">
        <p14:creationId xmlns:p14="http://schemas.microsoft.com/office/powerpoint/2010/main" val="27905824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Para cerrar, separemos lo demostrado de lo que todavía es hipótesis. Está demostrado que la brecha es persistente, porque se repite en 2024 y 2025; que aumenta en 2025, hasta 286 euros por habitante; y que se concentra fuera del gasto hospitalario, en recetas y productos sin receta. Lo que no podemos afirmar es la causa: el envejecimiento, una mayor utilización sanitaria, un coste medio más alto o diferencias contables son explicaciones posibles, pero ninguna está verificada con estos datos. Por eso proponemos priorizar cuatro fuentes: población por edad, recetas por habitante, coste medio por receta y criterios contables comparables. En resumen: sabemos cuánto difieren y dónde se concentra la diferencia; todavía debemos demostrar por qué.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Title Slide Spectrum 2">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2BDD844F-984E-A2D1-020C-2E823FDF08BD}"/>
              </a:ext>
            </a:extLst>
          </p:cNvPr>
          <p:cNvGraphicFramePr>
            <a:graphicFrameLocks/>
          </p:cNvGraphicFramePr>
          <p:nvPr userDrawn="1">
            <p:custDataLst>
              <p:tags r:id="rId1"/>
            </p:custDataLst>
            <p:extLst>
              <p:ext uri="{D42A27DB-BD31-4B8C-83A1-F6EECF244321}">
                <p14:modId xmlns:p14="http://schemas.microsoft.com/office/powerpoint/2010/main" val="17056627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3" progId="TCLayout.ActiveDocument.1">
                  <p:embed/>
                </p:oleObj>
              </mc:Choice>
              <mc:Fallback>
                <p:oleObj name="thinkcell Slide" r:id="rId3" imgW="404" imgH="403" progId="TCLayout.ActiveDocument.1">
                  <p:embed/>
                  <p:pic>
                    <p:nvPicPr>
                      <p:cNvPr id="15" name="thinkcell data - do not delete" hidden="1">
                        <a:extLst>
                          <a:ext uri="{FF2B5EF4-FFF2-40B4-BE49-F238E27FC236}">
                            <a16:creationId xmlns:a16="http://schemas.microsoft.com/office/drawing/2014/main" id="{2BDD844F-984E-A2D1-020C-2E823FDF08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4" name="Group 3">
            <a:extLst>
              <a:ext uri="{FF2B5EF4-FFF2-40B4-BE49-F238E27FC236}">
                <a16:creationId xmlns:a16="http://schemas.microsoft.com/office/drawing/2014/main" id="{A1220A54-6882-53B1-3380-1A61010197C4}"/>
              </a:ext>
            </a:extLst>
          </p:cNvPr>
          <p:cNvGrpSpPr/>
          <p:nvPr userDrawn="1"/>
        </p:nvGrpSpPr>
        <p:grpSpPr>
          <a:xfrm>
            <a:off x="364332" y="4623475"/>
            <a:ext cx="3705701" cy="239078"/>
            <a:chOff x="485775" y="6164633"/>
            <a:chExt cx="4940935" cy="318770"/>
          </a:xfrm>
        </p:grpSpPr>
        <p:sp>
          <p:nvSpPr>
            <p:cNvPr id="24" name="Freeform 23">
              <a:extLst>
                <a:ext uri="{FF2B5EF4-FFF2-40B4-BE49-F238E27FC236}">
                  <a16:creationId xmlns:a16="http://schemas.microsoft.com/office/drawing/2014/main" id="{4788DF65-E85A-7EA9-F2BB-B439D5C7EB16}"/>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sz="1350"/>
            </a:p>
          </p:txBody>
        </p:sp>
        <p:sp>
          <p:nvSpPr>
            <p:cNvPr id="25" name="Freeform 24">
              <a:extLst>
                <a:ext uri="{FF2B5EF4-FFF2-40B4-BE49-F238E27FC236}">
                  <a16:creationId xmlns:a16="http://schemas.microsoft.com/office/drawing/2014/main" id="{DB6421F7-1BA7-70C3-4C7B-0694CD3F9A6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sz="1350"/>
            </a:p>
          </p:txBody>
        </p:sp>
      </p:grpSp>
      <p:grpSp>
        <p:nvGrpSpPr>
          <p:cNvPr id="3" name="Group 2">
            <a:extLst>
              <a:ext uri="{FF2B5EF4-FFF2-40B4-BE49-F238E27FC236}">
                <a16:creationId xmlns:a16="http://schemas.microsoft.com/office/drawing/2014/main" id="{068E9B09-FE70-E913-490B-27400CDE026B}"/>
              </a:ext>
            </a:extLst>
          </p:cNvPr>
          <p:cNvGrpSpPr/>
          <p:nvPr userDrawn="1"/>
        </p:nvGrpSpPr>
        <p:grpSpPr>
          <a:xfrm>
            <a:off x="364330" y="968256"/>
            <a:ext cx="4279583" cy="3270409"/>
            <a:chOff x="485774" y="1291008"/>
            <a:chExt cx="5706110" cy="4360545"/>
          </a:xfrm>
        </p:grpSpPr>
        <p:sp>
          <p:nvSpPr>
            <p:cNvPr id="26" name="Freeform 25">
              <a:extLst>
                <a:ext uri="{FF2B5EF4-FFF2-40B4-BE49-F238E27FC236}">
                  <a16:creationId xmlns:a16="http://schemas.microsoft.com/office/drawing/2014/main" id="{B4038A11-FAB8-DE3A-2D5D-3D1F11925688}"/>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sz="1350">
                <a:solidFill>
                  <a:schemeClr val="tx1"/>
                </a:solidFill>
              </a:endParaRPr>
            </a:p>
          </p:txBody>
        </p:sp>
        <p:sp>
          <p:nvSpPr>
            <p:cNvPr id="27" name="Freeform 26">
              <a:extLst>
                <a:ext uri="{FF2B5EF4-FFF2-40B4-BE49-F238E27FC236}">
                  <a16:creationId xmlns:a16="http://schemas.microsoft.com/office/drawing/2014/main" id="{FD45E8E5-E623-933A-074B-D3B9860ABECB}"/>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A420F8"/>
                </a:gs>
                <a:gs pos="100000">
                  <a:srgbClr val="5C94F9"/>
                </a:gs>
              </a:gsLst>
              <a:lin ang="18720000" scaled="0"/>
              <a:tileRect/>
            </a:gradFill>
            <a:ln w="81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sz="1350"/>
            </a:p>
          </p:txBody>
        </p:sp>
      </p:grpSp>
      <p:sp>
        <p:nvSpPr>
          <p:cNvPr id="28" name="Subtitle 2">
            <a:extLst>
              <a:ext uri="{FF2B5EF4-FFF2-40B4-BE49-F238E27FC236}">
                <a16:creationId xmlns:a16="http://schemas.microsoft.com/office/drawing/2014/main" id="{4CE2B77E-5DDA-CC5C-A575-69779E57947F}"/>
              </a:ext>
            </a:extLst>
          </p:cNvPr>
          <p:cNvSpPr>
            <a:spLocks noGrp="1"/>
          </p:cNvSpPr>
          <p:nvPr>
            <p:ph type="subTitle" idx="1" hasCustomPrompt="1"/>
          </p:nvPr>
        </p:nvSpPr>
        <p:spPr>
          <a:xfrm>
            <a:off x="667322" y="3327364"/>
            <a:ext cx="3680721" cy="383954"/>
          </a:xfrm>
        </p:spPr>
        <p:txBody>
          <a:bodyPr wrap="square">
            <a:noAutofit/>
          </a:bodyPr>
          <a:lstStyle>
            <a:lvl1pPr marL="0" indent="0" algn="l">
              <a:buNone/>
              <a:defRPr lang="en-GB" sz="1200" kern="1200" dirty="0">
                <a:solidFill>
                  <a:schemeClr val="tx1"/>
                </a:solidFill>
                <a:latin typeface="EYInterstate" panose="02000503020000020004" pitchFamily="2" charset="0"/>
                <a:ea typeface="+mn-ea"/>
                <a:cs typeface="+mn-cs"/>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29" name="Title 4">
            <a:extLst>
              <a:ext uri="{FF2B5EF4-FFF2-40B4-BE49-F238E27FC236}">
                <a16:creationId xmlns:a16="http://schemas.microsoft.com/office/drawing/2014/main" id="{2C2EB3B4-62C2-DB27-F905-7B5310DF5CFC}"/>
              </a:ext>
            </a:extLst>
          </p:cNvPr>
          <p:cNvSpPr>
            <a:spLocks noGrp="1"/>
          </p:cNvSpPr>
          <p:nvPr>
            <p:ph type="title"/>
          </p:nvPr>
        </p:nvSpPr>
        <p:spPr>
          <a:xfrm>
            <a:off x="667322" y="2024064"/>
            <a:ext cx="3679507" cy="1240532"/>
          </a:xfrm>
        </p:spPr>
        <p:txBody>
          <a:bodyPr vert="horz" rIns="91440" anchor="t">
            <a:noAutofit/>
          </a:bodyPr>
          <a:lstStyle>
            <a:lvl1pPr algn="ctr">
              <a:defRPr sz="3150" b="1" i="0">
                <a:solidFill>
                  <a:schemeClr val="tx1"/>
                </a:solidFill>
                <a:latin typeface="EYInterstate" panose="02000503020000020004" pitchFamily="2" charset="0"/>
              </a:defRPr>
            </a:lvl1pPr>
          </a:lstStyle>
          <a:p>
            <a:r>
              <a:rPr lang="en-GB"/>
              <a:t>Click to edit Master title style</a:t>
            </a:r>
            <a:endParaRPr lang="en-US"/>
          </a:p>
        </p:txBody>
      </p:sp>
      <p:sp>
        <p:nvSpPr>
          <p:cNvPr id="30" name="Text Placeholder 288">
            <a:extLst>
              <a:ext uri="{FF2B5EF4-FFF2-40B4-BE49-F238E27FC236}">
                <a16:creationId xmlns:a16="http://schemas.microsoft.com/office/drawing/2014/main" id="{41B1F747-977A-C01C-9182-B92C691E57F0}"/>
              </a:ext>
            </a:extLst>
          </p:cNvPr>
          <p:cNvSpPr>
            <a:spLocks noGrp="1"/>
          </p:cNvSpPr>
          <p:nvPr>
            <p:ph type="body" sz="quarter" idx="10"/>
          </p:nvPr>
        </p:nvSpPr>
        <p:spPr>
          <a:xfrm>
            <a:off x="667321" y="3785614"/>
            <a:ext cx="3679508" cy="1645920"/>
          </a:xfrm>
        </p:spPr>
        <p:txBody>
          <a:bodyPr wrap="square">
            <a:spAutoFit/>
          </a:bodyPr>
          <a:lstStyle>
            <a:lvl1pPr marL="0" indent="0">
              <a:buNone/>
              <a:defRPr sz="1200" b="1">
                <a:solidFill>
                  <a:schemeClr val="tx1"/>
                </a:solidFill>
                <a:latin typeface="EYInterstate" panose="02000503020000020004" pitchFamily="2" charset="0"/>
              </a:defRPr>
            </a:lvl1pPr>
            <a:lvl2pPr marL="189000" indent="0">
              <a:buNone/>
              <a:defRPr sz="1200" b="1">
                <a:latin typeface="+mj-lt"/>
              </a:defRPr>
            </a:lvl2pPr>
            <a:lvl3pPr marL="378000" indent="0">
              <a:buNone/>
              <a:defRPr sz="1200" b="1">
                <a:latin typeface="+mj-lt"/>
              </a:defRPr>
            </a:lvl3pPr>
            <a:lvl4pPr marL="567000" indent="0">
              <a:buNone/>
              <a:defRPr sz="1200" b="1">
                <a:latin typeface="+mj-lt"/>
              </a:defRPr>
            </a:lvl4pPr>
            <a:lvl5pPr marL="756000" indent="0">
              <a:buNone/>
              <a:defRPr sz="1200" b="1">
                <a:latin typeface="+mj-lt"/>
              </a:defRPr>
            </a:lvl5pPr>
          </a:lstStyle>
          <a:p>
            <a:pPr lvl="0"/>
            <a:r>
              <a:rPr lang="en-GB"/>
              <a:t>Click to edit Master text styles</a:t>
            </a:r>
          </a:p>
        </p:txBody>
      </p:sp>
      <p:pic>
        <p:nvPicPr>
          <p:cNvPr id="6" name="Picture 5">
            <a:extLst>
              <a:ext uri="{FF2B5EF4-FFF2-40B4-BE49-F238E27FC236}">
                <a16:creationId xmlns:a16="http://schemas.microsoft.com/office/drawing/2014/main" id="{F5EF2E11-3413-0A15-5D2B-DDA1DFF41B0C}"/>
              </a:ext>
            </a:extLst>
          </p:cNvPr>
          <p:cNvPicPr>
            <a:picLocks noChangeAspect="1"/>
          </p:cNvPicPr>
          <p:nvPr userDrawn="1"/>
        </p:nvPicPr>
        <p:blipFill>
          <a:blip r:embed="rId5">
            <a:alphaModFix amt="20000"/>
          </a:blip>
          <a:srcRect t="8605" b="16395"/>
          <a:stretch>
            <a:fillRect/>
          </a:stretch>
        </p:blipFill>
        <p:spPr>
          <a:xfrm>
            <a:off x="0" y="0"/>
            <a:ext cx="9144000" cy="5143500"/>
          </a:xfrm>
          <a:prstGeom prst="rect">
            <a:avLst/>
          </a:prstGeom>
          <a:effectLst>
            <a:reflection endPos="0" dist="50800" dir="5400000" sy="-100000" algn="bl" rotWithShape="0"/>
          </a:effectLst>
        </p:spPr>
      </p:pic>
    </p:spTree>
    <p:extLst>
      <p:ext uri="{BB962C8B-B14F-4D97-AF65-F5344CB8AC3E}">
        <p14:creationId xmlns:p14="http://schemas.microsoft.com/office/powerpoint/2010/main" val="3985332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E62A9-4ECA-5B64-757C-C765E4BC8D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ES"/>
          </a:p>
        </p:txBody>
      </p:sp>
      <p:sp>
        <p:nvSpPr>
          <p:cNvPr id="3" name="Subtitle 2">
            <a:extLst>
              <a:ext uri="{FF2B5EF4-FFF2-40B4-BE49-F238E27FC236}">
                <a16:creationId xmlns:a16="http://schemas.microsoft.com/office/drawing/2014/main" id="{F11D65A7-986C-BC26-D472-EEAE82E574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S"/>
          </a:p>
        </p:txBody>
      </p:sp>
      <p:sp>
        <p:nvSpPr>
          <p:cNvPr id="4" name="Date Placeholder 3">
            <a:extLst>
              <a:ext uri="{FF2B5EF4-FFF2-40B4-BE49-F238E27FC236}">
                <a16:creationId xmlns:a16="http://schemas.microsoft.com/office/drawing/2014/main" id="{D325F36D-654D-3476-678A-1A4D95ACB49A}"/>
              </a:ext>
            </a:extLst>
          </p:cNvPr>
          <p:cNvSpPr>
            <a:spLocks noGrp="1"/>
          </p:cNvSpPr>
          <p:nvPr>
            <p:ph type="dt" sz="half" idx="10"/>
          </p:nvPr>
        </p:nvSpPr>
        <p:spPr/>
        <p:txBody>
          <a:bodyPr/>
          <a:lstStyle/>
          <a:p>
            <a:endParaRPr lang="es-ES"/>
          </a:p>
        </p:txBody>
      </p:sp>
      <p:sp>
        <p:nvSpPr>
          <p:cNvPr id="5" name="Footer Placeholder 4">
            <a:extLst>
              <a:ext uri="{FF2B5EF4-FFF2-40B4-BE49-F238E27FC236}">
                <a16:creationId xmlns:a16="http://schemas.microsoft.com/office/drawing/2014/main" id="{72D1A51B-F660-3579-20ED-6D0C313C868F}"/>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8E9CB978-D99F-B44D-5FF8-BF1B0659093C}"/>
              </a:ext>
            </a:extLst>
          </p:cNvPr>
          <p:cNvSpPr>
            <a:spLocks noGrp="1"/>
          </p:cNvSpPr>
          <p:nvPr>
            <p:ph type="sldNum" sz="quarter" idx="12"/>
          </p:nvPr>
        </p:nvSpPr>
        <p:spPr/>
        <p:txBody>
          <a:bodyPr/>
          <a:lstStyle/>
          <a:p>
            <a:fld id="{CEE12F19-24AB-4078-9F18-F5C7809B9EAC}" type="slidenum">
              <a:rPr lang="es-ES" smtClean="0"/>
              <a:t>‹#›</a:t>
            </a:fld>
            <a:endParaRPr lang="es-ES"/>
          </a:p>
        </p:txBody>
      </p:sp>
    </p:spTree>
    <p:extLst>
      <p:ext uri="{BB962C8B-B14F-4D97-AF65-F5344CB8AC3E}">
        <p14:creationId xmlns:p14="http://schemas.microsoft.com/office/powerpoint/2010/main" val="2598906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57250" y="342900"/>
            <a:ext cx="7818120" cy="411480"/>
          </a:xfrm>
          <a:prstGeom prst="rect">
            <a:avLst/>
          </a:prstGeom>
          <a:noFill/>
          <a:ln/>
        </p:spPr>
        <p:txBody>
          <a:bodyPr wrap="square" rtlCol="0"/>
          <a:lstStyle>
            <a:lvl1pPr marL="0" indent="0" algn="l">
              <a:buNone/>
              <a:defRPr lang="en-US" sz="1950" b="1" dirty="0">
                <a:solidFill>
                  <a:schemeClr val="tx1"/>
                </a:solidFill>
              </a:defRPr>
            </a:lvl1pPr>
          </a:lstStyle>
          <a:p>
            <a:pPr marL="0" indent="0" algn="l">
              <a:buNone/>
            </a:pPr>
            <a:endParaRPr lang="en-US" sz="1950"/>
          </a:p>
        </p:txBody>
      </p:sp>
      <p:sp>
        <p:nvSpPr>
          <p:cNvPr id="3" name="Shape 0"/>
          <p:cNvSpPr/>
          <p:nvPr/>
        </p:nvSpPr>
        <p:spPr>
          <a:xfrm>
            <a:off x="466344" y="4759452"/>
            <a:ext cx="8229600" cy="0"/>
          </a:xfrm>
          <a:prstGeom prst="line">
            <a:avLst/>
          </a:prstGeom>
          <a:noFill/>
          <a:ln w="9525">
            <a:solidFill>
              <a:schemeClr val="accent4"/>
            </a:solidFill>
            <a:prstDash val="solid"/>
          </a:ln>
        </p:spPr>
        <p:txBody>
          <a:bodyPr/>
          <a:lstStyle/>
          <a:p>
            <a:endParaRPr lang="en-US" sz="1350"/>
          </a:p>
        </p:txBody>
      </p:sp>
      <p:sp>
        <p:nvSpPr>
          <p:cNvPr id="4" name="Text 1"/>
          <p:cNvSpPr/>
          <p:nvPr/>
        </p:nvSpPr>
        <p:spPr>
          <a:xfrm>
            <a:off x="466344" y="4828032"/>
            <a:ext cx="342900" cy="205740"/>
          </a:xfrm>
          <a:prstGeom prst="rect">
            <a:avLst/>
          </a:prstGeom>
          <a:noFill/>
          <a:ln/>
        </p:spPr>
        <p:txBody>
          <a:bodyPr wrap="square" lIns="0" tIns="0" rIns="0" bIns="0" rtlCol="0" anchor="ctr"/>
          <a:lstStyle/>
          <a:p>
            <a:pPr marL="0" indent="0">
              <a:buNone/>
            </a:pPr>
            <a:r>
              <a:rPr lang="en-US" sz="675">
                <a:solidFill>
                  <a:schemeClr val="accent3"/>
                </a:solidFill>
              </a:rPr>
              <a:t>Página</a:t>
            </a:r>
            <a:endParaRPr lang="en-US" sz="675"/>
          </a:p>
        </p:txBody>
      </p:sp>
      <p:sp>
        <p:nvSpPr>
          <p:cNvPr id="5" name="Text 2"/>
          <p:cNvSpPr/>
          <p:nvPr/>
        </p:nvSpPr>
        <p:spPr>
          <a:xfrm>
            <a:off x="1028700" y="4828032"/>
            <a:ext cx="4114800" cy="205740"/>
          </a:xfrm>
          <a:prstGeom prst="rect">
            <a:avLst/>
          </a:prstGeom>
          <a:noFill/>
          <a:ln/>
        </p:spPr>
        <p:txBody>
          <a:bodyPr wrap="square" lIns="0" tIns="0" rIns="0" bIns="0" rtlCol="0" anchor="ctr"/>
          <a:lstStyle/>
          <a:p>
            <a:pPr marL="0" indent="0">
              <a:buNone/>
            </a:pPr>
            <a:r>
              <a:rPr lang="en-US" sz="675">
                <a:solidFill>
                  <a:schemeClr val="accent3"/>
                </a:solidFill>
              </a:rPr>
              <a:t>Gasto farmacéutico y sanitario · España</a:t>
            </a:r>
            <a:endParaRPr lang="en-US" sz="675"/>
          </a:p>
        </p:txBody>
      </p:sp>
      <p:sp>
        <p:nvSpPr>
          <p:cNvPr id="25" name="Slide Number Placeholder 0"/>
          <p:cNvSpPr>
            <a:spLocks noGrp="1"/>
          </p:cNvSpPr>
          <p:nvPr>
            <p:ph type="sldNum" sz="quarter" idx="4294967295"/>
          </p:nvPr>
        </p:nvSpPr>
        <p:spPr>
          <a:xfrm>
            <a:off x="774954" y="4828032"/>
            <a:ext cx="240030" cy="20574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675">
                <a:solidFill>
                  <a:schemeClr val="accent3"/>
                </a:solidFil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2207914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Y_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600000">
            <a:off x="308610" y="233172"/>
            <a:ext cx="109728" cy="109728"/>
          </a:xfrm>
          <a:prstGeom prst="rect">
            <a:avLst/>
          </a:prstGeom>
          <a:solidFill>
            <a:srgbClr val="FFE600"/>
          </a:solidFill>
          <a:ln w="12700">
            <a:solidFill>
              <a:srgbClr val="FFE600"/>
            </a:solidFill>
            <a:prstDash val="solid"/>
          </a:ln>
        </p:spPr>
      </p:sp>
      <p:sp>
        <p:nvSpPr>
          <p:cNvPr id="3" name="Shape 1"/>
          <p:cNvSpPr/>
          <p:nvPr/>
        </p:nvSpPr>
        <p:spPr>
          <a:xfrm>
            <a:off x="308610" y="4855464"/>
            <a:ext cx="8298180" cy="0"/>
          </a:xfrm>
          <a:prstGeom prst="line">
            <a:avLst/>
          </a:prstGeom>
          <a:noFill/>
          <a:ln w="10160">
            <a:solidFill>
              <a:srgbClr val="D6D6DC"/>
            </a:solidFill>
            <a:prstDash val="solid"/>
          </a:ln>
        </p:spPr>
      </p:sp>
      <p:sp>
        <p:nvSpPr>
          <p:cNvPr id="4" name="Text 2"/>
          <p:cNvSpPr/>
          <p:nvPr/>
        </p:nvSpPr>
        <p:spPr>
          <a:xfrm>
            <a:off x="329184" y="4882896"/>
            <a:ext cx="2880360" cy="123444"/>
          </a:xfrm>
          <a:prstGeom prst="rect">
            <a:avLst/>
          </a:prstGeom>
          <a:noFill/>
          <a:ln/>
        </p:spPr>
        <p:txBody>
          <a:bodyPr wrap="square" lIns="0" tIns="0" rIns="0" bIns="0" rtlCol="0" anchor="ctr"/>
          <a:lstStyle/>
          <a:p>
            <a:pPr marL="0" indent="0">
              <a:buNone/>
            </a:pPr>
            <a:r>
              <a:rPr lang="en-US" sz="525">
                <a:solidFill>
                  <a:srgbClr val="747480"/>
                </a:solidFill>
                <a:latin typeface="Arial" pitchFamily="34" charset="0"/>
                <a:ea typeface="Arial" pitchFamily="34" charset="-122"/>
                <a:cs typeface="Arial" pitchFamily="34" charset="-120"/>
              </a:rPr>
              <a:t>Gasto farmacéutico y sanitario · España</a:t>
            </a:r>
            <a:endParaRPr lang="en-US" sz="525"/>
          </a:p>
        </p:txBody>
      </p:sp>
      <p:sp>
        <p:nvSpPr>
          <p:cNvPr id="5" name="Text 3"/>
          <p:cNvSpPr/>
          <p:nvPr/>
        </p:nvSpPr>
        <p:spPr>
          <a:xfrm>
            <a:off x="7989570" y="4882896"/>
            <a:ext cx="445770" cy="123444"/>
          </a:xfrm>
          <a:prstGeom prst="rect">
            <a:avLst/>
          </a:prstGeom>
          <a:noFill/>
          <a:ln/>
        </p:spPr>
        <p:txBody>
          <a:bodyPr wrap="square" lIns="0" tIns="0" rIns="0" bIns="0" rtlCol="0" anchor="ctr"/>
          <a:lstStyle/>
          <a:p>
            <a:pPr marL="0" indent="0" algn="r">
              <a:buNone/>
            </a:pPr>
            <a:r>
              <a:rPr lang="en-US" sz="525">
                <a:solidFill>
                  <a:srgbClr val="747480"/>
                </a:solidFill>
                <a:latin typeface="Arial" pitchFamily="34" charset="0"/>
                <a:ea typeface="Arial" pitchFamily="34" charset="-122"/>
                <a:cs typeface="Arial" pitchFamily="34" charset="-120"/>
              </a:rPr>
              <a:t>Página 6</a:t>
            </a:r>
            <a:endParaRPr lang="en-US" sz="525"/>
          </a:p>
        </p:txBody>
      </p:sp>
      <p:sp>
        <p:nvSpPr>
          <p:cNvPr id="6" name="Text 4"/>
          <p:cNvSpPr/>
          <p:nvPr/>
        </p:nvSpPr>
        <p:spPr>
          <a:xfrm>
            <a:off x="8517636" y="4807458"/>
            <a:ext cx="288036" cy="205740"/>
          </a:xfrm>
          <a:prstGeom prst="rect">
            <a:avLst/>
          </a:prstGeom>
          <a:noFill/>
          <a:ln/>
        </p:spPr>
        <p:txBody>
          <a:bodyPr wrap="square" lIns="0" tIns="0" rIns="0" bIns="0" rtlCol="0" anchor="ctr"/>
          <a:lstStyle/>
          <a:p>
            <a:pPr marL="0" indent="0" algn="r">
              <a:buNone/>
            </a:pPr>
            <a:r>
              <a:rPr lang="en-US" sz="1200" b="1">
                <a:solidFill>
                  <a:srgbClr val="2E2E38"/>
                </a:solidFill>
                <a:latin typeface="Arial" pitchFamily="34" charset="0"/>
                <a:ea typeface="Arial" pitchFamily="34" charset="-122"/>
                <a:cs typeface="Arial" pitchFamily="34" charset="-120"/>
              </a:rPr>
              <a:t>EY</a:t>
            </a:r>
            <a:endParaRPr lang="en-US" sz="1200"/>
          </a:p>
        </p:txBody>
      </p:sp>
      <p:sp>
        <p:nvSpPr>
          <p:cNvPr id="25" name="Slide Number Placeholder 0"/>
          <p:cNvSpPr>
            <a:spLocks noGrp="1"/>
          </p:cNvSpPr>
          <p:nvPr>
            <p:ph type="sldNum" sz="quarter" idx="4294967295"/>
          </p:nvPr>
        </p:nvSpPr>
        <p:spPr>
          <a:xfrm>
            <a:off x="8263890" y="4882896"/>
            <a:ext cx="600000" cy="225000"/>
          </a:xfrm>
          <a:prstGeom prst="rect">
            <a:avLst/>
          </a:prstGeom>
          <a:extLst>
            <a:ext uri="{C572A759-6A51-4108-AA02-DFA0A04FC94B}">
              <ma14:wrappingTextBoxFlag xmlns:ma14="http://schemas.microsoft.com/office/mac/drawingml/2011/main" xmlns="" val="0"/>
            </a:ext>
          </a:extLst>
        </p:spPr>
        <p:txBody>
          <a:bodyPr/>
          <a:lstStyle>
            <a:lvl1pPr>
              <a:defRPr sz="525">
                <a:solidFill>
                  <a:srgbClr val="747480"/>
                </a:solidFill>
                <a:latin typeface="Arial"/>
                <a:ea typeface="Arial"/>
                <a:cs typeface="Aria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1633954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181CE86C-3727-F834-C11A-203FEB2E2A20}"/>
              </a:ext>
            </a:extLst>
          </p:cNvPr>
          <p:cNvGraphicFramePr>
            <a:graphicFrameLocks/>
          </p:cNvGraphicFramePr>
          <p:nvPr userDrawn="1">
            <p:custDataLst>
              <p:tags r:id="rId8"/>
            </p:custDataLst>
            <p:extLst>
              <p:ext uri="{D42A27DB-BD31-4B8C-83A1-F6EECF244321}">
                <p14:modId xmlns:p14="http://schemas.microsoft.com/office/powerpoint/2010/main" val="26076602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04" imgH="403" progId="TCLayout.ActiveDocument.1">
                  <p:embed/>
                </p:oleObj>
              </mc:Choice>
              <mc:Fallback>
                <p:oleObj name="thinkcell Slide" r:id="rId9" imgW="404" imgH="403" progId="TCLayout.ActiveDocument.1">
                  <p:embed/>
                  <p:pic>
                    <p:nvPicPr>
                      <p:cNvPr id="2" name="thinkcell data - do not delete" hidden="1">
                        <a:extLst>
                          <a:ext uri="{FF2B5EF4-FFF2-40B4-BE49-F238E27FC236}">
                            <a16:creationId xmlns:a16="http://schemas.microsoft.com/office/drawing/2014/main" id="{181CE86C-3727-F834-C11A-203FEB2E2A20}"/>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1553939342"/>
      </p:ext>
    </p:extLst>
  </p:cSld>
  <p:clrMap bg1="lt1" tx1="dk1" bg2="lt2" tx2="dk2" accent1="accent1" accent2="accent2" accent3="accent3" accent4="accent4" accent5="accent5" accent6="accent6" hlink="hlink" folHlink="folHlink"/>
  <p:sldLayoutIdLst>
    <p:sldLayoutId id="2147483689" r:id="rId1"/>
    <p:sldLayoutId id="2147518819" r:id="rId2"/>
    <p:sldLayoutId id="2147483650" r:id="rId3"/>
    <p:sldLayoutId id="2147483665" r:id="rId4"/>
    <p:sldLayoutId id="2147504929" r:id="rId5"/>
    <p:sldLayoutId id="2147518820" r:id="rId6"/>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3.png"/><Relationship Id="rId12"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1.emf"/><Relationship Id="rId11" Type="http://schemas.openxmlformats.org/officeDocument/2006/relationships/image" Target="../media/image8.png"/><Relationship Id="rId5" Type="http://schemas.openxmlformats.org/officeDocument/2006/relationships/oleObject" Target="../embeddings/oleObject4.bin"/><Relationship Id="rId10" Type="http://schemas.openxmlformats.org/officeDocument/2006/relationships/image" Target="../media/image7.png"/><Relationship Id="rId4" Type="http://schemas.microsoft.com/office/2018/10/relationships/comments" Target="../comments/modernComment_702A95DC_4717BDB5.xml"/><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microsoft.com/office/2018/10/relationships/comments" Target="../comments/modernComment_104_0.xml"/><Relationship Id="rId7"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hart" Target="../charts/chart1.xml"/><Relationship Id="rId5"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1.emf"/><Relationship Id="rId13" Type="http://schemas.openxmlformats.org/officeDocument/2006/relationships/chart" Target="../charts/chart4.xml"/><Relationship Id="rId3" Type="http://schemas.openxmlformats.org/officeDocument/2006/relationships/tags" Target="../tags/tag8.xml"/><Relationship Id="rId7" Type="http://schemas.openxmlformats.org/officeDocument/2006/relationships/oleObject" Target="../embeddings/oleObject5.bin"/><Relationship Id="rId12" Type="http://schemas.openxmlformats.org/officeDocument/2006/relationships/chart" Target="../charts/chart3.xml"/><Relationship Id="rId2" Type="http://schemas.openxmlformats.org/officeDocument/2006/relationships/tags" Target="../tags/tag7.xml"/><Relationship Id="rId1" Type="http://schemas.openxmlformats.org/officeDocument/2006/relationships/tags" Target="../tags/tag6.xml"/><Relationship Id="rId6" Type="http://schemas.microsoft.com/office/2018/10/relationships/comments" Target="../comments/modernComment_105_0.xml"/><Relationship Id="rId11" Type="http://schemas.openxmlformats.org/officeDocument/2006/relationships/image" Target="../media/image3.png"/><Relationship Id="rId5" Type="http://schemas.openxmlformats.org/officeDocument/2006/relationships/notesSlide" Target="../notesSlides/notesSlide3.xml"/><Relationship Id="rId10" Type="http://schemas.openxmlformats.org/officeDocument/2006/relationships/image" Target="../media/image8.png"/><Relationship Id="rId4" Type="http://schemas.openxmlformats.org/officeDocument/2006/relationships/slideLayout" Target="../slideLayouts/slideLayout2.xml"/><Relationship Id="rId9" Type="http://schemas.openxmlformats.org/officeDocument/2006/relationships/image" Target="../media/image12.png"/><Relationship Id="rId1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4.png"/><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8" Type="http://schemas.openxmlformats.org/officeDocument/2006/relationships/chart" Target="../charts/chart5.xml"/><Relationship Id="rId3" Type="http://schemas.openxmlformats.org/officeDocument/2006/relationships/notesSlide" Target="../notesSlides/notesSlide5.xml"/><Relationship Id="rId7"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9.xml"/><Relationship Id="rId6" Type="http://schemas.openxmlformats.org/officeDocument/2006/relationships/image" Target="../media/image11.emf"/><Relationship Id="rId5" Type="http://schemas.openxmlformats.org/officeDocument/2006/relationships/oleObject" Target="../embeddings/oleObject6.bin"/><Relationship Id="rId4" Type="http://schemas.microsoft.com/office/2018/10/relationships/comments" Target="../comments/modernComment_702A95E2_78C8ECA3.xml"/><Relationship Id="rId9"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tags" Target="../tags/tag10.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C6AFC-7238-1DEE-25DD-14C29EA03F0C}"/>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241FC75-5B12-74A5-C880-268DC52C7FE8}"/>
              </a:ext>
            </a:extLst>
          </p:cNvPr>
          <p:cNvGraphicFramePr>
            <a:graphicFrameLocks/>
          </p:cNvGraphicFramePr>
          <p:nvPr>
            <p:custDataLst>
              <p:tags r:id="rId1"/>
            </p:custDataLst>
            <p:extLst>
              <p:ext uri="{D42A27DB-BD31-4B8C-83A1-F6EECF244321}">
                <p14:modId xmlns:p14="http://schemas.microsoft.com/office/powerpoint/2010/main" val="26322784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3" progId="TCLayout.ActiveDocument.1">
                  <p:embed/>
                </p:oleObj>
              </mc:Choice>
              <mc:Fallback>
                <p:oleObj name="thinkcell Slide" r:id="rId3" imgW="404" imgH="403" progId="TCLayout.ActiveDocument.1">
                  <p:embed/>
                  <p:pic>
                    <p:nvPicPr>
                      <p:cNvPr id="3" name="thinkcell data - do not delete" hidden="1">
                        <a:extLst>
                          <a:ext uri="{FF2B5EF4-FFF2-40B4-BE49-F238E27FC236}">
                            <a16:creationId xmlns:a16="http://schemas.microsoft.com/office/drawing/2014/main" id="{7241FC75-5B12-74A5-C880-268DC52C7F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Subtitle 4">
            <a:extLst>
              <a:ext uri="{FF2B5EF4-FFF2-40B4-BE49-F238E27FC236}">
                <a16:creationId xmlns:a16="http://schemas.microsoft.com/office/drawing/2014/main" id="{96B4DD96-F453-E43B-C7F5-EEB45C3480C0}"/>
              </a:ext>
            </a:extLst>
          </p:cNvPr>
          <p:cNvSpPr>
            <a:spLocks noGrp="1"/>
          </p:cNvSpPr>
          <p:nvPr>
            <p:ph type="subTitle" idx="1"/>
          </p:nvPr>
        </p:nvSpPr>
        <p:spPr>
          <a:xfrm>
            <a:off x="667322" y="2990000"/>
            <a:ext cx="3680721" cy="330000"/>
          </a:xfrm>
        </p:spPr>
        <p:txBody>
          <a:bodyPr/>
          <a:lstStyle/>
          <a:p>
            <a:r>
              <a:rPr lang="es-ES" sz="1100" b="1"/>
              <a:t>Un análisis temporal, territorial y por tipo de gasto</a:t>
            </a:r>
          </a:p>
        </p:txBody>
      </p:sp>
      <p:sp>
        <p:nvSpPr>
          <p:cNvPr id="10" name="Title 9">
            <a:extLst>
              <a:ext uri="{FF2B5EF4-FFF2-40B4-BE49-F238E27FC236}">
                <a16:creationId xmlns:a16="http://schemas.microsoft.com/office/drawing/2014/main" id="{66131E80-4A3D-924E-1966-648015E82469}"/>
              </a:ext>
            </a:extLst>
          </p:cNvPr>
          <p:cNvSpPr>
            <a:spLocks noGrp="1"/>
          </p:cNvSpPr>
          <p:nvPr>
            <p:ph type="title"/>
          </p:nvPr>
        </p:nvSpPr>
        <p:spPr>
          <a:xfrm>
            <a:off x="667321" y="1783500"/>
            <a:ext cx="4488879" cy="1240532"/>
          </a:xfrm>
        </p:spPr>
        <p:txBody>
          <a:bodyPr vert="horz" rIns="91440"/>
          <a:lstStyle/>
          <a:p>
            <a:pPr algn="l"/>
            <a:r>
              <a:rPr lang="es-ES" sz="2200"/>
              <a:t>Evolución del gasto farmacéutico y sanitario en España</a:t>
            </a:r>
          </a:p>
        </p:txBody>
      </p:sp>
      <p:sp>
        <p:nvSpPr>
          <p:cNvPr id="6" name="Text Placeholder 5">
            <a:extLst>
              <a:ext uri="{FF2B5EF4-FFF2-40B4-BE49-F238E27FC236}">
                <a16:creationId xmlns:a16="http://schemas.microsoft.com/office/drawing/2014/main" id="{667E9AA3-6E33-31DB-B2FC-A1A0DFCD03B6}"/>
              </a:ext>
            </a:extLst>
          </p:cNvPr>
          <p:cNvSpPr>
            <a:spLocks noGrp="1"/>
          </p:cNvSpPr>
          <p:nvPr>
            <p:ph type="body" sz="quarter" idx="10"/>
          </p:nvPr>
        </p:nvSpPr>
        <p:spPr>
          <a:xfrm>
            <a:off x="667321" y="3283800"/>
            <a:ext cx="3679508" cy="4773168"/>
          </a:xfrm>
        </p:spPr>
        <p:txBody>
          <a:bodyPr/>
          <a:lstStyle/>
          <a:p>
            <a:r>
              <a:rPr lang="es-ES" sz="1050" b="0" i="1">
                <a:latin typeface="EYInterstate Light" panose="02000506000000020004" pitchFamily="2" charset="0"/>
              </a:rPr>
              <a:t>Ariadna Moliner, Laia Masó, Paula </a:t>
            </a:r>
            <a:r>
              <a:rPr lang="es-ES" sz="1050" b="0" i="1" err="1">
                <a:latin typeface="EYInterstate Light" panose="02000506000000020004" pitchFamily="2" charset="0"/>
              </a:rPr>
              <a:t>Marià</a:t>
            </a:r>
            <a:r>
              <a:rPr lang="es-ES" sz="1050" b="0" i="1">
                <a:latin typeface="EYInterstate Light" panose="02000506000000020004" pitchFamily="2" charset="0"/>
              </a:rPr>
              <a:t> Besora, Paula </a:t>
            </a:r>
            <a:r>
              <a:rPr lang="es-ES" sz="1050" b="0" i="1" err="1">
                <a:latin typeface="EYInterstate Light" panose="02000506000000020004" pitchFamily="2" charset="0"/>
              </a:rPr>
              <a:t>Garcia</a:t>
            </a:r>
            <a:r>
              <a:rPr lang="es-ES" sz="1050" b="0" i="1">
                <a:latin typeface="EYInterstate Light" panose="02000506000000020004" pitchFamily="2" charset="0"/>
              </a:rPr>
              <a:t>, Iñaki Quer y Carlos Herrera</a:t>
            </a:r>
          </a:p>
          <a:p>
            <a:endParaRPr lang="es-ES" sz="1050" b="1"/>
          </a:p>
          <a:p>
            <a:r>
              <a:rPr lang="es-ES" sz="1050" b="0" i="1">
                <a:latin typeface="EYInterstate Light" panose="02000506000000020004" pitchFamily="2" charset="0"/>
              </a:rPr>
              <a:t>6 de Octubre de 2026</a:t>
            </a:r>
          </a:p>
        </p:txBody>
      </p:sp>
      <p:pic>
        <p:nvPicPr>
          <p:cNvPr id="8" name="Picture 7" descr="EY - European Financial Congress">
            <a:extLst>
              <a:ext uri="{FF2B5EF4-FFF2-40B4-BE49-F238E27FC236}">
                <a16:creationId xmlns:a16="http://schemas.microsoft.com/office/drawing/2014/main" id="{20711B13-57CA-9F3F-19A0-B8DDCE128F25}"/>
              </a:ext>
            </a:extLst>
          </p:cNvPr>
          <p:cNvPicPr>
            <a:picLocks noChangeAspect="1"/>
          </p:cNvPicPr>
          <p:nvPr/>
        </p:nvPicPr>
        <p:blipFill>
          <a:blip r:embed="rId5"/>
          <a:srcRect t="1" b="29614"/>
          <a:stretch>
            <a:fillRect/>
          </a:stretch>
        </p:blipFill>
        <p:spPr>
          <a:xfrm>
            <a:off x="7918041" y="4063236"/>
            <a:ext cx="1225959" cy="939498"/>
          </a:xfrm>
          <a:prstGeom prst="rect">
            <a:avLst/>
          </a:prstGeom>
        </p:spPr>
      </p:pic>
      <p:pic>
        <p:nvPicPr>
          <p:cNvPr id="2" name="Picture 1" descr="Página Principal | Formación Consejería de Salud Asturias">
            <a:extLst>
              <a:ext uri="{FF2B5EF4-FFF2-40B4-BE49-F238E27FC236}">
                <a16:creationId xmlns:a16="http://schemas.microsoft.com/office/drawing/2014/main" id="{2051F241-E83C-DCC7-BBA5-8789FD1CBE17}"/>
              </a:ext>
            </a:extLst>
          </p:cNvPr>
          <p:cNvPicPr>
            <a:picLocks noChangeAspect="1"/>
          </p:cNvPicPr>
          <p:nvPr/>
        </p:nvPicPr>
        <p:blipFill>
          <a:blip r:embed="rId6"/>
          <a:stretch>
            <a:fillRect/>
          </a:stretch>
        </p:blipFill>
        <p:spPr>
          <a:xfrm>
            <a:off x="6562602" y="4532777"/>
            <a:ext cx="1355270" cy="330797"/>
          </a:xfrm>
          <a:prstGeom prst="rect">
            <a:avLst/>
          </a:prstGeom>
        </p:spPr>
      </p:pic>
    </p:spTree>
    <p:extLst>
      <p:ext uri="{BB962C8B-B14F-4D97-AF65-F5344CB8AC3E}">
        <p14:creationId xmlns:p14="http://schemas.microsoft.com/office/powerpoint/2010/main" val="3026856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2B9E9-FB1D-917A-8ED7-0222B04E714B}"/>
            </a:ext>
          </a:extLst>
        </p:cNvPr>
        <p:cNvGrpSpPr/>
        <p:nvPr/>
      </p:nvGrpSpPr>
      <p:grpSpPr>
        <a:xfrm>
          <a:off x="0" y="0"/>
          <a:ext cx="0" cy="0"/>
          <a:chOff x="0" y="0"/>
          <a:chExt cx="0" cy="0"/>
        </a:xfrm>
      </p:grpSpPr>
      <p:graphicFrame>
        <p:nvGraphicFramePr>
          <p:cNvPr id="37" name="thinkcell data - do not delete" hidden="1">
            <a:extLst>
              <a:ext uri="{FF2B5EF4-FFF2-40B4-BE49-F238E27FC236}">
                <a16:creationId xmlns:a16="http://schemas.microsoft.com/office/drawing/2014/main" id="{A9F7720B-B208-928C-4C68-C113E4FF84E2}"/>
              </a:ext>
            </a:extLst>
          </p:cNvPr>
          <p:cNvGraphicFramePr>
            <a:graphicFrameLocks/>
          </p:cNvGraphicFramePr>
          <p:nvPr>
            <p:custDataLst>
              <p:tags r:id="rId1"/>
            </p:custDataLst>
            <p:extLst>
              <p:ext uri="{D42A27DB-BD31-4B8C-83A1-F6EECF244321}">
                <p14:modId xmlns:p14="http://schemas.microsoft.com/office/powerpoint/2010/main" val="3800265143"/>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3" progId="TCLayout.ActiveDocument.1">
                  <p:embed/>
                </p:oleObj>
              </mc:Choice>
              <mc:Fallback>
                <p:oleObj name="thinkcell Slide" r:id="rId5" imgW="404" imgH="403" progId="TCLayout.ActiveDocument.1">
                  <p:embed/>
                  <p:pic>
                    <p:nvPicPr>
                      <p:cNvPr id="37" name="thinkcell data - do not delete" hidden="1">
                        <a:extLst>
                          <a:ext uri="{FF2B5EF4-FFF2-40B4-BE49-F238E27FC236}">
                            <a16:creationId xmlns:a16="http://schemas.microsoft.com/office/drawing/2014/main" id="{A9F7720B-B208-928C-4C68-C113E4FF84E2}"/>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sp>
        <p:nvSpPr>
          <p:cNvPr id="4" name="title accent">
            <a:extLst>
              <a:ext uri="{FF2B5EF4-FFF2-40B4-BE49-F238E27FC236}">
                <a16:creationId xmlns:a16="http://schemas.microsoft.com/office/drawing/2014/main" id="{56985737-3772-01A9-B2F5-835BAAAB3437}"/>
              </a:ext>
              <a:ext uri="{C183D7F6-B498-43B3-948B-1728B52AA6E4}">
                <adec:decorative xmlns:adec="http://schemas.microsoft.com/office/drawing/2017/decorative" val="1"/>
              </a:ext>
            </a:extLst>
          </p:cNvPr>
          <p:cNvSpPr/>
          <p:nvPr/>
        </p:nvSpPr>
        <p:spPr>
          <a:xfrm>
            <a:off x="457200" y="384048"/>
            <a:ext cx="292608" cy="310896"/>
          </a:xfrm>
          <a:prstGeom prst="parallelogram">
            <a:avLst/>
          </a:prstGeom>
          <a:solidFill>
            <a:srgbClr val="FFE600"/>
          </a:solidFill>
          <a:ln/>
        </p:spPr>
        <p:txBody>
          <a:bodyPr/>
          <a:lstStyle/>
          <a:p>
            <a:endParaRPr lang="es-ES">
              <a:latin typeface="EYInterstate Light"/>
            </a:endParaRPr>
          </a:p>
        </p:txBody>
      </p:sp>
      <p:sp>
        <p:nvSpPr>
          <p:cNvPr id="5" name="Text 3">
            <a:extLst>
              <a:ext uri="{FF2B5EF4-FFF2-40B4-BE49-F238E27FC236}">
                <a16:creationId xmlns:a16="http://schemas.microsoft.com/office/drawing/2014/main" id="{37107026-696C-503E-2732-E5BD51325BCB}"/>
              </a:ext>
            </a:extLst>
          </p:cNvPr>
          <p:cNvSpPr/>
          <p:nvPr/>
        </p:nvSpPr>
        <p:spPr>
          <a:xfrm>
            <a:off x="841248" y="274320"/>
            <a:ext cx="6858000" cy="530352"/>
          </a:xfrm>
          <a:prstGeom prst="rect">
            <a:avLst/>
          </a:prstGeom>
          <a:noFill/>
          <a:ln/>
        </p:spPr>
        <p:txBody>
          <a:bodyPr wrap="square" lIns="0" tIns="0" rIns="0" bIns="0" rtlCol="0" anchor="ctr"/>
          <a:lstStyle/>
          <a:p>
            <a:r>
              <a:rPr lang="en-US" sz="2000" b="1">
                <a:solidFill>
                  <a:srgbClr val="1A1A24"/>
                </a:solidFill>
                <a:latin typeface="EYInterstate"/>
                <a:ea typeface="Arial" pitchFamily="34" charset="-122"/>
                <a:cs typeface="Arial"/>
              </a:rPr>
              <a:t>Datos y </a:t>
            </a:r>
            <a:r>
              <a:rPr lang="en-US" sz="2000" b="1" err="1">
                <a:solidFill>
                  <a:srgbClr val="1A1A24"/>
                </a:solidFill>
                <a:latin typeface="EYInterstate"/>
                <a:ea typeface="Arial" pitchFamily="34" charset="-122"/>
                <a:cs typeface="Arial"/>
              </a:rPr>
              <a:t>enfoque</a:t>
            </a:r>
            <a:r>
              <a:rPr lang="en-US" sz="2000" b="1">
                <a:solidFill>
                  <a:srgbClr val="1A1A24"/>
                </a:solidFill>
                <a:latin typeface="EYInterstate"/>
                <a:ea typeface="Arial" pitchFamily="34" charset="-122"/>
                <a:cs typeface="Arial"/>
              </a:rPr>
              <a:t> del </a:t>
            </a:r>
            <a:r>
              <a:rPr lang="en-US" sz="2000" b="1" err="1">
                <a:solidFill>
                  <a:srgbClr val="1A1A24"/>
                </a:solidFill>
                <a:latin typeface="EYInterstate"/>
                <a:ea typeface="Arial" pitchFamily="34" charset="-122"/>
                <a:cs typeface="Arial"/>
              </a:rPr>
              <a:t>proyecto</a:t>
            </a:r>
            <a:endParaRPr lang="en-US" sz="2000">
              <a:solidFill>
                <a:srgbClr val="000000"/>
              </a:solidFill>
              <a:latin typeface="EYInterstate"/>
              <a:ea typeface="Calibri" panose="020F0502020204030204"/>
              <a:cs typeface="Calibri"/>
            </a:endParaRPr>
          </a:p>
        </p:txBody>
      </p:sp>
      <p:sp>
        <p:nvSpPr>
          <p:cNvPr id="6" name="footer rule">
            <a:extLst>
              <a:ext uri="{FF2B5EF4-FFF2-40B4-BE49-F238E27FC236}">
                <a16:creationId xmlns:a16="http://schemas.microsoft.com/office/drawing/2014/main" id="{86E97485-DB72-DF94-1FD5-46782F6A185E}"/>
              </a:ext>
              <a:ext uri="{C183D7F6-B498-43B3-948B-1728B52AA6E4}">
                <adec:decorative xmlns:adec="http://schemas.microsoft.com/office/drawing/2017/decorative" val="1"/>
              </a:ext>
            </a:extLst>
          </p:cNvPr>
          <p:cNvSpPr/>
          <p:nvPr/>
        </p:nvSpPr>
        <p:spPr>
          <a:xfrm>
            <a:off x="457200" y="4773168"/>
            <a:ext cx="8229600" cy="0"/>
          </a:xfrm>
          <a:prstGeom prst="line">
            <a:avLst/>
          </a:prstGeom>
          <a:noFill/>
          <a:ln w="9525">
            <a:solidFill>
              <a:srgbClr val="C4C4CD"/>
            </a:solidFill>
            <a:prstDash val="solid"/>
          </a:ln>
        </p:spPr>
        <p:txBody>
          <a:bodyPr/>
          <a:lstStyle/>
          <a:p>
            <a:endParaRPr lang="es-ES">
              <a:latin typeface="EYInterstate Light"/>
            </a:endParaRPr>
          </a:p>
        </p:txBody>
      </p:sp>
      <p:sp>
        <p:nvSpPr>
          <p:cNvPr id="7" name="Text 5">
            <a:extLst>
              <a:ext uri="{FF2B5EF4-FFF2-40B4-BE49-F238E27FC236}">
                <a16:creationId xmlns:a16="http://schemas.microsoft.com/office/drawing/2014/main" id="{85BE5C01-F603-BDBD-159E-5319F9A0B608}"/>
              </a:ext>
            </a:extLst>
          </p:cNvPr>
          <p:cNvSpPr/>
          <p:nvPr/>
        </p:nvSpPr>
        <p:spPr>
          <a:xfrm>
            <a:off x="1024465" y="4818888"/>
            <a:ext cx="4572000" cy="228600"/>
          </a:xfrm>
          <a:prstGeom prst="rect">
            <a:avLst/>
          </a:prstGeom>
          <a:noFill/>
          <a:ln/>
        </p:spPr>
        <p:txBody>
          <a:bodyPr wrap="square" lIns="0" tIns="0" rIns="0" bIns="0" rtlCol="0" anchor="ctr"/>
          <a:lstStyle/>
          <a:p>
            <a:r>
              <a:rPr lang="en-US" sz="800">
                <a:solidFill>
                  <a:srgbClr val="747480"/>
                </a:solidFill>
                <a:latin typeface="EYInterstate Light"/>
                <a:ea typeface="Arial" pitchFamily="34" charset="-122"/>
                <a:cs typeface="Arial" pitchFamily="34" charset="-120"/>
              </a:rPr>
              <a:t>Gasto farmacéutico y sanitario · España</a:t>
            </a:r>
            <a:endParaRPr lang="en-US" sz="800">
              <a:latin typeface="EYInterstate Light"/>
            </a:endParaRPr>
          </a:p>
        </p:txBody>
      </p:sp>
      <p:sp>
        <p:nvSpPr>
          <p:cNvPr id="8" name="Text 6">
            <a:extLst>
              <a:ext uri="{FF2B5EF4-FFF2-40B4-BE49-F238E27FC236}">
                <a16:creationId xmlns:a16="http://schemas.microsoft.com/office/drawing/2014/main" id="{BDBD099A-2E01-E6A8-8F87-B4F8D80116FA}"/>
              </a:ext>
            </a:extLst>
          </p:cNvPr>
          <p:cNvSpPr/>
          <p:nvPr/>
        </p:nvSpPr>
        <p:spPr>
          <a:xfrm>
            <a:off x="457180" y="4827355"/>
            <a:ext cx="521885" cy="228600"/>
          </a:xfrm>
          <a:prstGeom prst="rect">
            <a:avLst/>
          </a:prstGeom>
          <a:noFill/>
          <a:ln/>
        </p:spPr>
        <p:txBody>
          <a:bodyPr wrap="square" lIns="0" tIns="0" rIns="0" bIns="0" rtlCol="0" anchor="ctr"/>
          <a:lstStyle/>
          <a:p>
            <a:r>
              <a:rPr lang="en-US" sz="800">
                <a:solidFill>
                  <a:srgbClr val="747480"/>
                </a:solidFill>
                <a:latin typeface="EYInterstate Light"/>
                <a:ea typeface="Arial" pitchFamily="34" charset="-122"/>
                <a:cs typeface="Arial" pitchFamily="34" charset="-120"/>
              </a:rPr>
              <a:t>Página 2</a:t>
            </a:r>
            <a:endParaRPr lang="en-US" sz="800">
              <a:latin typeface="EYInterstate Light"/>
            </a:endParaRPr>
          </a:p>
        </p:txBody>
      </p:sp>
      <p:pic>
        <p:nvPicPr>
          <p:cNvPr id="40" name="Picture 39" descr="EY - European Financial Congress">
            <a:extLst>
              <a:ext uri="{FF2B5EF4-FFF2-40B4-BE49-F238E27FC236}">
                <a16:creationId xmlns:a16="http://schemas.microsoft.com/office/drawing/2014/main" id="{7C62E5CA-295C-119B-B688-FCE297E2F121}"/>
              </a:ext>
            </a:extLst>
          </p:cNvPr>
          <p:cNvPicPr>
            <a:picLocks noChangeAspect="1"/>
          </p:cNvPicPr>
          <p:nvPr/>
        </p:nvPicPr>
        <p:blipFill>
          <a:blip r:embed="rId7"/>
          <a:srcRect t="1" b="29614"/>
          <a:stretch>
            <a:fillRect/>
          </a:stretch>
        </p:blipFill>
        <p:spPr>
          <a:xfrm>
            <a:off x="8635998" y="4749794"/>
            <a:ext cx="482580" cy="369819"/>
          </a:xfrm>
          <a:prstGeom prst="rect">
            <a:avLst/>
          </a:prstGeom>
        </p:spPr>
      </p:pic>
      <p:sp>
        <p:nvSpPr>
          <p:cNvPr id="101" name="Text 101"/>
          <p:cNvSpPr txBox="1"/>
          <p:nvPr/>
        </p:nvSpPr>
        <p:spPr>
          <a:xfrm>
            <a:off x="457200" y="975000"/>
            <a:ext cx="3977640" cy="171450"/>
          </a:xfrm>
          <a:prstGeom prst="rect">
            <a:avLst/>
          </a:prstGeom>
          <a:noFill/>
        </p:spPr>
        <p:txBody>
          <a:bodyPr wrap="square" lIns="0" tIns="0" rIns="0" bIns="0" rtlCol="0" anchor="ctr">
            <a:noAutofit/>
          </a:bodyPr>
          <a:lstStyle/>
          <a:p>
            <a:r>
              <a:rPr lang="es-ES" sz="900" b="1" spc="225">
                <a:solidFill>
                  <a:srgbClr val="1A1A24"/>
                </a:solidFill>
                <a:latin typeface="EYInterstate Light"/>
                <a:cs typeface="Arial"/>
              </a:rPr>
              <a:t>LOS DATOS</a:t>
            </a:r>
          </a:p>
        </p:txBody>
      </p:sp>
      <p:sp>
        <p:nvSpPr>
          <p:cNvPr id="102" name="Text 102"/>
          <p:cNvSpPr txBox="1"/>
          <p:nvPr/>
        </p:nvSpPr>
        <p:spPr>
          <a:xfrm>
            <a:off x="4709160" y="975000"/>
            <a:ext cx="3977640" cy="171450"/>
          </a:xfrm>
          <a:prstGeom prst="rect">
            <a:avLst/>
          </a:prstGeom>
          <a:noFill/>
        </p:spPr>
        <p:txBody>
          <a:bodyPr wrap="square" lIns="0" tIns="0" rIns="0" bIns="0" rtlCol="0" anchor="ctr">
            <a:noAutofit/>
          </a:bodyPr>
          <a:lstStyle/>
          <a:p>
            <a:r>
              <a:rPr lang="es-ES" sz="900" b="1" spc="225">
                <a:solidFill>
                  <a:srgbClr val="1A1A24"/>
                </a:solidFill>
                <a:latin typeface="EYInterstate Light"/>
                <a:cs typeface="Arial"/>
              </a:rPr>
              <a:t>PREGUNTA PRINCIPAL</a:t>
            </a:r>
          </a:p>
        </p:txBody>
      </p:sp>
      <p:sp>
        <p:nvSpPr>
          <p:cNvPr id="103" name="Shape 103"/>
          <p:cNvSpPr/>
          <p:nvPr/>
        </p:nvSpPr>
        <p:spPr>
          <a:xfrm>
            <a:off x="457200" y="1200000"/>
            <a:ext cx="1264920" cy="1146312"/>
          </a:xfrm>
          <a:prstGeom prst="rect">
            <a:avLst/>
          </a:prstGeom>
          <a:solidFill>
            <a:srgbClr val="F6F6FA"/>
          </a:solidFill>
          <a:ln>
            <a:noFill/>
          </a:ln>
        </p:spPr>
        <p:txBody>
          <a:bodyPr/>
          <a:lstStyle/>
          <a:p>
            <a:endParaRPr lang="es-ES" sz="750">
              <a:latin typeface="EYInterstate Light"/>
            </a:endParaRPr>
          </a:p>
        </p:txBody>
      </p:sp>
      <p:sp>
        <p:nvSpPr>
          <p:cNvPr id="104" name="Shape 104"/>
          <p:cNvSpPr/>
          <p:nvPr/>
        </p:nvSpPr>
        <p:spPr>
          <a:xfrm>
            <a:off x="457200" y="1200000"/>
            <a:ext cx="1264920" cy="27000"/>
          </a:xfrm>
          <a:prstGeom prst="rect">
            <a:avLst/>
          </a:prstGeom>
          <a:solidFill>
            <a:srgbClr val="FFE600"/>
          </a:solidFill>
          <a:ln>
            <a:noFill/>
          </a:ln>
        </p:spPr>
        <p:txBody>
          <a:bodyPr/>
          <a:lstStyle/>
          <a:p>
            <a:endParaRPr lang="es-ES" sz="750">
              <a:latin typeface="EYInterstate Light"/>
            </a:endParaRPr>
          </a:p>
        </p:txBody>
      </p:sp>
      <p:sp>
        <p:nvSpPr>
          <p:cNvPr id="105" name="Text 105"/>
          <p:cNvSpPr txBox="1"/>
          <p:nvPr/>
        </p:nvSpPr>
        <p:spPr>
          <a:xfrm>
            <a:off x="569700" y="1430449"/>
            <a:ext cx="1039920" cy="450000"/>
          </a:xfrm>
          <a:prstGeom prst="rect">
            <a:avLst/>
          </a:prstGeom>
          <a:noFill/>
        </p:spPr>
        <p:txBody>
          <a:bodyPr wrap="square" lIns="0" tIns="0" rIns="0" bIns="0" rtlCol="0" anchor="ctr">
            <a:normAutofit fontScale="92500" lnSpcReduction="10000"/>
          </a:bodyPr>
          <a:lstStyle/>
          <a:p>
            <a:r>
              <a:rPr lang="es-ES" sz="3300" b="1">
                <a:solidFill>
                  <a:srgbClr val="1A1A24"/>
                </a:solidFill>
                <a:latin typeface="EYInterstate Light"/>
                <a:cs typeface="Arial"/>
              </a:rPr>
              <a:t>17</a:t>
            </a:r>
          </a:p>
        </p:txBody>
      </p:sp>
      <p:sp>
        <p:nvSpPr>
          <p:cNvPr id="106" name="Text 106"/>
          <p:cNvSpPr txBox="1"/>
          <p:nvPr/>
        </p:nvSpPr>
        <p:spPr>
          <a:xfrm>
            <a:off x="569700" y="1925449"/>
            <a:ext cx="1039920" cy="315000"/>
          </a:xfrm>
          <a:prstGeom prst="rect">
            <a:avLst/>
          </a:prstGeom>
          <a:noFill/>
        </p:spPr>
        <p:txBody>
          <a:bodyPr wrap="square" lIns="0" tIns="0" rIns="0" bIns="0" rtlCol="0" anchor="t">
            <a:noAutofit/>
          </a:bodyPr>
          <a:lstStyle/>
          <a:p>
            <a:r>
              <a:rPr lang="es-ES" sz="900">
                <a:solidFill>
                  <a:srgbClr val="747480"/>
                </a:solidFill>
                <a:latin typeface="EYInterstate Light"/>
                <a:cs typeface="Arial"/>
              </a:rPr>
              <a:t>Comunidades autónomas</a:t>
            </a:r>
          </a:p>
        </p:txBody>
      </p:sp>
      <p:sp>
        <p:nvSpPr>
          <p:cNvPr id="107" name="Shape 107"/>
          <p:cNvSpPr/>
          <p:nvPr/>
        </p:nvSpPr>
        <p:spPr>
          <a:xfrm>
            <a:off x="1813560" y="1200000"/>
            <a:ext cx="1264920" cy="1146312"/>
          </a:xfrm>
          <a:prstGeom prst="rect">
            <a:avLst/>
          </a:prstGeom>
          <a:solidFill>
            <a:srgbClr val="F6F6FA"/>
          </a:solidFill>
          <a:ln>
            <a:noFill/>
          </a:ln>
        </p:spPr>
        <p:txBody>
          <a:bodyPr/>
          <a:lstStyle/>
          <a:p>
            <a:endParaRPr lang="es-ES" sz="750">
              <a:latin typeface="EYInterstate Light"/>
            </a:endParaRPr>
          </a:p>
        </p:txBody>
      </p:sp>
      <p:sp>
        <p:nvSpPr>
          <p:cNvPr id="108" name="Shape 108"/>
          <p:cNvSpPr/>
          <p:nvPr/>
        </p:nvSpPr>
        <p:spPr>
          <a:xfrm>
            <a:off x="1813560" y="1200000"/>
            <a:ext cx="1264920" cy="27000"/>
          </a:xfrm>
          <a:prstGeom prst="rect">
            <a:avLst/>
          </a:prstGeom>
          <a:solidFill>
            <a:srgbClr val="FFE600"/>
          </a:solidFill>
          <a:ln>
            <a:noFill/>
          </a:ln>
        </p:spPr>
        <p:txBody>
          <a:bodyPr/>
          <a:lstStyle/>
          <a:p>
            <a:endParaRPr lang="es-ES" sz="750">
              <a:latin typeface="EYInterstate Light"/>
            </a:endParaRPr>
          </a:p>
        </p:txBody>
      </p:sp>
      <p:sp>
        <p:nvSpPr>
          <p:cNvPr id="109" name="Text 109"/>
          <p:cNvSpPr txBox="1"/>
          <p:nvPr/>
        </p:nvSpPr>
        <p:spPr>
          <a:xfrm>
            <a:off x="1926060" y="1430449"/>
            <a:ext cx="1039920" cy="450000"/>
          </a:xfrm>
          <a:prstGeom prst="rect">
            <a:avLst/>
          </a:prstGeom>
          <a:noFill/>
        </p:spPr>
        <p:txBody>
          <a:bodyPr wrap="square" lIns="0" tIns="0" rIns="0" bIns="0" rtlCol="0" anchor="ctr">
            <a:normAutofit fontScale="92500" lnSpcReduction="10000"/>
          </a:bodyPr>
          <a:lstStyle/>
          <a:p>
            <a:r>
              <a:rPr lang="es-ES" sz="3300" b="1">
                <a:solidFill>
                  <a:srgbClr val="1A1A24"/>
                </a:solidFill>
                <a:latin typeface="EYInterstate Light"/>
                <a:cs typeface="Arial"/>
              </a:rPr>
              <a:t>3</a:t>
            </a:r>
          </a:p>
        </p:txBody>
      </p:sp>
      <p:sp>
        <p:nvSpPr>
          <p:cNvPr id="110" name="Text 110"/>
          <p:cNvSpPr txBox="1"/>
          <p:nvPr/>
        </p:nvSpPr>
        <p:spPr>
          <a:xfrm>
            <a:off x="1926060" y="1925449"/>
            <a:ext cx="1039920" cy="315000"/>
          </a:xfrm>
          <a:prstGeom prst="rect">
            <a:avLst/>
          </a:prstGeom>
          <a:noFill/>
        </p:spPr>
        <p:txBody>
          <a:bodyPr wrap="square" lIns="0" tIns="0" rIns="0" bIns="0" rtlCol="0" anchor="t">
            <a:noAutofit/>
          </a:bodyPr>
          <a:lstStyle/>
          <a:p>
            <a:r>
              <a:rPr lang="es-ES" sz="900">
                <a:solidFill>
                  <a:srgbClr val="747480"/>
                </a:solidFill>
                <a:latin typeface="EYInterstate Light"/>
                <a:cs typeface="Arial"/>
              </a:rPr>
              <a:t>Años: 2024, 2025 y 2026</a:t>
            </a:r>
          </a:p>
        </p:txBody>
      </p:sp>
      <p:sp>
        <p:nvSpPr>
          <p:cNvPr id="111" name="Shape 111"/>
          <p:cNvSpPr/>
          <p:nvPr/>
        </p:nvSpPr>
        <p:spPr>
          <a:xfrm>
            <a:off x="3169920" y="1200000"/>
            <a:ext cx="1264920" cy="1146312"/>
          </a:xfrm>
          <a:prstGeom prst="rect">
            <a:avLst/>
          </a:prstGeom>
          <a:solidFill>
            <a:srgbClr val="F6F6FA"/>
          </a:solidFill>
          <a:ln>
            <a:noFill/>
          </a:ln>
        </p:spPr>
        <p:txBody>
          <a:bodyPr/>
          <a:lstStyle/>
          <a:p>
            <a:endParaRPr lang="es-ES" sz="750">
              <a:latin typeface="EYInterstate Light"/>
            </a:endParaRPr>
          </a:p>
        </p:txBody>
      </p:sp>
      <p:sp>
        <p:nvSpPr>
          <p:cNvPr id="112" name="Shape 112"/>
          <p:cNvSpPr/>
          <p:nvPr/>
        </p:nvSpPr>
        <p:spPr>
          <a:xfrm>
            <a:off x="3169920" y="1200000"/>
            <a:ext cx="1264920" cy="27000"/>
          </a:xfrm>
          <a:prstGeom prst="rect">
            <a:avLst/>
          </a:prstGeom>
          <a:solidFill>
            <a:srgbClr val="FFE600"/>
          </a:solidFill>
          <a:ln>
            <a:noFill/>
          </a:ln>
        </p:spPr>
        <p:txBody>
          <a:bodyPr/>
          <a:lstStyle/>
          <a:p>
            <a:endParaRPr lang="es-ES" sz="750">
              <a:latin typeface="EYInterstate Light"/>
            </a:endParaRPr>
          </a:p>
        </p:txBody>
      </p:sp>
      <p:sp>
        <p:nvSpPr>
          <p:cNvPr id="113" name="Text 113"/>
          <p:cNvSpPr txBox="1"/>
          <p:nvPr/>
        </p:nvSpPr>
        <p:spPr>
          <a:xfrm>
            <a:off x="3282420" y="1430449"/>
            <a:ext cx="1039920" cy="450000"/>
          </a:xfrm>
          <a:prstGeom prst="rect">
            <a:avLst/>
          </a:prstGeom>
          <a:noFill/>
        </p:spPr>
        <p:txBody>
          <a:bodyPr wrap="square" lIns="0" tIns="0" rIns="0" bIns="0" rtlCol="0" anchor="ctr">
            <a:normAutofit fontScale="92500" lnSpcReduction="10000"/>
          </a:bodyPr>
          <a:lstStyle/>
          <a:p>
            <a:r>
              <a:rPr lang="es-ES" sz="3300" b="1">
                <a:solidFill>
                  <a:srgbClr val="1A1A24"/>
                </a:solidFill>
                <a:latin typeface="EYInterstate Light"/>
                <a:cs typeface="Arial"/>
              </a:rPr>
              <a:t>3</a:t>
            </a:r>
          </a:p>
        </p:txBody>
      </p:sp>
      <p:sp>
        <p:nvSpPr>
          <p:cNvPr id="114" name="Text 114"/>
          <p:cNvSpPr txBox="1"/>
          <p:nvPr/>
        </p:nvSpPr>
        <p:spPr>
          <a:xfrm>
            <a:off x="3282420" y="1925449"/>
            <a:ext cx="1039920" cy="315000"/>
          </a:xfrm>
          <a:prstGeom prst="rect">
            <a:avLst/>
          </a:prstGeom>
          <a:noFill/>
        </p:spPr>
        <p:txBody>
          <a:bodyPr wrap="square" lIns="0" tIns="0" rIns="0" bIns="0" rtlCol="0" anchor="t">
            <a:normAutofit/>
          </a:bodyPr>
          <a:lstStyle/>
          <a:p>
            <a:r>
              <a:rPr lang="es-ES" sz="900">
                <a:solidFill>
                  <a:srgbClr val="747480"/>
                </a:solidFill>
                <a:latin typeface="EYInterstate Light"/>
                <a:cs typeface="Arial"/>
              </a:rPr>
              <a:t>Partidas: hospital, recetas y sin receta</a:t>
            </a:r>
          </a:p>
        </p:txBody>
      </p:sp>
      <p:sp>
        <p:nvSpPr>
          <p:cNvPr id="115" name="Text 115"/>
          <p:cNvSpPr txBox="1"/>
          <p:nvPr/>
        </p:nvSpPr>
        <p:spPr>
          <a:xfrm>
            <a:off x="457200" y="2437769"/>
            <a:ext cx="600000" cy="225000"/>
          </a:xfrm>
          <a:prstGeom prst="rect">
            <a:avLst/>
          </a:prstGeom>
          <a:noFill/>
        </p:spPr>
        <p:txBody>
          <a:bodyPr wrap="square" lIns="0" tIns="0" rIns="0" bIns="0" rtlCol="0" anchor="ctr">
            <a:noAutofit/>
          </a:bodyPr>
          <a:lstStyle/>
          <a:p>
            <a:r>
              <a:rPr lang="es-ES" sz="825" b="1" spc="75">
                <a:solidFill>
                  <a:srgbClr val="747480"/>
                </a:solidFill>
                <a:latin typeface="EYInterstate Light"/>
                <a:cs typeface="Arial"/>
              </a:rPr>
              <a:t>FUENTES</a:t>
            </a:r>
          </a:p>
        </p:txBody>
      </p:sp>
      <p:sp>
        <p:nvSpPr>
          <p:cNvPr id="116" name="Text 116"/>
          <p:cNvSpPr txBox="1"/>
          <p:nvPr/>
        </p:nvSpPr>
        <p:spPr>
          <a:xfrm>
            <a:off x="1080000" y="2437769"/>
            <a:ext cx="1920000" cy="225000"/>
          </a:xfrm>
          <a:prstGeom prst="roundRect">
            <a:avLst/>
          </a:prstGeom>
          <a:solidFill>
            <a:srgbClr val="1A1A24"/>
          </a:solidFill>
        </p:spPr>
        <p:txBody>
          <a:bodyPr wrap="square" lIns="0" tIns="0" rIns="0" bIns="0" rtlCol="0" anchor="ctr">
            <a:noAutofit/>
          </a:bodyPr>
          <a:lstStyle/>
          <a:p>
            <a:pPr algn="ctr"/>
            <a:r>
              <a:rPr lang="es-ES" sz="900" b="1">
                <a:solidFill>
                  <a:srgbClr val="FFFFFF"/>
                </a:solidFill>
                <a:latin typeface="EYInterstate Light"/>
                <a:cs typeface="Arial"/>
              </a:rPr>
              <a:t>Ministerio de Hacienda · gasto</a:t>
            </a:r>
          </a:p>
        </p:txBody>
      </p:sp>
      <p:sp>
        <p:nvSpPr>
          <p:cNvPr id="117" name="Text 117"/>
          <p:cNvSpPr txBox="1"/>
          <p:nvPr/>
        </p:nvSpPr>
        <p:spPr>
          <a:xfrm>
            <a:off x="3075000" y="2437769"/>
            <a:ext cx="1125000" cy="225000"/>
          </a:xfrm>
          <a:prstGeom prst="roundRect">
            <a:avLst/>
          </a:prstGeom>
          <a:solidFill>
            <a:srgbClr val="1A1A24"/>
          </a:solidFill>
        </p:spPr>
        <p:txBody>
          <a:bodyPr wrap="square" lIns="0" tIns="0" rIns="0" bIns="0" rtlCol="0" anchor="ctr">
            <a:noAutofit/>
          </a:bodyPr>
          <a:lstStyle/>
          <a:p>
            <a:pPr algn="ctr"/>
            <a:r>
              <a:rPr lang="es-ES" sz="900" b="1">
                <a:solidFill>
                  <a:srgbClr val="FFFFFF"/>
                </a:solidFill>
                <a:latin typeface="EYInterstate Light"/>
                <a:cs typeface="Arial"/>
              </a:rPr>
              <a:t>INE · población</a:t>
            </a:r>
          </a:p>
        </p:txBody>
      </p:sp>
      <p:sp>
        <p:nvSpPr>
          <p:cNvPr id="118" name="Shape 118"/>
          <p:cNvSpPr/>
          <p:nvPr/>
        </p:nvSpPr>
        <p:spPr>
          <a:xfrm>
            <a:off x="4709160" y="1200000"/>
            <a:ext cx="3977640" cy="1387500"/>
          </a:xfrm>
          <a:prstGeom prst="rect">
            <a:avLst/>
          </a:prstGeom>
          <a:solidFill>
            <a:srgbClr val="1A1A24"/>
          </a:solidFill>
          <a:ln>
            <a:noFill/>
          </a:ln>
        </p:spPr>
        <p:txBody>
          <a:bodyPr/>
          <a:lstStyle/>
          <a:p>
            <a:endParaRPr lang="es-ES" sz="750">
              <a:latin typeface="EYInterstate Light"/>
            </a:endParaRPr>
          </a:p>
        </p:txBody>
      </p:sp>
      <p:sp>
        <p:nvSpPr>
          <p:cNvPr id="119" name="Shape 119"/>
          <p:cNvSpPr/>
          <p:nvPr/>
        </p:nvSpPr>
        <p:spPr>
          <a:xfrm>
            <a:off x="4709160" y="1200000"/>
            <a:ext cx="68580" cy="1387500"/>
          </a:xfrm>
          <a:prstGeom prst="rect">
            <a:avLst/>
          </a:prstGeom>
          <a:solidFill>
            <a:srgbClr val="FFE600"/>
          </a:solidFill>
          <a:ln>
            <a:noFill/>
          </a:ln>
        </p:spPr>
        <p:txBody>
          <a:bodyPr/>
          <a:lstStyle/>
          <a:p>
            <a:endParaRPr lang="es-ES" sz="750">
              <a:latin typeface="EYInterstate Light"/>
            </a:endParaRPr>
          </a:p>
        </p:txBody>
      </p:sp>
      <p:sp>
        <p:nvSpPr>
          <p:cNvPr id="120" name="Text 120"/>
          <p:cNvSpPr txBox="1"/>
          <p:nvPr/>
        </p:nvSpPr>
        <p:spPr>
          <a:xfrm>
            <a:off x="4979160" y="1200000"/>
            <a:ext cx="3497640" cy="1387500"/>
          </a:xfrm>
          <a:prstGeom prst="rect">
            <a:avLst/>
          </a:prstGeom>
          <a:noFill/>
        </p:spPr>
        <p:txBody>
          <a:bodyPr wrap="square" lIns="0" tIns="0" rIns="0" bIns="0" rtlCol="0" anchor="ctr">
            <a:noAutofit/>
          </a:bodyPr>
          <a:lstStyle/>
          <a:p>
            <a:r>
              <a:rPr lang="es-ES" sz="1350">
                <a:solidFill>
                  <a:srgbClr val="FFFFFF"/>
                </a:solidFill>
                <a:latin typeface="EYInterstate Light"/>
                <a:cs typeface="Arial"/>
              </a:rPr>
              <a:t>¿Cómo ha evolucionado el gasto farmacéutico y sanitario en España en 2024‑2025 y por qué </a:t>
            </a:r>
            <a:r>
              <a:rPr lang="es-ES" sz="1350" b="1">
                <a:solidFill>
                  <a:srgbClr val="FFE600"/>
                </a:solidFill>
                <a:latin typeface="EYInterstate Light"/>
                <a:cs typeface="Arial"/>
              </a:rPr>
              <a:t>Asturias</a:t>
            </a:r>
            <a:r>
              <a:rPr lang="es-ES" sz="1350">
                <a:solidFill>
                  <a:srgbClr val="FFFFFF"/>
                </a:solidFill>
                <a:latin typeface="EYInterstate Light"/>
                <a:cs typeface="Arial"/>
              </a:rPr>
              <a:t> presenta un mayor gasto por habitante que </a:t>
            </a:r>
            <a:r>
              <a:rPr lang="es-ES" sz="1350" b="1">
                <a:solidFill>
                  <a:srgbClr val="FFE600"/>
                </a:solidFill>
                <a:latin typeface="EYInterstate Light"/>
                <a:cs typeface="Arial"/>
              </a:rPr>
              <a:t>Cataluña</a:t>
            </a:r>
            <a:r>
              <a:rPr lang="es-ES" sz="1350">
                <a:solidFill>
                  <a:srgbClr val="FFFFFF"/>
                </a:solidFill>
                <a:latin typeface="EYInterstate Light"/>
                <a:cs typeface="Arial"/>
              </a:rPr>
              <a:t>?</a:t>
            </a:r>
          </a:p>
        </p:txBody>
      </p:sp>
      <p:sp>
        <p:nvSpPr>
          <p:cNvPr id="121" name="Text 121"/>
          <p:cNvSpPr txBox="1"/>
          <p:nvPr/>
        </p:nvSpPr>
        <p:spPr>
          <a:xfrm>
            <a:off x="457200" y="3037500"/>
            <a:ext cx="4500000" cy="171450"/>
          </a:xfrm>
          <a:prstGeom prst="rect">
            <a:avLst/>
          </a:prstGeom>
          <a:noFill/>
        </p:spPr>
        <p:txBody>
          <a:bodyPr wrap="square" lIns="0" tIns="0" rIns="0" bIns="0" rtlCol="0" anchor="ctr">
            <a:noAutofit/>
          </a:bodyPr>
          <a:lstStyle/>
          <a:p>
            <a:r>
              <a:rPr lang="es-ES" sz="900" b="1" spc="225">
                <a:solidFill>
                  <a:srgbClr val="1A1A24"/>
                </a:solidFill>
                <a:latin typeface="EYInterstate Light"/>
                <a:cs typeface="Arial"/>
              </a:rPr>
              <a:t>ÍNDICE DEL TRABAJO</a:t>
            </a:r>
          </a:p>
        </p:txBody>
      </p:sp>
      <p:sp>
        <p:nvSpPr>
          <p:cNvPr id="122" name="Shape 122"/>
          <p:cNvSpPr/>
          <p:nvPr/>
        </p:nvSpPr>
        <p:spPr>
          <a:xfrm>
            <a:off x="847200" y="3510000"/>
            <a:ext cx="5919360" cy="0"/>
          </a:xfrm>
          <a:prstGeom prst="line">
            <a:avLst/>
          </a:prstGeom>
          <a:noFill/>
          <a:ln w="12700">
            <a:solidFill>
              <a:srgbClr val="C4C4CD"/>
            </a:solidFill>
          </a:ln>
        </p:spPr>
        <p:txBody>
          <a:bodyPr/>
          <a:lstStyle/>
          <a:p>
            <a:endParaRPr lang="es-ES" sz="750">
              <a:latin typeface="EYInterstate Light"/>
            </a:endParaRPr>
          </a:p>
        </p:txBody>
      </p:sp>
      <p:sp>
        <p:nvSpPr>
          <p:cNvPr id="123" name="Text 123"/>
          <p:cNvSpPr txBox="1"/>
          <p:nvPr/>
        </p:nvSpPr>
        <p:spPr>
          <a:xfrm>
            <a:off x="457200" y="3315000"/>
            <a:ext cx="390000" cy="390000"/>
          </a:xfrm>
          <a:prstGeom prst="ellipse">
            <a:avLst/>
          </a:prstGeom>
          <a:solidFill>
            <a:srgbClr val="FFE600"/>
          </a:solidFill>
        </p:spPr>
        <p:txBody>
          <a:bodyPr wrap="square" lIns="0" tIns="0" rIns="0" bIns="0" rtlCol="0" anchor="ctr">
            <a:noAutofit/>
          </a:bodyPr>
          <a:lstStyle/>
          <a:p>
            <a:pPr algn="ctr"/>
            <a:r>
              <a:rPr lang="es-ES" sz="1050" b="1">
                <a:solidFill>
                  <a:srgbClr val="1A1A24"/>
                </a:solidFill>
                <a:latin typeface="EYInterstate Light"/>
                <a:cs typeface="Arial"/>
              </a:rPr>
              <a:t>01</a:t>
            </a:r>
          </a:p>
        </p:txBody>
      </p:sp>
      <p:sp>
        <p:nvSpPr>
          <p:cNvPr id="124" name="Shape 124"/>
          <p:cNvSpPr/>
          <p:nvPr/>
        </p:nvSpPr>
        <p:spPr>
          <a:xfrm>
            <a:off x="982200" y="3330000"/>
            <a:ext cx="420000" cy="360000"/>
          </a:xfrm>
          <a:prstGeom prst="rect">
            <a:avLst/>
          </a:prstGeom>
          <a:solidFill>
            <a:srgbClr val="FFFFFF"/>
          </a:solidFill>
          <a:ln>
            <a:noFill/>
          </a:ln>
        </p:spPr>
        <p:txBody>
          <a:bodyPr/>
          <a:lstStyle/>
          <a:p>
            <a:endParaRPr lang="es-ES" sz="750">
              <a:latin typeface="EYInterstate Light"/>
            </a:endParaRPr>
          </a:p>
        </p:txBody>
      </p:sp>
      <p:pic>
        <p:nvPicPr>
          <p:cNvPr id="125" name="Icon 125" descr="Gráfico de líneas"/>
          <p:cNvPicPr>
            <a:picLocks noChangeAspect="1"/>
          </p:cNvPicPr>
          <p:nvPr/>
        </p:nvPicPr>
        <p:blipFill>
          <a:blip r:embed="rId8"/>
          <a:stretch>
            <a:fillRect/>
          </a:stretch>
        </p:blipFill>
        <p:spPr>
          <a:xfrm>
            <a:off x="1042200" y="3360000"/>
            <a:ext cx="300000" cy="300000"/>
          </a:xfrm>
          <a:prstGeom prst="rect">
            <a:avLst/>
          </a:prstGeom>
        </p:spPr>
      </p:pic>
      <p:sp>
        <p:nvSpPr>
          <p:cNvPr id="126" name="Text 126"/>
          <p:cNvSpPr txBox="1"/>
          <p:nvPr/>
        </p:nvSpPr>
        <p:spPr>
          <a:xfrm>
            <a:off x="457200" y="3840000"/>
            <a:ext cx="1920240" cy="210000"/>
          </a:xfrm>
          <a:prstGeom prst="rect">
            <a:avLst/>
          </a:prstGeom>
          <a:noFill/>
        </p:spPr>
        <p:txBody>
          <a:bodyPr wrap="square" lIns="0" tIns="0" rIns="0" bIns="0" rtlCol="0" anchor="t">
            <a:noAutofit/>
          </a:bodyPr>
          <a:lstStyle/>
          <a:p>
            <a:r>
              <a:rPr lang="es-ES" sz="1200" b="1">
                <a:solidFill>
                  <a:srgbClr val="1A1A24"/>
                </a:solidFill>
                <a:latin typeface="EYInterstate Light"/>
                <a:cs typeface="Arial"/>
              </a:rPr>
              <a:t>Contexto nacional</a:t>
            </a:r>
          </a:p>
        </p:txBody>
      </p:sp>
      <p:sp>
        <p:nvSpPr>
          <p:cNvPr id="127" name="Text 127"/>
          <p:cNvSpPr txBox="1"/>
          <p:nvPr/>
        </p:nvSpPr>
        <p:spPr>
          <a:xfrm>
            <a:off x="457200" y="4080000"/>
            <a:ext cx="2025000" cy="315000"/>
          </a:xfrm>
          <a:prstGeom prst="rect">
            <a:avLst/>
          </a:prstGeom>
          <a:noFill/>
        </p:spPr>
        <p:txBody>
          <a:bodyPr wrap="square" lIns="0" tIns="0" rIns="0" bIns="0" rtlCol="0" anchor="t">
            <a:noAutofit/>
          </a:bodyPr>
          <a:lstStyle/>
          <a:p>
            <a:r>
              <a:rPr lang="es-ES" sz="900">
                <a:solidFill>
                  <a:srgbClr val="747480"/>
                </a:solidFill>
                <a:latin typeface="EYInterstate Light"/>
                <a:cs typeface="Arial"/>
              </a:rPr>
              <a:t>Evolución del gasto total 2024‑2025</a:t>
            </a:r>
          </a:p>
        </p:txBody>
      </p:sp>
      <p:sp>
        <p:nvSpPr>
          <p:cNvPr id="128" name="Text 128"/>
          <p:cNvSpPr txBox="1"/>
          <p:nvPr/>
        </p:nvSpPr>
        <p:spPr>
          <a:xfrm>
            <a:off x="2560320" y="3315000"/>
            <a:ext cx="390000" cy="390000"/>
          </a:xfrm>
          <a:prstGeom prst="ellipse">
            <a:avLst/>
          </a:prstGeom>
          <a:solidFill>
            <a:srgbClr val="FFE600"/>
          </a:solidFill>
        </p:spPr>
        <p:txBody>
          <a:bodyPr wrap="square" lIns="0" tIns="0" rIns="0" bIns="0" rtlCol="0" anchor="ctr">
            <a:noAutofit/>
          </a:bodyPr>
          <a:lstStyle/>
          <a:p>
            <a:pPr algn="ctr"/>
            <a:r>
              <a:rPr lang="es-ES" sz="1050" b="1">
                <a:solidFill>
                  <a:srgbClr val="1A1A24"/>
                </a:solidFill>
                <a:latin typeface="EYInterstate Light"/>
                <a:cs typeface="Arial"/>
              </a:rPr>
              <a:t>02</a:t>
            </a:r>
          </a:p>
        </p:txBody>
      </p:sp>
      <p:sp>
        <p:nvSpPr>
          <p:cNvPr id="129" name="Shape 129"/>
          <p:cNvSpPr/>
          <p:nvPr/>
        </p:nvSpPr>
        <p:spPr>
          <a:xfrm>
            <a:off x="3085320" y="3330000"/>
            <a:ext cx="420000" cy="360000"/>
          </a:xfrm>
          <a:prstGeom prst="rect">
            <a:avLst/>
          </a:prstGeom>
          <a:solidFill>
            <a:srgbClr val="FFFFFF"/>
          </a:solidFill>
          <a:ln>
            <a:noFill/>
          </a:ln>
        </p:spPr>
        <p:txBody>
          <a:bodyPr/>
          <a:lstStyle/>
          <a:p>
            <a:endParaRPr lang="es-ES" sz="750">
              <a:latin typeface="EYInterstate Light"/>
            </a:endParaRPr>
          </a:p>
        </p:txBody>
      </p:sp>
      <p:pic>
        <p:nvPicPr>
          <p:cNvPr id="130" name="Icon 130" descr="Mapa"/>
          <p:cNvPicPr>
            <a:picLocks noChangeAspect="1"/>
          </p:cNvPicPr>
          <p:nvPr/>
        </p:nvPicPr>
        <p:blipFill>
          <a:blip r:embed="rId9"/>
          <a:stretch>
            <a:fillRect/>
          </a:stretch>
        </p:blipFill>
        <p:spPr>
          <a:xfrm>
            <a:off x="3145320" y="3360000"/>
            <a:ext cx="300000" cy="300000"/>
          </a:xfrm>
          <a:prstGeom prst="rect">
            <a:avLst/>
          </a:prstGeom>
        </p:spPr>
      </p:pic>
      <p:sp>
        <p:nvSpPr>
          <p:cNvPr id="131" name="Text 131"/>
          <p:cNvSpPr txBox="1"/>
          <p:nvPr/>
        </p:nvSpPr>
        <p:spPr>
          <a:xfrm>
            <a:off x="2560320" y="3840000"/>
            <a:ext cx="1920240" cy="210000"/>
          </a:xfrm>
          <a:prstGeom prst="rect">
            <a:avLst/>
          </a:prstGeom>
          <a:noFill/>
        </p:spPr>
        <p:txBody>
          <a:bodyPr wrap="square" lIns="0" tIns="0" rIns="0" bIns="0" rtlCol="0" anchor="t">
            <a:noAutofit/>
          </a:bodyPr>
          <a:lstStyle/>
          <a:p>
            <a:r>
              <a:rPr lang="es-ES" sz="1200" b="1">
                <a:solidFill>
                  <a:srgbClr val="1A1A24"/>
                </a:solidFill>
                <a:latin typeface="EYInterstate Light"/>
                <a:cs typeface="Arial"/>
              </a:rPr>
              <a:t>Disparidad regional</a:t>
            </a:r>
          </a:p>
        </p:txBody>
      </p:sp>
      <p:sp>
        <p:nvSpPr>
          <p:cNvPr id="132" name="Text 132"/>
          <p:cNvSpPr txBox="1"/>
          <p:nvPr/>
        </p:nvSpPr>
        <p:spPr>
          <a:xfrm>
            <a:off x="2560320" y="4080000"/>
            <a:ext cx="2025000" cy="315000"/>
          </a:xfrm>
          <a:prstGeom prst="rect">
            <a:avLst/>
          </a:prstGeom>
          <a:noFill/>
        </p:spPr>
        <p:txBody>
          <a:bodyPr wrap="square" lIns="0" tIns="0" rIns="0" bIns="0" rtlCol="0" anchor="t">
            <a:noAutofit/>
          </a:bodyPr>
          <a:lstStyle/>
          <a:p>
            <a:r>
              <a:rPr lang="es-ES" sz="900">
                <a:solidFill>
                  <a:srgbClr val="747480"/>
                </a:solidFill>
                <a:latin typeface="EYInterstate Light"/>
                <a:cs typeface="Arial"/>
              </a:rPr>
              <a:t>Gasto por habitante en las 17 CC. AA.</a:t>
            </a:r>
          </a:p>
        </p:txBody>
      </p:sp>
      <p:sp>
        <p:nvSpPr>
          <p:cNvPr id="133" name="Text 133"/>
          <p:cNvSpPr txBox="1"/>
          <p:nvPr/>
        </p:nvSpPr>
        <p:spPr>
          <a:xfrm>
            <a:off x="4663440" y="3315000"/>
            <a:ext cx="390000" cy="390000"/>
          </a:xfrm>
          <a:prstGeom prst="ellipse">
            <a:avLst/>
          </a:prstGeom>
          <a:solidFill>
            <a:srgbClr val="FFE600"/>
          </a:solidFill>
        </p:spPr>
        <p:txBody>
          <a:bodyPr wrap="square" lIns="0" tIns="0" rIns="0" bIns="0" rtlCol="0" anchor="ctr">
            <a:noAutofit/>
          </a:bodyPr>
          <a:lstStyle/>
          <a:p>
            <a:pPr algn="ctr"/>
            <a:r>
              <a:rPr lang="es-ES" sz="1050" b="1">
                <a:solidFill>
                  <a:srgbClr val="1A1A24"/>
                </a:solidFill>
                <a:latin typeface="EYInterstate Light"/>
                <a:cs typeface="Arial"/>
              </a:rPr>
              <a:t>03</a:t>
            </a:r>
          </a:p>
        </p:txBody>
      </p:sp>
      <p:sp>
        <p:nvSpPr>
          <p:cNvPr id="134" name="Shape 134"/>
          <p:cNvSpPr/>
          <p:nvPr/>
        </p:nvSpPr>
        <p:spPr>
          <a:xfrm>
            <a:off x="5188440" y="3330000"/>
            <a:ext cx="420000" cy="360000"/>
          </a:xfrm>
          <a:prstGeom prst="rect">
            <a:avLst/>
          </a:prstGeom>
          <a:solidFill>
            <a:srgbClr val="FFFFFF"/>
          </a:solidFill>
          <a:ln>
            <a:noFill/>
          </a:ln>
        </p:spPr>
        <p:txBody>
          <a:bodyPr/>
          <a:lstStyle/>
          <a:p>
            <a:endParaRPr lang="es-ES" sz="750">
              <a:latin typeface="EYInterstate Light"/>
            </a:endParaRPr>
          </a:p>
        </p:txBody>
      </p:sp>
      <p:pic>
        <p:nvPicPr>
          <p:cNvPr id="135" name="Icon 135" descr="Gráfico circular"/>
          <p:cNvPicPr>
            <a:picLocks noChangeAspect="1"/>
          </p:cNvPicPr>
          <p:nvPr/>
        </p:nvPicPr>
        <p:blipFill>
          <a:blip r:embed="rId10"/>
          <a:stretch>
            <a:fillRect/>
          </a:stretch>
        </p:blipFill>
        <p:spPr>
          <a:xfrm>
            <a:off x="5248440" y="3360000"/>
            <a:ext cx="300000" cy="300000"/>
          </a:xfrm>
          <a:prstGeom prst="rect">
            <a:avLst/>
          </a:prstGeom>
        </p:spPr>
      </p:pic>
      <p:sp>
        <p:nvSpPr>
          <p:cNvPr id="136" name="Text 136"/>
          <p:cNvSpPr txBox="1"/>
          <p:nvPr/>
        </p:nvSpPr>
        <p:spPr>
          <a:xfrm>
            <a:off x="4663440" y="3840000"/>
            <a:ext cx="1920240" cy="210000"/>
          </a:xfrm>
          <a:prstGeom prst="rect">
            <a:avLst/>
          </a:prstGeom>
          <a:noFill/>
        </p:spPr>
        <p:txBody>
          <a:bodyPr wrap="square" lIns="0" tIns="0" rIns="0" bIns="0" rtlCol="0" anchor="t">
            <a:noAutofit/>
          </a:bodyPr>
          <a:lstStyle/>
          <a:p>
            <a:r>
              <a:rPr lang="es-ES" sz="1200" b="1">
                <a:solidFill>
                  <a:srgbClr val="1A1A24"/>
                </a:solidFill>
                <a:latin typeface="EYInterstate Light"/>
                <a:cs typeface="Arial"/>
              </a:rPr>
              <a:t>Asturias vs Cataluña</a:t>
            </a:r>
          </a:p>
        </p:txBody>
      </p:sp>
      <p:sp>
        <p:nvSpPr>
          <p:cNvPr id="137" name="Text 137"/>
          <p:cNvSpPr txBox="1"/>
          <p:nvPr/>
        </p:nvSpPr>
        <p:spPr>
          <a:xfrm>
            <a:off x="4663440" y="4080000"/>
            <a:ext cx="2025000" cy="315000"/>
          </a:xfrm>
          <a:prstGeom prst="rect">
            <a:avLst/>
          </a:prstGeom>
          <a:noFill/>
        </p:spPr>
        <p:txBody>
          <a:bodyPr wrap="square" lIns="0" tIns="0" rIns="0" bIns="0" rtlCol="0" anchor="t">
            <a:noAutofit/>
          </a:bodyPr>
          <a:lstStyle/>
          <a:p>
            <a:r>
              <a:rPr lang="es-ES" sz="900">
                <a:solidFill>
                  <a:srgbClr val="747480"/>
                </a:solidFill>
                <a:latin typeface="EYInterstate Light"/>
                <a:cs typeface="Arial"/>
              </a:rPr>
              <a:t>Tamaño y evolución de la brecha</a:t>
            </a:r>
          </a:p>
        </p:txBody>
      </p:sp>
      <p:sp>
        <p:nvSpPr>
          <p:cNvPr id="138" name="Text 138"/>
          <p:cNvSpPr txBox="1"/>
          <p:nvPr/>
        </p:nvSpPr>
        <p:spPr>
          <a:xfrm>
            <a:off x="6766560" y="3315000"/>
            <a:ext cx="390000" cy="390000"/>
          </a:xfrm>
          <a:prstGeom prst="ellipse">
            <a:avLst/>
          </a:prstGeom>
          <a:solidFill>
            <a:srgbClr val="FFE600"/>
          </a:solidFill>
        </p:spPr>
        <p:txBody>
          <a:bodyPr wrap="square" lIns="0" tIns="0" rIns="0" bIns="0" rtlCol="0" anchor="ctr">
            <a:noAutofit/>
          </a:bodyPr>
          <a:lstStyle/>
          <a:p>
            <a:pPr algn="ctr"/>
            <a:r>
              <a:rPr lang="es-ES" sz="1050" b="1">
                <a:solidFill>
                  <a:srgbClr val="1A1A24"/>
                </a:solidFill>
                <a:latin typeface="EYInterstate Light"/>
                <a:cs typeface="Arial"/>
              </a:rPr>
              <a:t>04</a:t>
            </a:r>
          </a:p>
        </p:txBody>
      </p:sp>
      <p:sp>
        <p:nvSpPr>
          <p:cNvPr id="139" name="Shape 139"/>
          <p:cNvSpPr/>
          <p:nvPr/>
        </p:nvSpPr>
        <p:spPr>
          <a:xfrm>
            <a:off x="7291560" y="3330000"/>
            <a:ext cx="420000" cy="360000"/>
          </a:xfrm>
          <a:prstGeom prst="rect">
            <a:avLst/>
          </a:prstGeom>
          <a:solidFill>
            <a:srgbClr val="FFFFFF"/>
          </a:solidFill>
          <a:ln>
            <a:noFill/>
          </a:ln>
        </p:spPr>
        <p:txBody>
          <a:bodyPr/>
          <a:lstStyle/>
          <a:p>
            <a:endParaRPr lang="es-ES" sz="750">
              <a:latin typeface="EYInterstate Light"/>
            </a:endParaRPr>
          </a:p>
        </p:txBody>
      </p:sp>
      <p:pic>
        <p:nvPicPr>
          <p:cNvPr id="140" name="Icon 140" descr="Medicamentos"/>
          <p:cNvPicPr>
            <a:picLocks noChangeAspect="1"/>
          </p:cNvPicPr>
          <p:nvPr/>
        </p:nvPicPr>
        <p:blipFill>
          <a:blip r:embed="rId11"/>
          <a:stretch>
            <a:fillRect/>
          </a:stretch>
        </p:blipFill>
        <p:spPr>
          <a:xfrm>
            <a:off x="7351560" y="3360000"/>
            <a:ext cx="300000" cy="300000"/>
          </a:xfrm>
          <a:prstGeom prst="rect">
            <a:avLst/>
          </a:prstGeom>
        </p:spPr>
      </p:pic>
      <p:sp>
        <p:nvSpPr>
          <p:cNvPr id="141" name="Text 141"/>
          <p:cNvSpPr txBox="1"/>
          <p:nvPr/>
        </p:nvSpPr>
        <p:spPr>
          <a:xfrm>
            <a:off x="6766560" y="3840000"/>
            <a:ext cx="1920240" cy="210000"/>
          </a:xfrm>
          <a:prstGeom prst="rect">
            <a:avLst/>
          </a:prstGeom>
          <a:noFill/>
        </p:spPr>
        <p:txBody>
          <a:bodyPr wrap="square" lIns="0" tIns="0" rIns="0" bIns="0" rtlCol="0" anchor="t">
            <a:noAutofit/>
          </a:bodyPr>
          <a:lstStyle/>
          <a:p>
            <a:r>
              <a:rPr lang="es-ES" sz="1200" b="1">
                <a:solidFill>
                  <a:srgbClr val="1A1A24"/>
                </a:solidFill>
                <a:latin typeface="EYInterstate Light"/>
                <a:cs typeface="Arial"/>
              </a:rPr>
              <a:t>Origen de la brecha</a:t>
            </a:r>
          </a:p>
        </p:txBody>
      </p:sp>
      <p:sp>
        <p:nvSpPr>
          <p:cNvPr id="142" name="Text 142"/>
          <p:cNvSpPr txBox="1"/>
          <p:nvPr/>
        </p:nvSpPr>
        <p:spPr>
          <a:xfrm>
            <a:off x="6766560" y="4080000"/>
            <a:ext cx="2025000" cy="315000"/>
          </a:xfrm>
          <a:prstGeom prst="rect">
            <a:avLst/>
          </a:prstGeom>
          <a:noFill/>
        </p:spPr>
        <p:txBody>
          <a:bodyPr wrap="square" lIns="0" tIns="0" rIns="0" bIns="0" rtlCol="0" anchor="t">
            <a:noAutofit/>
          </a:bodyPr>
          <a:lstStyle/>
          <a:p>
            <a:r>
              <a:rPr lang="es-ES" sz="900">
                <a:solidFill>
                  <a:srgbClr val="747480"/>
                </a:solidFill>
                <a:latin typeface="EYInterstate Light"/>
                <a:cs typeface="Arial"/>
              </a:rPr>
              <a:t>Recetas, productos sin receta y hospital</a:t>
            </a:r>
          </a:p>
        </p:txBody>
      </p:sp>
      <p:pic>
        <p:nvPicPr>
          <p:cNvPr id="3" name="Picture 2" descr="Página Principal | Formación Consejería de Salud Asturias">
            <a:extLst>
              <a:ext uri="{FF2B5EF4-FFF2-40B4-BE49-F238E27FC236}">
                <a16:creationId xmlns:a16="http://schemas.microsoft.com/office/drawing/2014/main" id="{EF9EEBBD-0D66-A82A-7231-63CD18311121}"/>
              </a:ext>
            </a:extLst>
          </p:cNvPr>
          <p:cNvPicPr>
            <a:picLocks noChangeAspect="1"/>
          </p:cNvPicPr>
          <p:nvPr/>
        </p:nvPicPr>
        <p:blipFill>
          <a:blip r:embed="rId12"/>
          <a:stretch>
            <a:fillRect/>
          </a:stretch>
        </p:blipFill>
        <p:spPr>
          <a:xfrm>
            <a:off x="7712836" y="4843846"/>
            <a:ext cx="856112" cy="222285"/>
          </a:xfrm>
          <a:prstGeom prst="rect">
            <a:avLst/>
          </a:prstGeom>
        </p:spPr>
      </p:pic>
    </p:spTree>
    <p:extLst>
      <p:ext uri="{BB962C8B-B14F-4D97-AF65-F5344CB8AC3E}">
        <p14:creationId xmlns:p14="http://schemas.microsoft.com/office/powerpoint/2010/main" val="1192738229"/>
      </p:ext>
    </p:extLst>
  </p:cSld>
  <p:clrMapOvr>
    <a:masterClrMapping/>
  </p:clrMapOvr>
  <p:extLst>
    <p:ext uri="{6950BFC3-D8DA-4A85-94F7-54DA5524770B}">
      <p188:commentRel xmlns:p188="http://schemas.microsoft.com/office/powerpoint/2018/8/main" r:id="rId4"/>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accent">
            <a:extLst>
              <a:ext uri="{C183D7F6-B498-43B3-948B-1728B52AA6E4}">
                <adec:decorative xmlns:adec="http://schemas.microsoft.com/office/drawing/2017/decorative" val="1"/>
              </a:ext>
            </a:extLst>
          </p:cNvPr>
          <p:cNvSpPr/>
          <p:nvPr/>
        </p:nvSpPr>
        <p:spPr>
          <a:xfrm>
            <a:off x="457200" y="384048"/>
            <a:ext cx="292608" cy="310896"/>
          </a:xfrm>
          <a:prstGeom prst="parallelogram">
            <a:avLst/>
          </a:prstGeom>
          <a:solidFill>
            <a:srgbClr val="FFE600"/>
          </a:solid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800">
              <a:latin typeface="EYInterstate Light"/>
            </a:endParaRPr>
          </a:p>
        </p:txBody>
      </p:sp>
      <p:sp>
        <p:nvSpPr>
          <p:cNvPr id="5" name="Text 3"/>
          <p:cNvSpPr/>
          <p:nvPr/>
        </p:nvSpPr>
        <p:spPr>
          <a:xfrm>
            <a:off x="841248" y="274320"/>
            <a:ext cx="6858000" cy="530352"/>
          </a:xfrm>
          <a:prstGeom prst="rect">
            <a:avLst/>
          </a:prstGeom>
          <a:noFill/>
          <a:ln/>
        </p:spPr>
        <p:txBody>
          <a:bodyPr wrap="square" lIns="0" tIns="0" rIns="0" bIns="0" rtlCol="0" anchor="ct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000" b="1" err="1">
                <a:solidFill>
                  <a:srgbClr val="1A1A24"/>
                </a:solidFill>
                <a:latin typeface="EYInterstate"/>
                <a:ea typeface="Arial" pitchFamily="34" charset="-122"/>
                <a:cs typeface="Arial"/>
              </a:rPr>
              <a:t>Concentración</a:t>
            </a:r>
            <a:r>
              <a:rPr lang="en-US" sz="2000" b="1">
                <a:solidFill>
                  <a:srgbClr val="1A1A24"/>
                </a:solidFill>
                <a:latin typeface="EYInterstate"/>
                <a:ea typeface="Arial" pitchFamily="34" charset="-122"/>
                <a:cs typeface="Arial"/>
              </a:rPr>
              <a:t> del </a:t>
            </a:r>
            <a:r>
              <a:rPr lang="en-US" sz="2000" b="1" err="1">
                <a:solidFill>
                  <a:srgbClr val="1A1A24"/>
                </a:solidFill>
                <a:latin typeface="EYInterstate"/>
                <a:ea typeface="Arial" pitchFamily="34" charset="-122"/>
                <a:cs typeface="Arial"/>
              </a:rPr>
              <a:t>gasto</a:t>
            </a:r>
            <a:r>
              <a:rPr lang="en-US" sz="2000" b="1">
                <a:solidFill>
                  <a:srgbClr val="1A1A24"/>
                </a:solidFill>
                <a:latin typeface="EYInterstate"/>
                <a:ea typeface="Arial" pitchFamily="34" charset="-122"/>
                <a:cs typeface="Arial"/>
              </a:rPr>
              <a:t> </a:t>
            </a:r>
            <a:r>
              <a:rPr lang="en-US" sz="2000" b="1" err="1">
                <a:solidFill>
                  <a:srgbClr val="1A1A24"/>
                </a:solidFill>
                <a:latin typeface="EYInterstate"/>
                <a:ea typeface="Arial" pitchFamily="34" charset="-122"/>
                <a:cs typeface="Arial"/>
              </a:rPr>
              <a:t>farmacéutico</a:t>
            </a:r>
            <a:r>
              <a:rPr lang="en-US" sz="2000" b="1">
                <a:solidFill>
                  <a:srgbClr val="1A1A24"/>
                </a:solidFill>
                <a:latin typeface="EYInterstate"/>
                <a:ea typeface="Arial" pitchFamily="34" charset="-122"/>
                <a:cs typeface="Arial"/>
              </a:rPr>
              <a:t> </a:t>
            </a:r>
            <a:r>
              <a:rPr lang="en-US" sz="2000" b="1" err="1">
                <a:solidFill>
                  <a:srgbClr val="1A1A24"/>
                </a:solidFill>
                <a:latin typeface="EYInterstate"/>
                <a:ea typeface="Arial" pitchFamily="34" charset="-122"/>
                <a:cs typeface="Arial"/>
              </a:rPr>
              <a:t>en</a:t>
            </a:r>
            <a:r>
              <a:rPr lang="en-US" sz="2000" b="1">
                <a:solidFill>
                  <a:srgbClr val="1A1A24"/>
                </a:solidFill>
                <a:latin typeface="EYInterstate"/>
                <a:ea typeface="Arial" pitchFamily="34" charset="-122"/>
                <a:cs typeface="Arial"/>
              </a:rPr>
              <a:t> España</a:t>
            </a:r>
            <a:endParaRPr lang="en-US" sz="2000">
              <a:latin typeface="EYInterstate"/>
              <a:ea typeface="Calibri"/>
              <a:cs typeface="Arial"/>
            </a:endParaRPr>
          </a:p>
        </p:txBody>
      </p:sp>
      <p:sp>
        <p:nvSpPr>
          <p:cNvPr id="6" name="footer rule">
            <a:extLst>
              <a:ext uri="{C183D7F6-B498-43B3-948B-1728B52AA6E4}">
                <adec:decorative xmlns:adec="http://schemas.microsoft.com/office/drawing/2017/decorative" val="1"/>
              </a:ext>
            </a:extLst>
          </p:cNvPr>
          <p:cNvSpPr/>
          <p:nvPr/>
        </p:nvSpPr>
        <p:spPr>
          <a:xfrm>
            <a:off x="457200" y="4773168"/>
            <a:ext cx="8229600" cy="0"/>
          </a:xfrm>
          <a:prstGeom prst="line">
            <a:avLst/>
          </a:prstGeom>
          <a:noFill/>
          <a:ln w="9525">
            <a:solidFill>
              <a:srgbClr val="C4C4CD"/>
            </a:solidFill>
            <a:prstDash val="solid"/>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800">
              <a:latin typeface="EYInterstate Light"/>
            </a:endParaRPr>
          </a:p>
        </p:txBody>
      </p:sp>
      <p:sp>
        <p:nvSpPr>
          <p:cNvPr id="7" name="Text 5"/>
          <p:cNvSpPr/>
          <p:nvPr/>
        </p:nvSpPr>
        <p:spPr>
          <a:xfrm>
            <a:off x="1024465" y="4818888"/>
            <a:ext cx="4572000" cy="228600"/>
          </a:xfrm>
          <a:prstGeom prst="rect">
            <a:avLst/>
          </a:prstGeom>
          <a:noFill/>
          <a:ln/>
        </p:spPr>
        <p:txBody>
          <a:bodyPr wrap="square" lIns="0" tIns="0" rIns="0" bIns="0" rtlCol="0" anchor="ct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800">
                <a:solidFill>
                  <a:srgbClr val="747480"/>
                </a:solidFill>
                <a:latin typeface="EYInterstate Light"/>
                <a:ea typeface="Arial" pitchFamily="34" charset="-122"/>
                <a:cs typeface="Arial" pitchFamily="34" charset="-120"/>
              </a:rPr>
              <a:t>Gasto farmacéutico y sanitario · España</a:t>
            </a:r>
            <a:endParaRPr lang="en-US" sz="800">
              <a:latin typeface="EYInterstate Light"/>
            </a:endParaRPr>
          </a:p>
        </p:txBody>
      </p:sp>
      <p:pic>
        <p:nvPicPr>
          <p:cNvPr id="28" name="Picture 27" descr="EY - European Financial Congress">
            <a:extLst>
              <a:ext uri="{FF2B5EF4-FFF2-40B4-BE49-F238E27FC236}">
                <a16:creationId xmlns:a16="http://schemas.microsoft.com/office/drawing/2014/main" id="{A40F5C3B-F2C5-1D53-0DCF-AB2470AA1E5D}"/>
              </a:ext>
            </a:extLst>
          </p:cNvPr>
          <p:cNvPicPr>
            <a:picLocks noChangeAspect="1"/>
          </p:cNvPicPr>
          <p:nvPr/>
        </p:nvPicPr>
        <p:blipFill>
          <a:blip r:embed="rId2"/>
          <a:srcRect t="1" b="29614"/>
          <a:stretch>
            <a:fillRect/>
          </a:stretch>
        </p:blipFill>
        <p:spPr>
          <a:xfrm>
            <a:off x="8635998" y="4749794"/>
            <a:ext cx="482580" cy="369819"/>
          </a:xfrm>
          <a:prstGeom prst="rect">
            <a:avLst/>
          </a:prstGeom>
        </p:spPr>
      </p:pic>
      <p:sp>
        <p:nvSpPr>
          <p:cNvPr id="29" name="Número de página"/>
          <p:cNvSpPr txBox="1"/>
          <p:nvPr/>
        </p:nvSpPr>
        <p:spPr>
          <a:xfrm>
            <a:off x="457200" y="4818888"/>
            <a:ext cx="548640" cy="228600"/>
          </a:xfrm>
          <a:prstGeom prst="rect">
            <a:avLst/>
          </a:prstGeom>
          <a:noFill/>
        </p:spPr>
        <p:txBody>
          <a:bodyPr wrap="none" lIns="0" tIns="0" rIns="0" bIns="0" anchor="ctr">
            <a:no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s-ES" sz="800">
                <a:solidFill>
                  <a:srgbClr val="747480"/>
                </a:solidFill>
                <a:latin typeface="EYInterstate Light"/>
                <a:cs typeface="Arial"/>
              </a:rPr>
              <a:t>Página 3</a:t>
            </a:r>
          </a:p>
        </p:txBody>
      </p:sp>
      <p:pic>
        <p:nvPicPr>
          <p:cNvPr id="22" name="Picture 21">
            <a:extLst>
              <a:ext uri="{FF2B5EF4-FFF2-40B4-BE49-F238E27FC236}">
                <a16:creationId xmlns:a16="http://schemas.microsoft.com/office/drawing/2014/main" id="{77F738EE-B19C-46F1-1661-016289A3A217}"/>
              </a:ext>
            </a:extLst>
          </p:cNvPr>
          <p:cNvPicPr>
            <a:picLocks noChangeAspect="1"/>
          </p:cNvPicPr>
          <p:nvPr/>
        </p:nvPicPr>
        <p:blipFill>
          <a:blip r:embed="rId3"/>
          <a:stretch>
            <a:fillRect/>
          </a:stretch>
        </p:blipFill>
        <p:spPr>
          <a:xfrm>
            <a:off x="4874767" y="2133601"/>
            <a:ext cx="2183571" cy="2388870"/>
          </a:xfrm>
          <a:prstGeom prst="rect">
            <a:avLst/>
          </a:prstGeom>
        </p:spPr>
      </p:pic>
      <p:graphicFrame>
        <p:nvGraphicFramePr>
          <p:cNvPr id="31" name="Tabla CCAA">
            <a:extLst>
              <a:ext uri="{FF2B5EF4-FFF2-40B4-BE49-F238E27FC236}">
                <a16:creationId xmlns:a16="http://schemas.microsoft.com/office/drawing/2014/main" id="{94666D1C-1681-B633-6CFB-B3A806EE82F9}"/>
              </a:ext>
            </a:extLst>
          </p:cNvPr>
          <p:cNvGraphicFramePr>
            <a:graphicFrameLocks noGrp="1"/>
          </p:cNvGraphicFramePr>
          <p:nvPr/>
        </p:nvGraphicFramePr>
        <p:xfrm>
          <a:off x="458725" y="2133601"/>
          <a:ext cx="4244593" cy="2388870"/>
        </p:xfrm>
        <a:graphic>
          <a:graphicData uri="http://schemas.openxmlformats.org/drawingml/2006/table">
            <a:tbl>
              <a:tblPr/>
              <a:tblGrid>
                <a:gridCol w="1453629">
                  <a:extLst>
                    <a:ext uri="{9D8B030D-6E8A-4147-A177-3AD203B41FA5}">
                      <a16:colId xmlns:a16="http://schemas.microsoft.com/office/drawing/2014/main" val="20000"/>
                    </a:ext>
                  </a:extLst>
                </a:gridCol>
                <a:gridCol w="697741">
                  <a:extLst>
                    <a:ext uri="{9D8B030D-6E8A-4147-A177-3AD203B41FA5}">
                      <a16:colId xmlns:a16="http://schemas.microsoft.com/office/drawing/2014/main" val="20001"/>
                    </a:ext>
                  </a:extLst>
                </a:gridCol>
                <a:gridCol w="697741">
                  <a:extLst>
                    <a:ext uri="{9D8B030D-6E8A-4147-A177-3AD203B41FA5}">
                      <a16:colId xmlns:a16="http://schemas.microsoft.com/office/drawing/2014/main" val="20002"/>
                    </a:ext>
                  </a:extLst>
                </a:gridCol>
                <a:gridCol w="697741">
                  <a:extLst>
                    <a:ext uri="{9D8B030D-6E8A-4147-A177-3AD203B41FA5}">
                      <a16:colId xmlns:a16="http://schemas.microsoft.com/office/drawing/2014/main" val="20003"/>
                    </a:ext>
                  </a:extLst>
                </a:gridCol>
                <a:gridCol w="697741">
                  <a:extLst>
                    <a:ext uri="{9D8B030D-6E8A-4147-A177-3AD203B41FA5}">
                      <a16:colId xmlns:a16="http://schemas.microsoft.com/office/drawing/2014/main" val="20004"/>
                    </a:ext>
                  </a:extLst>
                </a:gridCol>
              </a:tblGrid>
              <a:tr h="125730">
                <a:tc>
                  <a:txBody>
                    <a:bodyPr/>
                    <a:lstStyle/>
                    <a:p>
                      <a:pPr marL="0" indent="0" algn="l">
                        <a:buNone/>
                      </a:pPr>
                      <a:r>
                        <a:rPr lang="en-US" sz="800" b="1">
                          <a:solidFill>
                            <a:schemeClr val="bg1"/>
                          </a:solidFill>
                        </a:rPr>
                        <a:t>Comunidad autónoma</a:t>
                      </a:r>
                      <a:endParaRPr lang="en-US" sz="800"/>
                    </a:p>
                  </a:txBody>
                  <a:tcPr marL="54864" marR="54864" marT="0" marB="0" anchor="ctr">
                    <a:lnL w="0" cap="flat" cmpd="sng" algn="ctr">
                      <a:noFill/>
                    </a:lnL>
                    <a:lnR w="0" cap="flat" cmpd="sng" algn="ctr">
                      <a:noFill/>
                    </a:lnR>
                    <a:lnT w="38100" cap="flat" cmpd="sng" algn="ctr">
                      <a:solidFill>
                        <a:srgbClr val="F7E700"/>
                      </a:solidFill>
                      <a:prstDash val="solid"/>
                      <a:round/>
                      <a:headEnd type="none" w="med" len="med"/>
                      <a:tailEnd type="none" w="med" len="med"/>
                    </a:lnT>
                    <a:lnB w="0" cap="flat" cmpd="sng" algn="ctr">
                      <a:noFill/>
                    </a:lnB>
                    <a:solidFill>
                      <a:schemeClr val="tx2"/>
                    </a:solidFill>
                  </a:tcPr>
                </a:tc>
                <a:tc>
                  <a:txBody>
                    <a:bodyPr/>
                    <a:lstStyle/>
                    <a:p>
                      <a:pPr marL="0" indent="0" algn="r">
                        <a:buNone/>
                      </a:pPr>
                      <a:r>
                        <a:rPr lang="en-US" sz="800" b="1">
                          <a:solidFill>
                            <a:schemeClr val="bg1"/>
                          </a:solidFill>
                        </a:rPr>
                        <a:t>2024</a:t>
                      </a:r>
                      <a:endParaRPr lang="en-US" sz="800"/>
                    </a:p>
                  </a:txBody>
                  <a:tcPr marL="54864" marR="54864" marT="0" marB="0" anchor="ctr">
                    <a:lnL w="0" cap="flat" cmpd="sng" algn="ctr">
                      <a:noFill/>
                    </a:lnL>
                    <a:lnR w="0" cap="flat" cmpd="sng" algn="ctr">
                      <a:noFill/>
                    </a:lnR>
                    <a:lnT w="38100" cap="flat" cmpd="sng" algn="ctr">
                      <a:solidFill>
                        <a:srgbClr val="F7E700"/>
                      </a:solidFill>
                      <a:prstDash val="solid"/>
                      <a:round/>
                      <a:headEnd type="none" w="med" len="med"/>
                      <a:tailEnd type="none" w="med" len="med"/>
                    </a:lnT>
                    <a:lnB w="0" cap="flat" cmpd="sng" algn="ctr">
                      <a:noFill/>
                    </a:lnB>
                    <a:solidFill>
                      <a:schemeClr val="tx2"/>
                    </a:solidFill>
                  </a:tcPr>
                </a:tc>
                <a:tc>
                  <a:txBody>
                    <a:bodyPr/>
                    <a:lstStyle/>
                    <a:p>
                      <a:pPr marL="0" indent="0" algn="r">
                        <a:buNone/>
                      </a:pPr>
                      <a:r>
                        <a:rPr lang="en-US" sz="800" b="1">
                          <a:solidFill>
                            <a:schemeClr val="bg1"/>
                          </a:solidFill>
                        </a:rPr>
                        <a:t>2025</a:t>
                      </a:r>
                      <a:endParaRPr lang="en-US" sz="800"/>
                    </a:p>
                  </a:txBody>
                  <a:tcPr marL="54864" marR="54864" marT="0" marB="0" anchor="ctr">
                    <a:lnL w="0" cap="flat" cmpd="sng" algn="ctr">
                      <a:noFill/>
                    </a:lnL>
                    <a:lnR w="0" cap="flat" cmpd="sng" algn="ctr">
                      <a:noFill/>
                    </a:lnR>
                    <a:lnT w="38100" cap="flat" cmpd="sng" algn="ctr">
                      <a:solidFill>
                        <a:srgbClr val="F7E700"/>
                      </a:solidFill>
                      <a:prstDash val="solid"/>
                      <a:round/>
                      <a:headEnd type="none" w="med" len="med"/>
                      <a:tailEnd type="none" w="med" len="med"/>
                    </a:lnT>
                    <a:lnB w="0" cap="flat" cmpd="sng" algn="ctr">
                      <a:noFill/>
                    </a:lnB>
                    <a:solidFill>
                      <a:schemeClr val="tx2"/>
                    </a:solidFill>
                  </a:tcPr>
                </a:tc>
                <a:tc>
                  <a:txBody>
                    <a:bodyPr/>
                    <a:lstStyle/>
                    <a:p>
                      <a:pPr marL="0" indent="0" algn="r">
                        <a:buNone/>
                      </a:pPr>
                      <a:r>
                        <a:rPr lang="en-US" sz="800" b="1">
                          <a:solidFill>
                            <a:schemeClr val="bg1"/>
                          </a:solidFill>
                        </a:rPr>
                        <a:t>2026</a:t>
                      </a:r>
                      <a:endParaRPr lang="en-US" sz="800"/>
                    </a:p>
                  </a:txBody>
                  <a:tcPr marL="54864" marR="54864" marT="0" marB="0" anchor="ctr">
                    <a:lnL w="0" cap="flat" cmpd="sng" algn="ctr">
                      <a:noFill/>
                    </a:lnL>
                    <a:lnR w="0" cap="flat" cmpd="sng" algn="ctr">
                      <a:noFill/>
                    </a:lnR>
                    <a:lnT w="38100" cap="flat" cmpd="sng" algn="ctr">
                      <a:solidFill>
                        <a:srgbClr val="F7E700"/>
                      </a:solidFill>
                      <a:prstDash val="solid"/>
                      <a:round/>
                      <a:headEnd type="none" w="med" len="med"/>
                      <a:tailEnd type="none" w="med" len="med"/>
                    </a:lnT>
                    <a:lnB w="0" cap="flat" cmpd="sng" algn="ctr">
                      <a:noFill/>
                    </a:lnB>
                    <a:solidFill>
                      <a:schemeClr val="tx2"/>
                    </a:solidFill>
                  </a:tcPr>
                </a:tc>
                <a:tc>
                  <a:txBody>
                    <a:bodyPr/>
                    <a:lstStyle/>
                    <a:p>
                      <a:pPr marL="0" indent="0" algn="r">
                        <a:buNone/>
                      </a:pPr>
                      <a:r>
                        <a:rPr lang="en-US" sz="800" b="1">
                          <a:solidFill>
                            <a:schemeClr val="bg1"/>
                          </a:solidFill>
                        </a:rPr>
                        <a:t>Total</a:t>
                      </a:r>
                      <a:endParaRPr lang="en-US" sz="800"/>
                    </a:p>
                  </a:txBody>
                  <a:tcPr marL="54864" marR="54864" marT="0" marB="0" anchor="ctr">
                    <a:lnL w="0" cap="flat" cmpd="sng" algn="ctr">
                      <a:noFill/>
                    </a:lnL>
                    <a:lnR w="0" cap="flat" cmpd="sng" algn="ctr">
                      <a:noFill/>
                    </a:lnR>
                    <a:lnT w="38100" cap="flat" cmpd="sng" algn="ctr">
                      <a:solidFill>
                        <a:srgbClr val="F7E700"/>
                      </a:solidFill>
                      <a:prstDash val="solid"/>
                      <a:round/>
                      <a:headEnd type="none" w="med" len="med"/>
                      <a:tailEnd type="none" w="med" len="med"/>
                    </a:lnT>
                    <a:lnB w="0" cap="flat" cmpd="sng" algn="ctr">
                      <a:noFill/>
                    </a:lnB>
                    <a:solidFill>
                      <a:schemeClr val="tx2"/>
                    </a:solidFill>
                  </a:tcPr>
                </a:tc>
                <a:extLst>
                  <a:ext uri="{0D108BD9-81ED-4DB2-BD59-A6C34878D82A}">
                    <a16:rowId xmlns:a16="http://schemas.microsoft.com/office/drawing/2014/main" val="10000"/>
                  </a:ext>
                </a:extLst>
              </a:tr>
              <a:tr h="125730">
                <a:tc>
                  <a:txBody>
                    <a:bodyPr/>
                    <a:lstStyle/>
                    <a:p>
                      <a:pPr marL="0" indent="0" algn="l">
                        <a:buNone/>
                      </a:pPr>
                      <a:r>
                        <a:rPr lang="en-US" sz="800">
                          <a:solidFill>
                            <a:schemeClr val="tx1"/>
                          </a:solidFill>
                        </a:rPr>
                        <a:t>Andalucía</a:t>
                      </a:r>
                      <a:endParaRPr lang="en-US" sz="800"/>
                    </a:p>
                  </a:txBody>
                  <a:tcPr marL="54864" marR="54864" marT="0" marB="0" anchor="ctr">
                    <a:lnL w="0" cap="flat" cmpd="sng" algn="ctr">
                      <a:noFill/>
                    </a:lnL>
                    <a:lnR w="0" cap="flat" cmpd="sng" algn="ctr">
                      <a:noFill/>
                    </a:lnR>
                    <a:lnT w="0" cap="flat" cmpd="sng" algn="ctr">
                      <a:noFill/>
                    </a:lnT>
                    <a:lnB w="9525" cap="flat" cmpd="sng" algn="ctr">
                      <a:solidFill>
                        <a:srgbClr val="E1E1E6"/>
                      </a:solidFill>
                      <a:prstDash val="solid"/>
                      <a:round/>
                      <a:headEnd type="none" w="med" len="med"/>
                      <a:tailEnd type="none" w="med" len="med"/>
                    </a:lnB>
                    <a:solidFill>
                      <a:srgbClr val="F7E700"/>
                    </a:solidFill>
                  </a:tcPr>
                </a:tc>
                <a:tc>
                  <a:txBody>
                    <a:bodyPr/>
                    <a:lstStyle/>
                    <a:p>
                      <a:pPr marL="0" indent="0" algn="r">
                        <a:buNone/>
                      </a:pPr>
                      <a:r>
                        <a:rPr lang="en-US" sz="800">
                          <a:solidFill>
                            <a:schemeClr val="tx1"/>
                          </a:solidFill>
                        </a:rPr>
                        <a:t>5.161.872</a:t>
                      </a:r>
                      <a:endParaRPr lang="en-US" sz="800"/>
                    </a:p>
                  </a:txBody>
                  <a:tcPr marL="54864" marR="54864" marT="0" marB="0" anchor="ctr">
                    <a:lnL w="0" cap="flat" cmpd="sng" algn="ctr">
                      <a:noFill/>
                    </a:lnL>
                    <a:lnR w="0" cap="flat" cmpd="sng" algn="ctr">
                      <a:noFill/>
                    </a:lnR>
                    <a:lnT w="0" cap="flat" cmpd="sng" algn="ctr">
                      <a:noFill/>
                    </a:lnT>
                    <a:lnB w="9525" cap="flat" cmpd="sng" algn="ctr">
                      <a:solidFill>
                        <a:srgbClr val="E1E1E6"/>
                      </a:solidFill>
                      <a:prstDash val="solid"/>
                      <a:round/>
                      <a:headEnd type="none" w="med" len="med"/>
                      <a:tailEnd type="none" w="med" len="med"/>
                    </a:lnB>
                    <a:solidFill>
                      <a:srgbClr val="F7E700"/>
                    </a:solidFill>
                  </a:tcPr>
                </a:tc>
                <a:tc>
                  <a:txBody>
                    <a:bodyPr/>
                    <a:lstStyle/>
                    <a:p>
                      <a:pPr marL="0" indent="0" algn="r">
                        <a:buNone/>
                      </a:pPr>
                      <a:r>
                        <a:rPr lang="en-US" sz="800">
                          <a:solidFill>
                            <a:schemeClr val="tx1"/>
                          </a:solidFill>
                        </a:rPr>
                        <a:t>5.335.843</a:t>
                      </a:r>
                      <a:endParaRPr lang="en-US" sz="800"/>
                    </a:p>
                  </a:txBody>
                  <a:tcPr marL="54864" marR="54864" marT="0" marB="0" anchor="ctr">
                    <a:lnL w="0" cap="flat" cmpd="sng" algn="ctr">
                      <a:noFill/>
                    </a:lnL>
                    <a:lnR w="0" cap="flat" cmpd="sng" algn="ctr">
                      <a:noFill/>
                    </a:lnR>
                    <a:lnT w="0" cap="flat" cmpd="sng" algn="ctr">
                      <a:noFill/>
                    </a:lnT>
                    <a:lnB w="9525" cap="flat" cmpd="sng" algn="ctr">
                      <a:solidFill>
                        <a:srgbClr val="E1E1E6"/>
                      </a:solidFill>
                      <a:prstDash val="solid"/>
                      <a:round/>
                      <a:headEnd type="none" w="med" len="med"/>
                      <a:tailEnd type="none" w="med" len="med"/>
                    </a:lnB>
                    <a:solidFill>
                      <a:srgbClr val="F7E700"/>
                    </a:solidFill>
                  </a:tcPr>
                </a:tc>
                <a:tc>
                  <a:txBody>
                    <a:bodyPr/>
                    <a:lstStyle/>
                    <a:p>
                      <a:pPr marL="0" indent="0" algn="r">
                        <a:buNone/>
                      </a:pPr>
                      <a:r>
                        <a:rPr lang="en-US" sz="800">
                          <a:solidFill>
                            <a:schemeClr val="tx1"/>
                          </a:solidFill>
                        </a:rPr>
                        <a:t>3.192.014</a:t>
                      </a:r>
                      <a:endParaRPr lang="en-US" sz="800"/>
                    </a:p>
                  </a:txBody>
                  <a:tcPr marL="54864" marR="54864" marT="0" marB="0" anchor="ctr">
                    <a:lnL w="0" cap="flat" cmpd="sng" algn="ctr">
                      <a:noFill/>
                    </a:lnL>
                    <a:lnR w="0" cap="flat" cmpd="sng" algn="ctr">
                      <a:noFill/>
                    </a:lnR>
                    <a:lnT w="0" cap="flat" cmpd="sng" algn="ctr">
                      <a:noFill/>
                    </a:lnT>
                    <a:lnB w="9525" cap="flat" cmpd="sng" algn="ctr">
                      <a:solidFill>
                        <a:srgbClr val="E1E1E6"/>
                      </a:solidFill>
                      <a:prstDash val="solid"/>
                      <a:round/>
                      <a:headEnd type="none" w="med" len="med"/>
                      <a:tailEnd type="none" w="med" len="med"/>
                    </a:lnB>
                    <a:solidFill>
                      <a:srgbClr val="F7E700"/>
                    </a:solidFill>
                  </a:tcPr>
                </a:tc>
                <a:tc>
                  <a:txBody>
                    <a:bodyPr/>
                    <a:lstStyle/>
                    <a:p>
                      <a:pPr marL="0" indent="0" algn="r">
                        <a:buNone/>
                      </a:pPr>
                      <a:r>
                        <a:rPr lang="en-US" sz="800" b="1">
                          <a:solidFill>
                            <a:schemeClr val="tx1"/>
                          </a:solidFill>
                        </a:rPr>
                        <a:t>13.689.730</a:t>
                      </a:r>
                      <a:endParaRPr lang="en-US" sz="800"/>
                    </a:p>
                  </a:txBody>
                  <a:tcPr marL="54864" marR="54864" marT="0" marB="0" anchor="ctr">
                    <a:lnL w="0" cap="flat" cmpd="sng" algn="ctr">
                      <a:noFill/>
                    </a:lnL>
                    <a:lnR w="0" cap="flat" cmpd="sng" algn="ctr">
                      <a:noFill/>
                    </a:lnR>
                    <a:lnT w="0" cap="flat" cmpd="sng" algn="ctr">
                      <a:noFill/>
                    </a:lnT>
                    <a:lnB w="9525" cap="flat" cmpd="sng" algn="ctr">
                      <a:solidFill>
                        <a:srgbClr val="E1E1E6"/>
                      </a:solidFill>
                      <a:prstDash val="solid"/>
                      <a:round/>
                      <a:headEnd type="none" w="med" len="med"/>
                      <a:tailEnd type="none" w="med" len="med"/>
                    </a:lnB>
                    <a:solidFill>
                      <a:srgbClr val="F7E700"/>
                    </a:solidFill>
                  </a:tcPr>
                </a:tc>
                <a:extLst>
                  <a:ext uri="{0D108BD9-81ED-4DB2-BD59-A6C34878D82A}">
                    <a16:rowId xmlns:a16="http://schemas.microsoft.com/office/drawing/2014/main" val="10001"/>
                  </a:ext>
                </a:extLst>
              </a:tr>
              <a:tr h="125730">
                <a:tc>
                  <a:txBody>
                    <a:bodyPr/>
                    <a:lstStyle/>
                    <a:p>
                      <a:pPr marL="0" indent="0" algn="l">
                        <a:buNone/>
                      </a:pPr>
                      <a:r>
                        <a:rPr lang="en-US" sz="800">
                          <a:solidFill>
                            <a:schemeClr val="tx1"/>
                          </a:solidFill>
                        </a:rPr>
                        <a:t>Aragón</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945.651</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1.009.874</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600.216</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b="1">
                          <a:solidFill>
                            <a:schemeClr val="tx1"/>
                          </a:solidFill>
                        </a:rPr>
                        <a:t>2.555.741</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extLst>
                  <a:ext uri="{0D108BD9-81ED-4DB2-BD59-A6C34878D82A}">
                    <a16:rowId xmlns:a16="http://schemas.microsoft.com/office/drawing/2014/main" val="10002"/>
                  </a:ext>
                </a:extLst>
              </a:tr>
              <a:tr h="125730">
                <a:tc>
                  <a:txBody>
                    <a:bodyPr/>
                    <a:lstStyle/>
                    <a:p>
                      <a:pPr marL="0" indent="0" algn="l">
                        <a:buNone/>
                      </a:pPr>
                      <a:r>
                        <a:rPr lang="en-US" sz="800">
                          <a:solidFill>
                            <a:schemeClr val="tx1"/>
                          </a:solidFill>
                        </a:rPr>
                        <a:t>Asturias</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843.021</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901.252</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533.602</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b="1">
                          <a:solidFill>
                            <a:schemeClr val="tx1"/>
                          </a:solidFill>
                        </a:rPr>
                        <a:t>2.277.875</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extLst>
                  <a:ext uri="{0D108BD9-81ED-4DB2-BD59-A6C34878D82A}">
                    <a16:rowId xmlns:a16="http://schemas.microsoft.com/office/drawing/2014/main" val="10003"/>
                  </a:ext>
                </a:extLst>
              </a:tr>
              <a:tr h="125730">
                <a:tc>
                  <a:txBody>
                    <a:bodyPr/>
                    <a:lstStyle/>
                    <a:p>
                      <a:pPr marL="0" indent="0" algn="l">
                        <a:buNone/>
                      </a:pPr>
                      <a:r>
                        <a:rPr lang="en-US" sz="800">
                          <a:solidFill>
                            <a:schemeClr val="tx1"/>
                          </a:solidFill>
                        </a:rPr>
                        <a:t>C. F. de Navarra</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449.733</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473.664</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289.599</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b="1">
                          <a:solidFill>
                            <a:schemeClr val="tx1"/>
                          </a:solidFill>
                        </a:rPr>
                        <a:t>1.212.996</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extLst>
                  <a:ext uri="{0D108BD9-81ED-4DB2-BD59-A6C34878D82A}">
                    <a16:rowId xmlns:a16="http://schemas.microsoft.com/office/drawing/2014/main" val="10004"/>
                  </a:ext>
                </a:extLst>
              </a:tr>
              <a:tr h="125730">
                <a:tc>
                  <a:txBody>
                    <a:bodyPr/>
                    <a:lstStyle/>
                    <a:p>
                      <a:pPr marL="0" indent="0" algn="l">
                        <a:buNone/>
                      </a:pPr>
                      <a:r>
                        <a:rPr lang="en-US" sz="800">
                          <a:solidFill>
                            <a:schemeClr val="tx1"/>
                          </a:solidFill>
                        </a:rPr>
                        <a:t>C. Valenciana</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rgbClr val="F7E700"/>
                    </a:solidFill>
                  </a:tcPr>
                </a:tc>
                <a:tc>
                  <a:txBody>
                    <a:bodyPr/>
                    <a:lstStyle/>
                    <a:p>
                      <a:pPr marL="0" indent="0" algn="r">
                        <a:buNone/>
                      </a:pPr>
                      <a:r>
                        <a:rPr lang="en-US" sz="800">
                          <a:solidFill>
                            <a:schemeClr val="tx1"/>
                          </a:solidFill>
                        </a:rPr>
                        <a:t>3.758.421</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rgbClr val="F7E700"/>
                    </a:solidFill>
                  </a:tcPr>
                </a:tc>
                <a:tc>
                  <a:txBody>
                    <a:bodyPr/>
                    <a:lstStyle/>
                    <a:p>
                      <a:pPr marL="0" indent="0" algn="r">
                        <a:buNone/>
                      </a:pPr>
                      <a:r>
                        <a:rPr lang="en-US" sz="800">
                          <a:solidFill>
                            <a:schemeClr val="tx1"/>
                          </a:solidFill>
                        </a:rPr>
                        <a:t>3.959.508</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rgbClr val="F7E700"/>
                    </a:solidFill>
                  </a:tcPr>
                </a:tc>
                <a:tc>
                  <a:txBody>
                    <a:bodyPr/>
                    <a:lstStyle/>
                    <a:p>
                      <a:pPr marL="0" indent="0" algn="r">
                        <a:buNone/>
                      </a:pPr>
                      <a:r>
                        <a:rPr lang="en-US" sz="800">
                          <a:solidFill>
                            <a:schemeClr val="tx1"/>
                          </a:solidFill>
                        </a:rPr>
                        <a:t>2.437.512</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rgbClr val="F7E700"/>
                    </a:solidFill>
                  </a:tcPr>
                </a:tc>
                <a:tc>
                  <a:txBody>
                    <a:bodyPr/>
                    <a:lstStyle/>
                    <a:p>
                      <a:pPr marL="0" indent="0" algn="r">
                        <a:buNone/>
                      </a:pPr>
                      <a:r>
                        <a:rPr lang="en-US" sz="800" b="1">
                          <a:solidFill>
                            <a:schemeClr val="tx1"/>
                          </a:solidFill>
                        </a:rPr>
                        <a:t>10.155.441</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rgbClr val="F7E700"/>
                    </a:solidFill>
                  </a:tcPr>
                </a:tc>
                <a:extLst>
                  <a:ext uri="{0D108BD9-81ED-4DB2-BD59-A6C34878D82A}">
                    <a16:rowId xmlns:a16="http://schemas.microsoft.com/office/drawing/2014/main" val="10005"/>
                  </a:ext>
                </a:extLst>
              </a:tr>
              <a:tr h="125730">
                <a:tc>
                  <a:txBody>
                    <a:bodyPr/>
                    <a:lstStyle/>
                    <a:p>
                      <a:pPr marL="0" indent="0" algn="l">
                        <a:buNone/>
                      </a:pPr>
                      <a:r>
                        <a:rPr lang="en-US" sz="800">
                          <a:solidFill>
                            <a:schemeClr val="tx1"/>
                          </a:solidFill>
                        </a:rPr>
                        <a:t>Canarias</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1.522.040</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1.584.605</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971.008</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b="1">
                          <a:solidFill>
                            <a:schemeClr val="tx1"/>
                          </a:solidFill>
                        </a:rPr>
                        <a:t>4.077.653</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extLst>
                  <a:ext uri="{0D108BD9-81ED-4DB2-BD59-A6C34878D82A}">
                    <a16:rowId xmlns:a16="http://schemas.microsoft.com/office/drawing/2014/main" val="10006"/>
                  </a:ext>
                </a:extLst>
              </a:tr>
              <a:tr h="125730">
                <a:tc>
                  <a:txBody>
                    <a:bodyPr/>
                    <a:lstStyle/>
                    <a:p>
                      <a:pPr marL="0" indent="0" algn="l">
                        <a:buNone/>
                      </a:pPr>
                      <a:r>
                        <a:rPr lang="en-US" sz="800">
                          <a:solidFill>
                            <a:schemeClr val="tx1"/>
                          </a:solidFill>
                        </a:rPr>
                        <a:t>Cantabria</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473.747</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510.785</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287.517</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b="1">
                          <a:solidFill>
                            <a:schemeClr val="tx1"/>
                          </a:solidFill>
                        </a:rPr>
                        <a:t>1.272.049</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extLst>
                  <a:ext uri="{0D108BD9-81ED-4DB2-BD59-A6C34878D82A}">
                    <a16:rowId xmlns:a16="http://schemas.microsoft.com/office/drawing/2014/main" val="10007"/>
                  </a:ext>
                </a:extLst>
              </a:tr>
              <a:tr h="125730">
                <a:tc>
                  <a:txBody>
                    <a:bodyPr/>
                    <a:lstStyle/>
                    <a:p>
                      <a:pPr marL="0" indent="0" algn="l">
                        <a:buNone/>
                      </a:pPr>
                      <a:r>
                        <a:rPr lang="en-US" sz="800">
                          <a:solidFill>
                            <a:schemeClr val="tx1"/>
                          </a:solidFill>
                        </a:rPr>
                        <a:t>Castilla y León</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1.875.515</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1.997.385</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1.170.477</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b="1">
                          <a:solidFill>
                            <a:schemeClr val="tx1"/>
                          </a:solidFill>
                        </a:rPr>
                        <a:t>5.043.377</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extLst>
                  <a:ext uri="{0D108BD9-81ED-4DB2-BD59-A6C34878D82A}">
                    <a16:rowId xmlns:a16="http://schemas.microsoft.com/office/drawing/2014/main" val="10008"/>
                  </a:ext>
                </a:extLst>
              </a:tr>
              <a:tr h="125730">
                <a:tc>
                  <a:txBody>
                    <a:bodyPr/>
                    <a:lstStyle/>
                    <a:p>
                      <a:pPr marL="0" indent="0" algn="l">
                        <a:buNone/>
                      </a:pPr>
                      <a:r>
                        <a:rPr lang="en-US" sz="800">
                          <a:solidFill>
                            <a:schemeClr val="tx1"/>
                          </a:solidFill>
                        </a:rPr>
                        <a:t>Castilla-La Mancha</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1.390.490</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1.470.133</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874.871</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b="1">
                          <a:solidFill>
                            <a:schemeClr val="tx1"/>
                          </a:solidFill>
                        </a:rPr>
                        <a:t>3.735.494</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extLst>
                  <a:ext uri="{0D108BD9-81ED-4DB2-BD59-A6C34878D82A}">
                    <a16:rowId xmlns:a16="http://schemas.microsoft.com/office/drawing/2014/main" val="10009"/>
                  </a:ext>
                </a:extLst>
              </a:tr>
              <a:tr h="125730">
                <a:tc>
                  <a:txBody>
                    <a:bodyPr/>
                    <a:lstStyle/>
                    <a:p>
                      <a:pPr marL="0" indent="0" algn="l">
                        <a:buNone/>
                      </a:pPr>
                      <a:r>
                        <a:rPr lang="en-US" sz="800">
                          <a:solidFill>
                            <a:schemeClr val="tx1"/>
                          </a:solidFill>
                        </a:rPr>
                        <a:t>Cataluña</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rgbClr val="F7E700"/>
                    </a:solidFill>
                  </a:tcPr>
                </a:tc>
                <a:tc>
                  <a:txBody>
                    <a:bodyPr/>
                    <a:lstStyle/>
                    <a:p>
                      <a:pPr marL="0" indent="0" algn="r">
                        <a:buNone/>
                      </a:pPr>
                      <a:r>
                        <a:rPr lang="en-US" sz="800">
                          <a:solidFill>
                            <a:schemeClr val="tx1"/>
                          </a:solidFill>
                        </a:rPr>
                        <a:t>4.572.925</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rgbClr val="F7E700"/>
                    </a:solidFill>
                  </a:tcPr>
                </a:tc>
                <a:tc>
                  <a:txBody>
                    <a:bodyPr/>
                    <a:lstStyle/>
                    <a:p>
                      <a:pPr marL="0" indent="0" algn="r">
                        <a:buNone/>
                      </a:pPr>
                      <a:r>
                        <a:rPr lang="en-US" sz="800">
                          <a:solidFill>
                            <a:schemeClr val="tx1"/>
                          </a:solidFill>
                        </a:rPr>
                        <a:t>4.888.967</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rgbClr val="F7E700"/>
                    </a:solidFill>
                  </a:tcPr>
                </a:tc>
                <a:tc>
                  <a:txBody>
                    <a:bodyPr/>
                    <a:lstStyle/>
                    <a:p>
                      <a:pPr marL="0" indent="0" algn="r">
                        <a:buNone/>
                      </a:pPr>
                      <a:r>
                        <a:rPr lang="en-US" sz="800">
                          <a:solidFill>
                            <a:schemeClr val="tx1"/>
                          </a:solidFill>
                        </a:rPr>
                        <a:t>2.933.146</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rgbClr val="F7E700"/>
                    </a:solidFill>
                  </a:tcPr>
                </a:tc>
                <a:tc>
                  <a:txBody>
                    <a:bodyPr/>
                    <a:lstStyle/>
                    <a:p>
                      <a:pPr marL="0" indent="0" algn="r">
                        <a:buNone/>
                      </a:pPr>
                      <a:r>
                        <a:rPr lang="en-US" sz="800" b="1">
                          <a:solidFill>
                            <a:schemeClr val="tx1"/>
                          </a:solidFill>
                        </a:rPr>
                        <a:t>12.395.039</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rgbClr val="F7E700"/>
                    </a:solidFill>
                  </a:tcPr>
                </a:tc>
                <a:extLst>
                  <a:ext uri="{0D108BD9-81ED-4DB2-BD59-A6C34878D82A}">
                    <a16:rowId xmlns:a16="http://schemas.microsoft.com/office/drawing/2014/main" val="10010"/>
                  </a:ext>
                </a:extLst>
              </a:tr>
              <a:tr h="125730">
                <a:tc>
                  <a:txBody>
                    <a:bodyPr/>
                    <a:lstStyle/>
                    <a:p>
                      <a:pPr marL="0" indent="0" algn="l">
                        <a:buNone/>
                      </a:pPr>
                      <a:r>
                        <a:rPr lang="en-US" sz="800">
                          <a:solidFill>
                            <a:schemeClr val="tx1"/>
                          </a:solidFill>
                        </a:rPr>
                        <a:t>Extremadura</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816.132</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858.614</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516.799</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b="1">
                          <a:solidFill>
                            <a:schemeClr val="tx1"/>
                          </a:solidFill>
                        </a:rPr>
                        <a:t>2.191.545</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extLst>
                  <a:ext uri="{0D108BD9-81ED-4DB2-BD59-A6C34878D82A}">
                    <a16:rowId xmlns:a16="http://schemas.microsoft.com/office/drawing/2014/main" val="10011"/>
                  </a:ext>
                </a:extLst>
              </a:tr>
              <a:tr h="125730">
                <a:tc>
                  <a:txBody>
                    <a:bodyPr/>
                    <a:lstStyle/>
                    <a:p>
                      <a:pPr marL="0" indent="0" algn="l">
                        <a:buNone/>
                      </a:pPr>
                      <a:r>
                        <a:rPr lang="en-US" sz="800">
                          <a:solidFill>
                            <a:schemeClr val="tx1"/>
                          </a:solidFill>
                        </a:rPr>
                        <a:t>Galicia</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1.993.766</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2.104.696</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1.271.084</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b="1">
                          <a:solidFill>
                            <a:schemeClr val="tx1"/>
                          </a:solidFill>
                        </a:rPr>
                        <a:t>5.369.546</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extLst>
                  <a:ext uri="{0D108BD9-81ED-4DB2-BD59-A6C34878D82A}">
                    <a16:rowId xmlns:a16="http://schemas.microsoft.com/office/drawing/2014/main" val="10012"/>
                  </a:ext>
                </a:extLst>
              </a:tr>
              <a:tr h="125730">
                <a:tc>
                  <a:txBody>
                    <a:bodyPr/>
                    <a:lstStyle/>
                    <a:p>
                      <a:pPr marL="0" indent="0" algn="l">
                        <a:buNone/>
                      </a:pPr>
                      <a:r>
                        <a:rPr lang="en-US" sz="800">
                          <a:solidFill>
                            <a:schemeClr val="tx1"/>
                          </a:solidFill>
                        </a:rPr>
                        <a:t>Islas Baleares</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726.196</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761.273</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452.933</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b="1">
                          <a:solidFill>
                            <a:schemeClr val="tx1"/>
                          </a:solidFill>
                        </a:rPr>
                        <a:t>1.940.402</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extLst>
                  <a:ext uri="{0D108BD9-81ED-4DB2-BD59-A6C34878D82A}">
                    <a16:rowId xmlns:a16="http://schemas.microsoft.com/office/drawing/2014/main" val="10013"/>
                  </a:ext>
                </a:extLst>
              </a:tr>
              <a:tr h="125730">
                <a:tc>
                  <a:txBody>
                    <a:bodyPr/>
                    <a:lstStyle/>
                    <a:p>
                      <a:pPr marL="0" indent="0" algn="l">
                        <a:buNone/>
                      </a:pPr>
                      <a:r>
                        <a:rPr lang="en-US" sz="800">
                          <a:solidFill>
                            <a:schemeClr val="tx1"/>
                          </a:solidFill>
                        </a:rPr>
                        <a:t>La Rioja</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219.955</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230.464</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137.549</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b="1">
                          <a:solidFill>
                            <a:schemeClr val="tx1"/>
                          </a:solidFill>
                        </a:rPr>
                        <a:t>587.968</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extLst>
                  <a:ext uri="{0D108BD9-81ED-4DB2-BD59-A6C34878D82A}">
                    <a16:rowId xmlns:a16="http://schemas.microsoft.com/office/drawing/2014/main" val="10014"/>
                  </a:ext>
                </a:extLst>
              </a:tr>
              <a:tr h="125730">
                <a:tc>
                  <a:txBody>
                    <a:bodyPr/>
                    <a:lstStyle/>
                    <a:p>
                      <a:pPr marL="0" indent="0" algn="l">
                        <a:buNone/>
                      </a:pPr>
                      <a:r>
                        <a:rPr lang="en-US" sz="800">
                          <a:solidFill>
                            <a:schemeClr val="tx1"/>
                          </a:solidFill>
                        </a:rPr>
                        <a:t>Madrid</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rgbClr val="F7E700"/>
                    </a:solidFill>
                  </a:tcPr>
                </a:tc>
                <a:tc>
                  <a:txBody>
                    <a:bodyPr/>
                    <a:lstStyle/>
                    <a:p>
                      <a:pPr marL="0" indent="0" algn="r">
                        <a:buNone/>
                      </a:pPr>
                      <a:r>
                        <a:rPr lang="en-US" sz="800">
                          <a:solidFill>
                            <a:schemeClr val="tx1"/>
                          </a:solidFill>
                        </a:rPr>
                        <a:t>4.092.565</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rgbClr val="F7E700"/>
                    </a:solidFill>
                  </a:tcPr>
                </a:tc>
                <a:tc>
                  <a:txBody>
                    <a:bodyPr/>
                    <a:lstStyle/>
                    <a:p>
                      <a:pPr marL="0" indent="0" algn="r">
                        <a:buNone/>
                      </a:pPr>
                      <a:r>
                        <a:rPr lang="en-US" sz="800">
                          <a:solidFill>
                            <a:schemeClr val="tx1"/>
                          </a:solidFill>
                        </a:rPr>
                        <a:t>4.336.655</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rgbClr val="F7E700"/>
                    </a:solidFill>
                  </a:tcPr>
                </a:tc>
                <a:tc>
                  <a:txBody>
                    <a:bodyPr/>
                    <a:lstStyle/>
                    <a:p>
                      <a:pPr marL="0" indent="0" algn="r">
                        <a:buNone/>
                      </a:pPr>
                      <a:r>
                        <a:rPr lang="en-US" sz="800">
                          <a:solidFill>
                            <a:schemeClr val="tx1"/>
                          </a:solidFill>
                        </a:rPr>
                        <a:t>2.684.670</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rgbClr val="F7E700"/>
                    </a:solidFill>
                  </a:tcPr>
                </a:tc>
                <a:tc>
                  <a:txBody>
                    <a:bodyPr/>
                    <a:lstStyle/>
                    <a:p>
                      <a:pPr marL="0" indent="0" algn="r">
                        <a:buNone/>
                      </a:pPr>
                      <a:r>
                        <a:rPr lang="en-US" sz="800" b="1">
                          <a:solidFill>
                            <a:schemeClr val="tx1"/>
                          </a:solidFill>
                        </a:rPr>
                        <a:t>11.113.890</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rgbClr val="F7E700"/>
                    </a:solidFill>
                  </a:tcPr>
                </a:tc>
                <a:extLst>
                  <a:ext uri="{0D108BD9-81ED-4DB2-BD59-A6C34878D82A}">
                    <a16:rowId xmlns:a16="http://schemas.microsoft.com/office/drawing/2014/main" val="10015"/>
                  </a:ext>
                </a:extLst>
              </a:tr>
              <a:tr h="125730">
                <a:tc>
                  <a:txBody>
                    <a:bodyPr/>
                    <a:lstStyle/>
                    <a:p>
                      <a:pPr marL="0" indent="0" algn="l">
                        <a:buNone/>
                      </a:pPr>
                      <a:r>
                        <a:rPr lang="en-US" sz="800">
                          <a:solidFill>
                            <a:schemeClr val="tx1"/>
                          </a:solidFill>
                        </a:rPr>
                        <a:t>País Vasco</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1.405.945</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1.504.580</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885.910</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b="1">
                          <a:solidFill>
                            <a:schemeClr val="tx1"/>
                          </a:solidFill>
                        </a:rPr>
                        <a:t>3.796.436</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extLst>
                  <a:ext uri="{0D108BD9-81ED-4DB2-BD59-A6C34878D82A}">
                    <a16:rowId xmlns:a16="http://schemas.microsoft.com/office/drawing/2014/main" val="10016"/>
                  </a:ext>
                </a:extLst>
              </a:tr>
              <a:tr h="125730">
                <a:tc>
                  <a:txBody>
                    <a:bodyPr/>
                    <a:lstStyle/>
                    <a:p>
                      <a:pPr marL="0" indent="0" algn="l">
                        <a:buNone/>
                      </a:pPr>
                      <a:r>
                        <a:rPr lang="en-US" sz="800">
                          <a:solidFill>
                            <a:schemeClr val="tx1"/>
                          </a:solidFill>
                        </a:rPr>
                        <a:t>Región de Murcia</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1.134.126</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1.192.183</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a:solidFill>
                            <a:schemeClr val="tx1"/>
                          </a:solidFill>
                        </a:rPr>
                        <a:t>715.292</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tc>
                  <a:txBody>
                    <a:bodyPr/>
                    <a:lstStyle/>
                    <a:p>
                      <a:pPr marL="0" indent="0" algn="r">
                        <a:buNone/>
                      </a:pPr>
                      <a:r>
                        <a:rPr lang="en-US" sz="800" b="1">
                          <a:solidFill>
                            <a:schemeClr val="tx1"/>
                          </a:solidFill>
                        </a:rPr>
                        <a:t>3.041.601</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tcPr>
                </a:tc>
                <a:extLst>
                  <a:ext uri="{0D108BD9-81ED-4DB2-BD59-A6C34878D82A}">
                    <a16:rowId xmlns:a16="http://schemas.microsoft.com/office/drawing/2014/main" val="10017"/>
                  </a:ext>
                </a:extLst>
              </a:tr>
              <a:tr h="125730">
                <a:tc>
                  <a:txBody>
                    <a:bodyPr/>
                    <a:lstStyle/>
                    <a:p>
                      <a:pPr marL="0" indent="0" algn="l">
                        <a:buNone/>
                      </a:pPr>
                      <a:r>
                        <a:rPr lang="en-US" sz="800" b="1">
                          <a:solidFill>
                            <a:schemeClr val="tx1"/>
                          </a:solidFill>
                        </a:rPr>
                        <a:t>Total</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chemeClr val="bg2"/>
                    </a:solidFill>
                  </a:tcPr>
                </a:tc>
                <a:tc>
                  <a:txBody>
                    <a:bodyPr/>
                    <a:lstStyle/>
                    <a:p>
                      <a:pPr marL="0" indent="0" algn="r">
                        <a:buNone/>
                      </a:pPr>
                      <a:r>
                        <a:rPr lang="en-US" sz="800" b="1">
                          <a:solidFill>
                            <a:schemeClr val="tx1"/>
                          </a:solidFill>
                        </a:rPr>
                        <a:t>31.382.100</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chemeClr val="bg2"/>
                    </a:solidFill>
                  </a:tcPr>
                </a:tc>
                <a:tc>
                  <a:txBody>
                    <a:bodyPr/>
                    <a:lstStyle/>
                    <a:p>
                      <a:pPr marL="0" indent="0" algn="r">
                        <a:buNone/>
                      </a:pPr>
                      <a:r>
                        <a:rPr lang="en-US" sz="800" b="1">
                          <a:solidFill>
                            <a:schemeClr val="tx1"/>
                          </a:solidFill>
                        </a:rPr>
                        <a:t>33.120.483</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chemeClr val="bg2"/>
                    </a:solidFill>
                  </a:tcPr>
                </a:tc>
                <a:tc>
                  <a:txBody>
                    <a:bodyPr/>
                    <a:lstStyle/>
                    <a:p>
                      <a:pPr marL="0" indent="0" algn="r">
                        <a:buNone/>
                      </a:pPr>
                      <a:r>
                        <a:rPr lang="en-US" sz="800" b="1">
                          <a:solidFill>
                            <a:schemeClr val="tx1"/>
                          </a:solidFill>
                        </a:rPr>
                        <a:t>19.954.199</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chemeClr val="bg2"/>
                    </a:solidFill>
                  </a:tcPr>
                </a:tc>
                <a:tc>
                  <a:txBody>
                    <a:bodyPr/>
                    <a:lstStyle/>
                    <a:p>
                      <a:pPr marL="0" indent="0" algn="r">
                        <a:buNone/>
                      </a:pPr>
                      <a:r>
                        <a:rPr lang="en-US" sz="800" b="1">
                          <a:solidFill>
                            <a:schemeClr val="tx1"/>
                          </a:solidFill>
                        </a:rPr>
                        <a:t>84.456.782</a:t>
                      </a:r>
                      <a:endParaRPr lang="en-US" sz="800"/>
                    </a:p>
                  </a:txBody>
                  <a:tcPr marL="54864" marR="54864" marT="0" marB="0" anchor="ctr">
                    <a:lnL w="0" cap="flat" cmpd="sng" algn="ctr">
                      <a:noFill/>
                    </a:lnL>
                    <a:lnR w="0" cap="flat" cmpd="sng" algn="ctr">
                      <a:noFill/>
                    </a:lnR>
                    <a:lnT w="9525" cap="flat" cmpd="sng" algn="ctr">
                      <a:solidFill>
                        <a:srgbClr val="E1E1E6"/>
                      </a:solidFill>
                      <a:prstDash val="solid"/>
                      <a:round/>
                      <a:headEnd type="none" w="med" len="med"/>
                      <a:tailEnd type="none" w="med" len="med"/>
                    </a:lnT>
                    <a:lnB w="9525" cap="flat" cmpd="sng" algn="ctr">
                      <a:solidFill>
                        <a:srgbClr val="E1E1E6"/>
                      </a:solidFill>
                      <a:prstDash val="solid"/>
                      <a:round/>
                      <a:headEnd type="none" w="med" len="med"/>
                      <a:tailEnd type="none" w="med" len="med"/>
                    </a:lnB>
                    <a:solidFill>
                      <a:schemeClr val="bg2"/>
                    </a:solidFill>
                  </a:tcPr>
                </a:tc>
                <a:extLst>
                  <a:ext uri="{0D108BD9-81ED-4DB2-BD59-A6C34878D82A}">
                    <a16:rowId xmlns:a16="http://schemas.microsoft.com/office/drawing/2014/main" val="10018"/>
                  </a:ext>
                </a:extLst>
              </a:tr>
            </a:tbl>
          </a:graphicData>
        </a:graphic>
      </p:graphicFrame>
      <p:sp>
        <p:nvSpPr>
          <p:cNvPr id="40" name="Subtitle"/>
          <p:cNvSpPr/>
          <p:nvPr/>
        </p:nvSpPr>
        <p:spPr>
          <a:xfrm>
            <a:off x="841248" y="777240"/>
            <a:ext cx="6858000" cy="240030"/>
          </a:xfrm>
          <a:prstGeom prst="rect">
            <a:avLst/>
          </a:prstGeom>
          <a:noFill/>
          <a:ln>
            <a:noFill/>
          </a:ln>
        </p:spPr>
        <p:txBody>
          <a:bodyPr wrap="square" lIns="0" tIns="0" rIns="0" bIns="0" anchor="ctr">
            <a:norm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spcBef>
                <a:spcPts val="0"/>
              </a:spcBef>
            </a:pPr>
            <a:r>
              <a:rPr lang="es-ES" sz="1050" b="0" spc="0">
                <a:solidFill>
                  <a:srgbClr val="747480"/>
                </a:solidFill>
                <a:latin typeface="EYInterstate Light"/>
                <a:cs typeface="Arial"/>
              </a:rPr>
              <a:t>Gasto por comunidad autónoma y evolución 2024–2026 (Julio)</a:t>
            </a:r>
          </a:p>
        </p:txBody>
      </p:sp>
      <p:sp>
        <p:nvSpPr>
          <p:cNvPr id="50" name="KPI card"/>
          <p:cNvSpPr/>
          <p:nvPr/>
        </p:nvSpPr>
        <p:spPr>
          <a:xfrm>
            <a:off x="457200" y="1165860"/>
            <a:ext cx="2628900" cy="754380"/>
          </a:xfrm>
          <a:prstGeom prst="rect">
            <a:avLst/>
          </a:prstGeom>
          <a:solidFill>
            <a:srgbClr val="FFFFFF"/>
          </a:solidFill>
          <a:ln w="9525">
            <a:solidFill>
              <a:srgbClr val="C4C4CD"/>
            </a:solid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013">
              <a:latin typeface="EYInterstate Light"/>
            </a:endParaRPr>
          </a:p>
        </p:txBody>
      </p:sp>
      <p:sp>
        <p:nvSpPr>
          <p:cNvPr id="51" name="KPI bar"/>
          <p:cNvSpPr/>
          <p:nvPr/>
        </p:nvSpPr>
        <p:spPr>
          <a:xfrm>
            <a:off x="457200" y="1165860"/>
            <a:ext cx="68580" cy="754380"/>
          </a:xfrm>
          <a:prstGeom prst="rect">
            <a:avLst/>
          </a:prstGeom>
          <a:solidFill>
            <a:srgbClr val="FFE600"/>
          </a:solidFill>
          <a:ln>
            <a:no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013">
              <a:latin typeface="EYInterstate Light"/>
            </a:endParaRPr>
          </a:p>
        </p:txBody>
      </p:sp>
      <p:sp>
        <p:nvSpPr>
          <p:cNvPr id="52" name="KPI text"/>
          <p:cNvSpPr/>
          <p:nvPr/>
        </p:nvSpPr>
        <p:spPr>
          <a:xfrm>
            <a:off x="662940" y="1268730"/>
            <a:ext cx="2320290" cy="548640"/>
          </a:xfrm>
          <a:prstGeom prst="rect">
            <a:avLst/>
          </a:prstGeom>
          <a:noFill/>
          <a:ln>
            <a:noFill/>
          </a:ln>
        </p:spPr>
        <p:txBody>
          <a:bodyPr wrap="square" lIns="0" tIns="0" rIns="0" bIns="0" anchor="ctr">
            <a:norm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spcBef>
                <a:spcPts val="0"/>
              </a:spcBef>
            </a:pPr>
            <a:r>
              <a:rPr lang="es-ES" sz="825" b="1" spc="75">
                <a:solidFill>
                  <a:srgbClr val="747480"/>
                </a:solidFill>
                <a:latin typeface="EYInterstate Light"/>
                <a:cs typeface="Arial"/>
              </a:rPr>
              <a:t>GASTO TOTAL 2024</a:t>
            </a:r>
          </a:p>
          <a:p>
            <a:pPr algn="l">
              <a:spcBef>
                <a:spcPts val="300"/>
              </a:spcBef>
            </a:pPr>
            <a:r>
              <a:rPr lang="es-ES" sz="1950" b="1" spc="0">
                <a:solidFill>
                  <a:srgbClr val="2E2E38"/>
                </a:solidFill>
                <a:latin typeface="EYInterstate Light"/>
                <a:cs typeface="Arial"/>
              </a:rPr>
              <a:t>31.969,1 M€</a:t>
            </a:r>
          </a:p>
        </p:txBody>
      </p:sp>
      <p:sp>
        <p:nvSpPr>
          <p:cNvPr id="53" name="KPI card"/>
          <p:cNvSpPr/>
          <p:nvPr/>
        </p:nvSpPr>
        <p:spPr>
          <a:xfrm>
            <a:off x="3257550" y="1165860"/>
            <a:ext cx="2628900" cy="754380"/>
          </a:xfrm>
          <a:prstGeom prst="rect">
            <a:avLst/>
          </a:prstGeom>
          <a:solidFill>
            <a:srgbClr val="FFFFFF"/>
          </a:solidFill>
          <a:ln w="9525">
            <a:solidFill>
              <a:srgbClr val="C4C4CD"/>
            </a:solid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013">
              <a:latin typeface="EYInterstate Light"/>
            </a:endParaRPr>
          </a:p>
        </p:txBody>
      </p:sp>
      <p:sp>
        <p:nvSpPr>
          <p:cNvPr id="54" name="KPI bar"/>
          <p:cNvSpPr/>
          <p:nvPr/>
        </p:nvSpPr>
        <p:spPr>
          <a:xfrm>
            <a:off x="3257550" y="1165860"/>
            <a:ext cx="68580" cy="754380"/>
          </a:xfrm>
          <a:prstGeom prst="rect">
            <a:avLst/>
          </a:prstGeom>
          <a:solidFill>
            <a:srgbClr val="FFE600"/>
          </a:solidFill>
          <a:ln>
            <a:no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013">
              <a:latin typeface="EYInterstate Light"/>
            </a:endParaRPr>
          </a:p>
        </p:txBody>
      </p:sp>
      <p:sp>
        <p:nvSpPr>
          <p:cNvPr id="55" name="KPI text"/>
          <p:cNvSpPr/>
          <p:nvPr/>
        </p:nvSpPr>
        <p:spPr>
          <a:xfrm>
            <a:off x="3463290" y="1268730"/>
            <a:ext cx="2320290" cy="548640"/>
          </a:xfrm>
          <a:prstGeom prst="rect">
            <a:avLst/>
          </a:prstGeom>
          <a:noFill/>
          <a:ln>
            <a:noFill/>
          </a:ln>
        </p:spPr>
        <p:txBody>
          <a:bodyPr wrap="square" lIns="0" tIns="0" rIns="0" bIns="0" anchor="ctr">
            <a:norm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spcBef>
                <a:spcPts val="0"/>
              </a:spcBef>
            </a:pPr>
            <a:r>
              <a:rPr lang="es-ES" sz="825" b="1" spc="75">
                <a:solidFill>
                  <a:srgbClr val="747480"/>
                </a:solidFill>
                <a:latin typeface="EYInterstate Light"/>
                <a:cs typeface="Arial"/>
              </a:rPr>
              <a:t>GASTO TOTAL 2025</a:t>
            </a:r>
          </a:p>
          <a:p>
            <a:pPr algn="l">
              <a:spcBef>
                <a:spcPts val="300"/>
              </a:spcBef>
            </a:pPr>
            <a:r>
              <a:rPr lang="es-ES" sz="1950" b="1" spc="0">
                <a:solidFill>
                  <a:srgbClr val="2E2E38"/>
                </a:solidFill>
                <a:latin typeface="EYInterstate Light"/>
                <a:cs typeface="Arial"/>
              </a:rPr>
              <a:t>33.739,5 M€</a:t>
            </a:r>
          </a:p>
        </p:txBody>
      </p:sp>
      <p:sp>
        <p:nvSpPr>
          <p:cNvPr id="56" name="KPI card"/>
          <p:cNvSpPr/>
          <p:nvPr/>
        </p:nvSpPr>
        <p:spPr>
          <a:xfrm>
            <a:off x="6057900" y="1165860"/>
            <a:ext cx="2628900" cy="754380"/>
          </a:xfrm>
          <a:prstGeom prst="rect">
            <a:avLst/>
          </a:prstGeom>
          <a:solidFill>
            <a:srgbClr val="FFFFFF"/>
          </a:solidFill>
          <a:ln w="9525">
            <a:solidFill>
              <a:srgbClr val="C4C4CD"/>
            </a:solid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013">
              <a:latin typeface="EYInterstate Light"/>
            </a:endParaRPr>
          </a:p>
        </p:txBody>
      </p:sp>
      <p:sp>
        <p:nvSpPr>
          <p:cNvPr id="57" name="KPI bar"/>
          <p:cNvSpPr/>
          <p:nvPr/>
        </p:nvSpPr>
        <p:spPr>
          <a:xfrm>
            <a:off x="6057900" y="1165860"/>
            <a:ext cx="68580" cy="754380"/>
          </a:xfrm>
          <a:prstGeom prst="rect">
            <a:avLst/>
          </a:prstGeom>
          <a:solidFill>
            <a:srgbClr val="FFE600"/>
          </a:solidFill>
          <a:ln>
            <a:no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013">
              <a:latin typeface="EYInterstate Light"/>
            </a:endParaRPr>
          </a:p>
        </p:txBody>
      </p:sp>
      <p:sp>
        <p:nvSpPr>
          <p:cNvPr id="58" name="KPI text"/>
          <p:cNvSpPr/>
          <p:nvPr/>
        </p:nvSpPr>
        <p:spPr>
          <a:xfrm>
            <a:off x="6263640" y="1268730"/>
            <a:ext cx="2320290" cy="548640"/>
          </a:xfrm>
          <a:prstGeom prst="rect">
            <a:avLst/>
          </a:prstGeom>
          <a:noFill/>
          <a:ln>
            <a:noFill/>
          </a:ln>
        </p:spPr>
        <p:txBody>
          <a:bodyPr wrap="square" lIns="0" tIns="0" rIns="0" bIns="0" anchor="ctr">
            <a:norm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spcBef>
                <a:spcPts val="0"/>
              </a:spcBef>
            </a:pPr>
            <a:r>
              <a:rPr lang="es-ES" sz="825" b="1" spc="75">
                <a:solidFill>
                  <a:srgbClr val="747480"/>
                </a:solidFill>
                <a:latin typeface="EYInterstate Light"/>
                <a:cs typeface="Arial"/>
              </a:rPr>
              <a:t>INCREMENTO PORCENTUAL</a:t>
            </a:r>
          </a:p>
          <a:p>
            <a:pPr algn="l">
              <a:spcBef>
                <a:spcPts val="300"/>
              </a:spcBef>
            </a:pPr>
            <a:r>
              <a:rPr lang="es-ES" sz="1950" b="1" spc="0">
                <a:solidFill>
                  <a:srgbClr val="2E2E38"/>
                </a:solidFill>
                <a:latin typeface="EYInterstate Light"/>
                <a:cs typeface="Arial"/>
              </a:rPr>
              <a:t>+5,5%</a:t>
            </a:r>
            <a:r>
              <a:rPr lang="es-ES" sz="900" b="0" spc="0">
                <a:solidFill>
                  <a:srgbClr val="747480"/>
                </a:solidFill>
                <a:latin typeface="EYInterstate Light"/>
                <a:cs typeface="Arial"/>
              </a:rPr>
              <a:t>  entre 2024 y 2025</a:t>
            </a:r>
          </a:p>
        </p:txBody>
      </p:sp>
      <p:sp>
        <p:nvSpPr>
          <p:cNvPr id="59" name="insights panel"/>
          <p:cNvSpPr/>
          <p:nvPr/>
        </p:nvSpPr>
        <p:spPr>
          <a:xfrm>
            <a:off x="7200900" y="2133601"/>
            <a:ext cx="1485900" cy="2388870"/>
          </a:xfrm>
          <a:prstGeom prst="rect">
            <a:avLst/>
          </a:prstGeom>
          <a:solidFill>
            <a:srgbClr val="1A1A24"/>
          </a:solidFill>
          <a:ln>
            <a:no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013">
              <a:latin typeface="EYInterstate Light"/>
            </a:endParaRPr>
          </a:p>
        </p:txBody>
      </p:sp>
      <p:sp>
        <p:nvSpPr>
          <p:cNvPr id="60" name="insights accent"/>
          <p:cNvSpPr/>
          <p:nvPr/>
        </p:nvSpPr>
        <p:spPr>
          <a:xfrm>
            <a:off x="7200900" y="2133601"/>
            <a:ext cx="1485900" cy="41148"/>
          </a:xfrm>
          <a:prstGeom prst="rect">
            <a:avLst/>
          </a:prstGeom>
          <a:solidFill>
            <a:srgbClr val="FFE600"/>
          </a:solidFill>
          <a:ln>
            <a:no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013">
              <a:latin typeface="EYInterstate Light"/>
            </a:endParaRPr>
          </a:p>
        </p:txBody>
      </p:sp>
      <p:sp>
        <p:nvSpPr>
          <p:cNvPr id="61" name="insights text"/>
          <p:cNvSpPr/>
          <p:nvPr/>
        </p:nvSpPr>
        <p:spPr>
          <a:xfrm>
            <a:off x="7338060" y="2284477"/>
            <a:ext cx="1211580" cy="2114550"/>
          </a:xfrm>
          <a:prstGeom prst="rect">
            <a:avLst/>
          </a:prstGeom>
          <a:noFill/>
          <a:ln>
            <a:noFill/>
          </a:ln>
        </p:spPr>
        <p:txBody>
          <a:bodyPr wrap="square" lIns="0" tIns="0" rIns="0" bIns="0" anchor="t">
            <a:norm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spcBef>
                <a:spcPts val="0"/>
              </a:spcBef>
            </a:pPr>
            <a:r>
              <a:rPr lang="es-ES" sz="825" b="1" spc="75">
                <a:solidFill>
                  <a:srgbClr val="FFE600"/>
                </a:solidFill>
                <a:latin typeface="EYInterstate Light"/>
                <a:cs typeface="Arial"/>
              </a:rPr>
              <a:t>KEY INSIGHT</a:t>
            </a:r>
          </a:p>
          <a:p>
            <a:pPr algn="l">
              <a:spcBef>
                <a:spcPts val="450"/>
              </a:spcBef>
            </a:pPr>
            <a:r>
              <a:rPr lang="es-ES" sz="2700" b="1" spc="0">
                <a:solidFill>
                  <a:srgbClr val="FFE600"/>
                </a:solidFill>
                <a:latin typeface="EYInterstate Light"/>
                <a:cs typeface="Arial"/>
              </a:rPr>
              <a:t>56%</a:t>
            </a:r>
          </a:p>
          <a:p>
            <a:pPr algn="l">
              <a:lnSpc>
                <a:spcPct val="95000"/>
              </a:lnSpc>
              <a:spcBef>
                <a:spcPts val="450"/>
              </a:spcBef>
            </a:pPr>
            <a:r>
              <a:rPr lang="es-ES" sz="800" b="1" spc="0">
                <a:solidFill>
                  <a:schemeClr val="bg1"/>
                </a:solidFill>
                <a:latin typeface="EYInterstate Light"/>
                <a:cs typeface="Arial"/>
              </a:rPr>
              <a:t>Andalucía · Cataluña · Madrid · C. Valenciana</a:t>
            </a:r>
          </a:p>
          <a:p>
            <a:pPr algn="l">
              <a:lnSpc>
                <a:spcPct val="95000"/>
              </a:lnSpc>
              <a:spcBef>
                <a:spcPts val="450"/>
              </a:spcBef>
            </a:pPr>
            <a:endParaRPr lang="es-ES" sz="825" b="1" spc="0">
              <a:solidFill>
                <a:srgbClr val="FFE600"/>
              </a:solidFill>
              <a:latin typeface="EYInterstate Light"/>
              <a:cs typeface="Arial"/>
            </a:endParaRPr>
          </a:p>
          <a:p>
            <a:pPr algn="l">
              <a:spcBef>
                <a:spcPts val="1050"/>
              </a:spcBef>
            </a:pPr>
            <a:r>
              <a:rPr lang="es-ES" sz="750" b="1" spc="75">
                <a:solidFill>
                  <a:srgbClr val="C4C4CD"/>
                </a:solidFill>
                <a:latin typeface="EYInterstate Light"/>
                <a:cs typeface="Arial"/>
              </a:rPr>
              <a:t>LAS 2 MÁS BAJAS</a:t>
            </a:r>
          </a:p>
          <a:p>
            <a:pPr algn="l">
              <a:spcBef>
                <a:spcPts val="225"/>
              </a:spcBef>
            </a:pPr>
            <a:r>
              <a:rPr lang="es-ES" sz="1800" b="1" spc="0">
                <a:solidFill>
                  <a:srgbClr val="FFFFFF"/>
                </a:solidFill>
                <a:latin typeface="EYInterstate Light"/>
                <a:cs typeface="Arial"/>
              </a:rPr>
              <a:t>2%</a:t>
            </a:r>
            <a:r>
              <a:rPr lang="es-ES" sz="900" b="0" spc="0">
                <a:solidFill>
                  <a:srgbClr val="FFFFFF"/>
                </a:solidFill>
                <a:latin typeface="EYInterstate Light"/>
                <a:cs typeface="Arial"/>
              </a:rPr>
              <a:t> del gasto total</a:t>
            </a:r>
          </a:p>
          <a:p>
            <a:pPr algn="l">
              <a:lnSpc>
                <a:spcPct val="95000"/>
              </a:lnSpc>
              <a:spcBef>
                <a:spcPts val="150"/>
              </a:spcBef>
            </a:pPr>
            <a:r>
              <a:rPr lang="es-ES" sz="825" b="1" spc="0">
                <a:solidFill>
                  <a:srgbClr val="FFE600"/>
                </a:solidFill>
                <a:latin typeface="EYInterstate Light"/>
                <a:cs typeface="Arial"/>
              </a:rPr>
              <a:t>La Rioja · Navarra</a:t>
            </a:r>
          </a:p>
        </p:txBody>
      </p:sp>
      <p:pic>
        <p:nvPicPr>
          <p:cNvPr id="3" name="Picture 2" descr="Página Principal | Formación Consejería de Salud Asturias">
            <a:extLst>
              <a:ext uri="{FF2B5EF4-FFF2-40B4-BE49-F238E27FC236}">
                <a16:creationId xmlns:a16="http://schemas.microsoft.com/office/drawing/2014/main" id="{06516FB6-2324-320A-7825-8E783923D5D2}"/>
              </a:ext>
            </a:extLst>
          </p:cNvPr>
          <p:cNvPicPr>
            <a:picLocks noChangeAspect="1"/>
          </p:cNvPicPr>
          <p:nvPr/>
        </p:nvPicPr>
        <p:blipFill>
          <a:blip r:embed="rId4"/>
          <a:stretch>
            <a:fillRect/>
          </a:stretch>
        </p:blipFill>
        <p:spPr>
          <a:xfrm>
            <a:off x="7712836" y="4843846"/>
            <a:ext cx="856112" cy="222285"/>
          </a:xfrm>
          <a:prstGeom prst="rect">
            <a:avLst/>
          </a:prstGeom>
        </p:spPr>
      </p:pic>
    </p:spTree>
    <p:extLst>
      <p:ext uri="{BB962C8B-B14F-4D97-AF65-F5344CB8AC3E}">
        <p14:creationId xmlns:p14="http://schemas.microsoft.com/office/powerpoint/2010/main" val="3084452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 name="title accent">
            <a:extLst>
              <a:ext uri="{C183D7F6-B498-43B3-948B-1728B52AA6E4}">
                <adec:decorative xmlns:adec="http://schemas.microsoft.com/office/drawing/2017/decorative" val="1"/>
              </a:ext>
            </a:extLst>
          </p:cNvPr>
          <p:cNvSpPr/>
          <p:nvPr/>
        </p:nvSpPr>
        <p:spPr>
          <a:xfrm>
            <a:off x="457200" y="384048"/>
            <a:ext cx="292608" cy="310896"/>
          </a:xfrm>
          <a:prstGeom prst="parallelogram">
            <a:avLst/>
          </a:prstGeom>
          <a:solidFill>
            <a:srgbClr val="FFE600"/>
          </a:solidFill>
          <a:ln/>
        </p:spPr>
        <p:txBody>
          <a:bodyPr/>
          <a:lstStyle/>
          <a:p>
            <a:endParaRPr lang="es-ES">
              <a:latin typeface="EYInterstate Light"/>
            </a:endParaRPr>
          </a:p>
        </p:txBody>
      </p:sp>
      <p:sp>
        <p:nvSpPr>
          <p:cNvPr id="5" name="Text 3"/>
          <p:cNvSpPr/>
          <p:nvPr/>
        </p:nvSpPr>
        <p:spPr>
          <a:xfrm>
            <a:off x="841248" y="274320"/>
            <a:ext cx="6858000" cy="530352"/>
          </a:xfrm>
          <a:prstGeom prst="rect">
            <a:avLst/>
          </a:prstGeom>
          <a:noFill/>
          <a:ln/>
        </p:spPr>
        <p:txBody>
          <a:bodyPr wrap="square" lIns="0" tIns="0" rIns="0" bIns="0" rtlCol="0" anchor="ctr"/>
          <a:lstStyle/>
          <a:p>
            <a:pPr marL="0" indent="0">
              <a:buNone/>
            </a:pPr>
            <a:r>
              <a:rPr lang="en-US" sz="2000" b="1">
                <a:solidFill>
                  <a:srgbClr val="1A1A24"/>
                </a:solidFill>
                <a:latin typeface="EYInterstate"/>
                <a:ea typeface="Arial" pitchFamily="34" charset="-122"/>
                <a:cs typeface="Arial"/>
              </a:rPr>
              <a:t>Asturias </a:t>
            </a:r>
            <a:r>
              <a:rPr lang="en-US" sz="2000" b="1" err="1">
                <a:solidFill>
                  <a:srgbClr val="1A1A24"/>
                </a:solidFill>
                <a:latin typeface="EYInterstate"/>
                <a:ea typeface="Arial" pitchFamily="34" charset="-122"/>
                <a:cs typeface="Arial"/>
              </a:rPr>
              <a:t>lidera</a:t>
            </a:r>
            <a:r>
              <a:rPr lang="en-US" sz="2000" b="1">
                <a:solidFill>
                  <a:srgbClr val="1A1A24"/>
                </a:solidFill>
                <a:latin typeface="EYInterstate"/>
                <a:ea typeface="Arial" pitchFamily="34" charset="-122"/>
                <a:cs typeface="Arial"/>
              </a:rPr>
              <a:t> y Cataluña </a:t>
            </a:r>
            <a:r>
              <a:rPr lang="en-US" sz="2000" b="1" err="1">
                <a:solidFill>
                  <a:srgbClr val="1A1A24"/>
                </a:solidFill>
                <a:latin typeface="EYInterstate"/>
                <a:ea typeface="Arial" pitchFamily="34" charset="-122"/>
                <a:cs typeface="Arial"/>
              </a:rPr>
              <a:t>cierra</a:t>
            </a:r>
            <a:r>
              <a:rPr lang="en-US" sz="2000" b="1">
                <a:solidFill>
                  <a:srgbClr val="1A1A24"/>
                </a:solidFill>
                <a:latin typeface="EYInterstate"/>
                <a:ea typeface="Arial" pitchFamily="34" charset="-122"/>
                <a:cs typeface="Arial"/>
              </a:rPr>
              <a:t> el ranking</a:t>
            </a:r>
            <a:endParaRPr lang="en-US" sz="2000">
              <a:latin typeface="EYInterstate"/>
              <a:ea typeface="Calibri"/>
              <a:cs typeface="Arial"/>
            </a:endParaRPr>
          </a:p>
        </p:txBody>
      </p:sp>
      <p:sp>
        <p:nvSpPr>
          <p:cNvPr id="6" name="footer rule">
            <a:extLst>
              <a:ext uri="{C183D7F6-B498-43B3-948B-1728B52AA6E4}">
                <adec:decorative xmlns:adec="http://schemas.microsoft.com/office/drawing/2017/decorative" val="1"/>
              </a:ext>
            </a:extLst>
          </p:cNvPr>
          <p:cNvSpPr/>
          <p:nvPr/>
        </p:nvSpPr>
        <p:spPr>
          <a:xfrm>
            <a:off x="457200" y="4773168"/>
            <a:ext cx="8229600" cy="0"/>
          </a:xfrm>
          <a:prstGeom prst="line">
            <a:avLst/>
          </a:prstGeom>
          <a:noFill/>
          <a:ln w="9525">
            <a:solidFill>
              <a:srgbClr val="C4C4CD"/>
            </a:solidFill>
            <a:prstDash val="solid"/>
          </a:ln>
        </p:spPr>
        <p:txBody>
          <a:bodyPr/>
          <a:lstStyle/>
          <a:p>
            <a:endParaRPr lang="es-ES">
              <a:latin typeface="EYInterstate Light"/>
            </a:endParaRPr>
          </a:p>
        </p:txBody>
      </p:sp>
      <p:sp>
        <p:nvSpPr>
          <p:cNvPr id="7" name="Text 5"/>
          <p:cNvSpPr/>
          <p:nvPr/>
        </p:nvSpPr>
        <p:spPr>
          <a:xfrm>
            <a:off x="1024465" y="4818888"/>
            <a:ext cx="4572000" cy="228600"/>
          </a:xfrm>
          <a:prstGeom prst="rect">
            <a:avLst/>
          </a:prstGeom>
          <a:noFill/>
          <a:ln/>
        </p:spPr>
        <p:txBody>
          <a:bodyPr wrap="square" lIns="0" tIns="0" rIns="0" bIns="0" rtlCol="0" anchor="ctr"/>
          <a:lstStyle/>
          <a:p>
            <a:pPr marL="0" indent="0">
              <a:buNone/>
            </a:pPr>
            <a:r>
              <a:rPr lang="en-US" sz="800">
                <a:solidFill>
                  <a:srgbClr val="747480"/>
                </a:solidFill>
                <a:latin typeface="EYInterstate Light"/>
                <a:ea typeface="Arial" pitchFamily="34" charset="-122"/>
                <a:cs typeface="Arial" pitchFamily="34" charset="-120"/>
              </a:rPr>
              <a:t>Gasto farmacéutico y sanitario · España</a:t>
            </a:r>
            <a:endParaRPr lang="en-US" sz="800">
              <a:latin typeface="EYInterstate Light"/>
            </a:endParaRPr>
          </a:p>
        </p:txBody>
      </p:sp>
      <p:sp>
        <p:nvSpPr>
          <p:cNvPr id="18" name="insights bar">
            <a:extLst>
              <a:ext uri="{C183D7F6-B498-43B3-948B-1728B52AA6E4}">
                <adec:decorative xmlns:adec="http://schemas.microsoft.com/office/drawing/2017/decorative" val="1"/>
              </a:ext>
            </a:extLst>
          </p:cNvPr>
          <p:cNvSpPr/>
          <p:nvPr/>
        </p:nvSpPr>
        <p:spPr>
          <a:xfrm>
            <a:off x="5623560" y="3611880"/>
            <a:ext cx="54864" cy="1024128"/>
          </a:xfrm>
          <a:prstGeom prst="rect">
            <a:avLst/>
          </a:prstGeom>
          <a:solidFill>
            <a:srgbClr val="FFE600"/>
          </a:solidFill>
          <a:ln/>
        </p:spPr>
        <p:txBody>
          <a:bodyPr/>
          <a:lstStyle/>
          <a:p>
            <a:endParaRPr lang="es-ES">
              <a:latin typeface="EYInterstate Light"/>
            </a:endParaRPr>
          </a:p>
        </p:txBody>
      </p:sp>
      <p:grpSp>
        <p:nvGrpSpPr>
          <p:cNvPr id="9" name="Group 8">
            <a:extLst>
              <a:ext uri="{FF2B5EF4-FFF2-40B4-BE49-F238E27FC236}">
                <a16:creationId xmlns:a16="http://schemas.microsoft.com/office/drawing/2014/main" id="{687F4A85-411D-8A71-600D-0EBBAE88A6A4}"/>
              </a:ext>
            </a:extLst>
          </p:cNvPr>
          <p:cNvGrpSpPr/>
          <p:nvPr/>
        </p:nvGrpSpPr>
        <p:grpSpPr>
          <a:xfrm>
            <a:off x="5623560" y="2734301"/>
            <a:ext cx="3063240" cy="777240"/>
            <a:chOff x="5623560" y="2697480"/>
            <a:chExt cx="3063240" cy="777240"/>
          </a:xfrm>
        </p:grpSpPr>
        <p:sp>
          <p:nvSpPr>
            <p:cNvPr id="13" name="highlight card">
              <a:extLst>
                <a:ext uri="{C183D7F6-B498-43B3-948B-1728B52AA6E4}">
                  <adec:decorative xmlns:adec="http://schemas.microsoft.com/office/drawing/2017/decorative" val="1"/>
                </a:ext>
              </a:extLst>
            </p:cNvPr>
            <p:cNvSpPr/>
            <p:nvPr/>
          </p:nvSpPr>
          <p:spPr>
            <a:xfrm>
              <a:off x="5623560" y="2697480"/>
              <a:ext cx="3063240" cy="777240"/>
            </a:xfrm>
            <a:prstGeom prst="rect">
              <a:avLst/>
            </a:prstGeom>
            <a:solidFill>
              <a:srgbClr val="FFFFFF"/>
            </a:solidFill>
            <a:ln w="9525">
              <a:solidFill>
                <a:srgbClr val="C4C4CD"/>
              </a:solidFill>
              <a:prstDash val="solid"/>
            </a:ln>
          </p:spPr>
          <p:txBody>
            <a:bodyPr/>
            <a:lstStyle/>
            <a:p>
              <a:endParaRPr lang="es-ES">
                <a:latin typeface="EYInterstate Light"/>
              </a:endParaRPr>
            </a:p>
          </p:txBody>
        </p:sp>
        <p:sp>
          <p:nvSpPr>
            <p:cNvPr id="14" name="bar">
              <a:extLst>
                <a:ext uri="{C183D7F6-B498-43B3-948B-1728B52AA6E4}">
                  <adec:decorative xmlns:adec="http://schemas.microsoft.com/office/drawing/2017/decorative" val="1"/>
                </a:ext>
              </a:extLst>
            </p:cNvPr>
            <p:cNvSpPr/>
            <p:nvPr/>
          </p:nvSpPr>
          <p:spPr>
            <a:xfrm>
              <a:off x="5623560" y="2697480"/>
              <a:ext cx="54864" cy="777240"/>
            </a:xfrm>
            <a:prstGeom prst="rect">
              <a:avLst/>
            </a:prstGeom>
            <a:solidFill>
              <a:srgbClr val="FFE600"/>
            </a:solidFill>
            <a:ln/>
          </p:spPr>
          <p:txBody>
            <a:bodyPr/>
            <a:lstStyle/>
            <a:p>
              <a:endParaRPr lang="es-ES">
                <a:latin typeface="EYInterstate Light"/>
              </a:endParaRPr>
            </a:p>
          </p:txBody>
        </p:sp>
        <p:pic>
          <p:nvPicPr>
            <p:cNvPr id="15" name="Image 0" descr="/agent/turn1/workspace/icons/map.png"/>
            <p:cNvPicPr>
              <a:picLocks noChangeAspect="1"/>
            </p:cNvPicPr>
            <p:nvPr/>
          </p:nvPicPr>
          <p:blipFill>
            <a:blip r:embed="rId4"/>
            <a:stretch>
              <a:fillRect/>
            </a:stretch>
          </p:blipFill>
          <p:spPr>
            <a:xfrm>
              <a:off x="5806440" y="2834640"/>
              <a:ext cx="475488" cy="475488"/>
            </a:xfrm>
            <a:prstGeom prst="rect">
              <a:avLst/>
            </a:prstGeom>
          </p:spPr>
        </p:pic>
        <p:sp>
          <p:nvSpPr>
            <p:cNvPr id="16" name="Text 13"/>
            <p:cNvSpPr/>
            <p:nvPr/>
          </p:nvSpPr>
          <p:spPr>
            <a:xfrm>
              <a:off x="6400800" y="2743200"/>
              <a:ext cx="2194560" cy="685800"/>
            </a:xfrm>
            <a:prstGeom prst="rect">
              <a:avLst/>
            </a:prstGeom>
            <a:noFill/>
            <a:ln/>
          </p:spPr>
          <p:txBody>
            <a:bodyPr wrap="square" lIns="0" tIns="0" rIns="0" bIns="0" rtlCol="0" anchor="ctr"/>
            <a:lstStyle/>
            <a:p>
              <a:pPr marL="0" indent="0">
                <a:buNone/>
              </a:pPr>
              <a:r>
                <a:rPr lang="en-US" sz="800" b="1" kern="0" spc="200">
                  <a:solidFill>
                    <a:srgbClr val="747480"/>
                  </a:solidFill>
                  <a:latin typeface="EYInterstate Light"/>
                  <a:ea typeface="Arial" pitchFamily="34" charset="-122"/>
                  <a:cs typeface="Arial" pitchFamily="34" charset="-120"/>
                </a:rPr>
                <a:t>RESULTADO DESTACADO</a:t>
              </a:r>
              <a:endParaRPr lang="en-US" sz="800">
                <a:latin typeface="EYInterstate Light"/>
              </a:endParaRPr>
            </a:p>
            <a:p>
              <a:pPr marL="0" indent="0">
                <a:buNone/>
              </a:pPr>
              <a:r>
                <a:rPr lang="en-US" sz="1100" b="1">
                  <a:solidFill>
                    <a:srgbClr val="2E2E38"/>
                  </a:solidFill>
                  <a:latin typeface="EYInterstate Light"/>
                  <a:ea typeface="Arial" pitchFamily="34" charset="-122"/>
                  <a:cs typeface="Arial" pitchFamily="34" charset="-120"/>
                </a:rPr>
                <a:t>Asturias 1.ª y Cataluña 17.ª </a:t>
              </a:r>
              <a:r>
                <a:rPr lang="en-US" sz="1100" b="1" err="1">
                  <a:solidFill>
                    <a:srgbClr val="2E2E38"/>
                  </a:solidFill>
                  <a:latin typeface="EYInterstate Light"/>
                  <a:ea typeface="Arial" pitchFamily="34" charset="-122"/>
                  <a:cs typeface="Arial" pitchFamily="34" charset="-120"/>
                </a:rPr>
                <a:t>en</a:t>
              </a:r>
              <a:r>
                <a:rPr lang="en-US" sz="1100" b="1">
                  <a:solidFill>
                    <a:srgbClr val="2E2E38"/>
                  </a:solidFill>
                  <a:latin typeface="EYInterstate Light"/>
                  <a:ea typeface="Arial" pitchFamily="34" charset="-122"/>
                  <a:cs typeface="Arial" pitchFamily="34" charset="-120"/>
                </a:rPr>
                <a:t> 2024 y 2025</a:t>
              </a:r>
              <a:endParaRPr lang="en-US" sz="800">
                <a:latin typeface="EYInterstate Light"/>
              </a:endParaRPr>
            </a:p>
          </p:txBody>
        </p:sp>
      </p:grpSp>
      <p:grpSp>
        <p:nvGrpSpPr>
          <p:cNvPr id="21" name="Group 20">
            <a:extLst>
              <a:ext uri="{FF2B5EF4-FFF2-40B4-BE49-F238E27FC236}">
                <a16:creationId xmlns:a16="http://schemas.microsoft.com/office/drawing/2014/main" id="{8BAC06FF-7F56-5232-39D5-9A931992A501}"/>
              </a:ext>
            </a:extLst>
          </p:cNvPr>
          <p:cNvGrpSpPr/>
          <p:nvPr/>
        </p:nvGrpSpPr>
        <p:grpSpPr>
          <a:xfrm>
            <a:off x="5623560" y="3611880"/>
            <a:ext cx="3063240" cy="1024128"/>
            <a:chOff x="5623560" y="3611880"/>
            <a:chExt cx="3063240" cy="1024128"/>
          </a:xfrm>
        </p:grpSpPr>
        <p:sp>
          <p:nvSpPr>
            <p:cNvPr id="17" name="insights panel">
              <a:extLst>
                <a:ext uri="{C183D7F6-B498-43B3-948B-1728B52AA6E4}">
                  <adec:decorative xmlns:adec="http://schemas.microsoft.com/office/drawing/2017/decorative" val="1"/>
                </a:ext>
              </a:extLst>
            </p:cNvPr>
            <p:cNvSpPr/>
            <p:nvPr/>
          </p:nvSpPr>
          <p:spPr>
            <a:xfrm>
              <a:off x="5623560" y="3611880"/>
              <a:ext cx="3063240" cy="1024128"/>
            </a:xfrm>
            <a:prstGeom prst="rect">
              <a:avLst/>
            </a:prstGeom>
            <a:solidFill>
              <a:srgbClr val="1A1A24"/>
            </a:solidFill>
            <a:ln/>
          </p:spPr>
          <p:txBody>
            <a:bodyPr/>
            <a:lstStyle/>
            <a:p>
              <a:endParaRPr lang="es-ES">
                <a:latin typeface="EYInterstate Light"/>
              </a:endParaRPr>
            </a:p>
          </p:txBody>
        </p:sp>
        <p:sp>
          <p:nvSpPr>
            <p:cNvPr id="19" name="Text 16"/>
            <p:cNvSpPr/>
            <p:nvPr/>
          </p:nvSpPr>
          <p:spPr>
            <a:xfrm>
              <a:off x="5824728" y="3721608"/>
              <a:ext cx="2743200" cy="256032"/>
            </a:xfrm>
            <a:prstGeom prst="rect">
              <a:avLst/>
            </a:prstGeom>
            <a:noFill/>
            <a:ln/>
          </p:spPr>
          <p:txBody>
            <a:bodyPr wrap="square" lIns="0" tIns="0" rIns="0" bIns="0" rtlCol="0" anchor="ctr"/>
            <a:lstStyle/>
            <a:p>
              <a:pPr marL="0" indent="0">
                <a:buNone/>
              </a:pPr>
              <a:r>
                <a:rPr lang="en-US" sz="1000" b="1" kern="0" spc="200">
                  <a:solidFill>
                    <a:srgbClr val="FFE600"/>
                  </a:solidFill>
                  <a:latin typeface="EYInterstate Light"/>
                  <a:ea typeface="Arial" pitchFamily="34" charset="-122"/>
                  <a:cs typeface="Arial" pitchFamily="34" charset="-120"/>
                </a:rPr>
                <a:t>KEY INSIGHTS</a:t>
              </a:r>
              <a:endParaRPr lang="en-US" sz="1000">
                <a:latin typeface="EYInterstate Light"/>
              </a:endParaRPr>
            </a:p>
          </p:txBody>
        </p:sp>
        <p:sp>
          <p:nvSpPr>
            <p:cNvPr id="20" name="Text 17"/>
            <p:cNvSpPr/>
            <p:nvPr/>
          </p:nvSpPr>
          <p:spPr>
            <a:xfrm>
              <a:off x="5824728" y="4023360"/>
              <a:ext cx="2743200" cy="521208"/>
            </a:xfrm>
            <a:prstGeom prst="rect">
              <a:avLst/>
            </a:prstGeom>
            <a:noFill/>
            <a:ln/>
          </p:spPr>
          <p:txBody>
            <a:bodyPr wrap="square" lIns="0" tIns="0" rIns="0" bIns="0" rtlCol="0" anchor="t"/>
            <a:lstStyle/>
            <a:p>
              <a:pPr marL="342900" indent="-342900">
                <a:spcAft>
                  <a:spcPts val="600"/>
                </a:spcAft>
                <a:buSzPct val="100000"/>
                <a:buChar char="•"/>
              </a:pPr>
              <a:r>
                <a:rPr lang="es-ES" sz="900" i="1">
                  <a:solidFill>
                    <a:srgbClr val="D6D6DC"/>
                  </a:solidFill>
                  <a:latin typeface="EYInterstate Light"/>
                  <a:ea typeface="Arial" pitchFamily="34" charset="-122"/>
                  <a:cs typeface="Arial" pitchFamily="34" charset="-120"/>
                </a:rPr>
                <a:t>Asturias: 835 €/hab. (2024) y 888 €/hab. (2025); Cataluña: 571 y 602 €/hab.</a:t>
              </a:r>
              <a:endParaRPr lang="en-US" sz="1000">
                <a:latin typeface="EYInterstate Light"/>
              </a:endParaRPr>
            </a:p>
            <a:p>
              <a:pPr marL="342900" indent="-342900">
                <a:spcAft>
                  <a:spcPts val="600"/>
                </a:spcAft>
                <a:buSzPct val="100000"/>
                <a:buChar char="•"/>
              </a:pPr>
              <a:r>
                <a:rPr lang="es-ES" sz="900" i="1">
                  <a:solidFill>
                    <a:srgbClr val="D6D6DC"/>
                  </a:solidFill>
                  <a:latin typeface="EYInterstate Light"/>
                  <a:ea typeface="Arial" pitchFamily="34" charset="-122"/>
                  <a:cs typeface="Arial" pitchFamily="34" charset="-120"/>
                </a:rPr>
                <a:t>Patrón persistente, no un resultado aislado</a:t>
              </a:r>
              <a:endParaRPr lang="en-US" sz="1000">
                <a:latin typeface="EYInterstate Light"/>
              </a:endParaRPr>
            </a:p>
          </p:txBody>
        </p:sp>
      </p:grpSp>
      <p:pic>
        <p:nvPicPr>
          <p:cNvPr id="22" name="Picture 21" descr="EY - European Financial Congress">
            <a:extLst>
              <a:ext uri="{FF2B5EF4-FFF2-40B4-BE49-F238E27FC236}">
                <a16:creationId xmlns:a16="http://schemas.microsoft.com/office/drawing/2014/main" id="{E4C948AA-6D64-6EBA-2017-D0A2DBF5D503}"/>
              </a:ext>
            </a:extLst>
          </p:cNvPr>
          <p:cNvPicPr>
            <a:picLocks noChangeAspect="1"/>
          </p:cNvPicPr>
          <p:nvPr/>
        </p:nvPicPr>
        <p:blipFill>
          <a:blip r:embed="rId5"/>
          <a:srcRect t="1" b="29614"/>
          <a:stretch>
            <a:fillRect/>
          </a:stretch>
        </p:blipFill>
        <p:spPr>
          <a:xfrm>
            <a:off x="8635998" y="4749793"/>
            <a:ext cx="482580" cy="369819"/>
          </a:xfrm>
          <a:prstGeom prst="rect">
            <a:avLst/>
          </a:prstGeom>
        </p:spPr>
      </p:pic>
      <p:sp>
        <p:nvSpPr>
          <p:cNvPr id="23" name="Número de página"/>
          <p:cNvSpPr txBox="1"/>
          <p:nvPr/>
        </p:nvSpPr>
        <p:spPr>
          <a:xfrm>
            <a:off x="457200" y="4818888"/>
            <a:ext cx="548640" cy="228600"/>
          </a:xfrm>
          <a:prstGeom prst="rect">
            <a:avLst/>
          </a:prstGeom>
          <a:noFill/>
        </p:spPr>
        <p:txBody>
          <a:bodyPr wrap="none" lIns="0" tIns="0" rIns="0" bIns="0" anchor="ctr">
            <a:noAutofit/>
          </a:bodyPr>
          <a:lstStyle/>
          <a:p>
            <a:pPr marL="0" indent="0">
              <a:buNone/>
            </a:pPr>
            <a:r>
              <a:rPr lang="es-ES" sz="800">
                <a:solidFill>
                  <a:srgbClr val="747480"/>
                </a:solidFill>
                <a:latin typeface="EYInterstate Light"/>
                <a:cs typeface="Arial"/>
              </a:rPr>
              <a:t>Página 4</a:t>
            </a:r>
          </a:p>
        </p:txBody>
      </p:sp>
      <p:sp>
        <p:nvSpPr>
          <p:cNvPr id="40" name="Etiqueta 2024 · €/habitante"/>
          <p:cNvSpPr txBox="1"/>
          <p:nvPr/>
        </p:nvSpPr>
        <p:spPr>
          <a:xfrm>
            <a:off x="1034714" y="960120"/>
            <a:ext cx="2400300" cy="228600"/>
          </a:xfrm>
          <a:prstGeom prst="rect">
            <a:avLst/>
          </a:prstGeom>
          <a:noFill/>
        </p:spPr>
        <p:txBody>
          <a:bodyPr wrap="square" lIns="0" tIns="0" rIns="0" bIns="0" anchor="b"/>
          <a:lstStyle/>
          <a:p>
            <a:r>
              <a:rPr lang="es-ES" sz="1100" b="1" spc="100">
                <a:solidFill>
                  <a:srgbClr val="2E2E38"/>
                </a:solidFill>
                <a:latin typeface="EYInterstate Light"/>
              </a:rPr>
              <a:t>2024 · €/habitante</a:t>
            </a:r>
          </a:p>
        </p:txBody>
      </p:sp>
      <p:sp>
        <p:nvSpPr>
          <p:cNvPr id="41" name="Etiqueta 2025 · €/habitante"/>
          <p:cNvSpPr txBox="1"/>
          <p:nvPr/>
        </p:nvSpPr>
        <p:spPr>
          <a:xfrm>
            <a:off x="3617894" y="960120"/>
            <a:ext cx="2400300" cy="228600"/>
          </a:xfrm>
          <a:prstGeom prst="rect">
            <a:avLst/>
          </a:prstGeom>
          <a:noFill/>
        </p:spPr>
        <p:txBody>
          <a:bodyPr wrap="square" lIns="0" tIns="0" rIns="0" bIns="0" anchor="b"/>
          <a:lstStyle/>
          <a:p>
            <a:r>
              <a:rPr lang="es-ES" sz="1100" b="1" spc="100">
                <a:solidFill>
                  <a:srgbClr val="2E2E38"/>
                </a:solidFill>
                <a:latin typeface="EYInterstate Light"/>
              </a:rPr>
              <a:t>2025 · €/habitante</a:t>
            </a:r>
          </a:p>
        </p:txBody>
      </p:sp>
      <p:graphicFrame>
        <p:nvGraphicFramePr>
          <p:cNvPr id="42" name="Ranking 2024" descr="Chart"/>
          <p:cNvGraphicFramePr/>
          <p:nvPr>
            <p:extLst>
              <p:ext uri="{D42A27DB-BD31-4B8C-83A1-F6EECF244321}">
                <p14:modId xmlns:p14="http://schemas.microsoft.com/office/powerpoint/2010/main" val="2076741270"/>
              </p:ext>
            </p:extLst>
          </p:nvPr>
        </p:nvGraphicFramePr>
        <p:xfrm>
          <a:off x="202823" y="1234440"/>
          <a:ext cx="2400300" cy="3401568"/>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43" name="Ranking 2025" descr="Chart"/>
          <p:cNvGraphicFramePr/>
          <p:nvPr>
            <p:extLst>
              <p:ext uri="{D42A27DB-BD31-4B8C-83A1-F6EECF244321}">
                <p14:modId xmlns:p14="http://schemas.microsoft.com/office/powerpoint/2010/main" val="3537575845"/>
              </p:ext>
            </p:extLst>
          </p:nvPr>
        </p:nvGraphicFramePr>
        <p:xfrm>
          <a:off x="2786003" y="1234440"/>
          <a:ext cx="2400300" cy="3401568"/>
        </p:xfrm>
        <a:graphic>
          <a:graphicData uri="http://schemas.openxmlformats.org/drawingml/2006/chart">
            <c:chart xmlns:c="http://schemas.openxmlformats.org/drawingml/2006/chart" xmlns:r="http://schemas.openxmlformats.org/officeDocument/2006/relationships" r:id="rId7"/>
          </a:graphicData>
        </a:graphic>
      </p:graphicFrame>
      <p:grpSp>
        <p:nvGrpSpPr>
          <p:cNvPr id="24" name="Group 23">
            <a:extLst>
              <a:ext uri="{FF2B5EF4-FFF2-40B4-BE49-F238E27FC236}">
                <a16:creationId xmlns:a16="http://schemas.microsoft.com/office/drawing/2014/main" id="{B5E0300F-10B9-A1C2-554D-A040AEFD4B5F}"/>
              </a:ext>
            </a:extLst>
          </p:cNvPr>
          <p:cNvGrpSpPr/>
          <p:nvPr/>
        </p:nvGrpSpPr>
        <p:grpSpPr>
          <a:xfrm>
            <a:off x="5637310" y="850392"/>
            <a:ext cx="3031129" cy="1783571"/>
            <a:chOff x="5637310" y="850392"/>
            <a:chExt cx="3031129" cy="1783571"/>
          </a:xfrm>
        </p:grpSpPr>
        <p:sp>
          <p:nvSpPr>
            <p:cNvPr id="11" name="Marcador Insertar mapa desde Power BI"/>
            <p:cNvSpPr/>
            <p:nvPr/>
          </p:nvSpPr>
          <p:spPr>
            <a:xfrm>
              <a:off x="5637310" y="850392"/>
              <a:ext cx="3031129" cy="1775954"/>
            </a:xfrm>
            <a:prstGeom prst="rect">
              <a:avLst/>
            </a:prstGeom>
            <a:solidFill>
              <a:srgbClr val="F4F4F6"/>
            </a:solidFill>
            <a:ln w="12700">
              <a:solidFill>
                <a:srgbClr val="A8A8B2"/>
              </a:solidFill>
              <a:prstDash val="dash"/>
            </a:ln>
          </p:spPr>
          <p:txBody>
            <a:bodyPr/>
            <a:lstStyle/>
            <a:p>
              <a:endParaRPr lang="es-ES">
                <a:latin typeface="EYInterstate Light"/>
              </a:endParaRPr>
            </a:p>
          </p:txBody>
        </p:sp>
        <p:pic>
          <p:nvPicPr>
            <p:cNvPr id="3" name="Picture 2">
              <a:extLst>
                <a:ext uri="{FF2B5EF4-FFF2-40B4-BE49-F238E27FC236}">
                  <a16:creationId xmlns:a16="http://schemas.microsoft.com/office/drawing/2014/main" id="{DA77F808-6FC3-F002-D63F-9A8D47D12171}"/>
                </a:ext>
              </a:extLst>
            </p:cNvPr>
            <p:cNvPicPr>
              <a:picLocks noChangeAspect="1"/>
            </p:cNvPicPr>
            <p:nvPr/>
          </p:nvPicPr>
          <p:blipFill>
            <a:blip r:embed="rId8"/>
            <a:srcRect l="2397" t="3354" r="2452" b="6452"/>
            <a:stretch>
              <a:fillRect/>
            </a:stretch>
          </p:blipFill>
          <p:spPr>
            <a:xfrm>
              <a:off x="5747722" y="858009"/>
              <a:ext cx="2810303" cy="1775954"/>
            </a:xfrm>
            <a:prstGeom prst="rect">
              <a:avLst/>
            </a:prstGeom>
          </p:spPr>
        </p:pic>
      </p:grpSp>
      <p:pic>
        <p:nvPicPr>
          <p:cNvPr id="8" name="Picture 7" descr="Página Principal | Formación Consejería de Salud Asturias">
            <a:extLst>
              <a:ext uri="{FF2B5EF4-FFF2-40B4-BE49-F238E27FC236}">
                <a16:creationId xmlns:a16="http://schemas.microsoft.com/office/drawing/2014/main" id="{8A9FF784-A67C-A2A2-9804-EE51467EEF9F}"/>
              </a:ext>
            </a:extLst>
          </p:cNvPr>
          <p:cNvPicPr>
            <a:picLocks noChangeAspect="1"/>
          </p:cNvPicPr>
          <p:nvPr/>
        </p:nvPicPr>
        <p:blipFill>
          <a:blip r:embed="rId9"/>
          <a:stretch>
            <a:fillRect/>
          </a:stretch>
        </p:blipFill>
        <p:spPr>
          <a:xfrm>
            <a:off x="7712836" y="4843846"/>
            <a:ext cx="856112" cy="222285"/>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graphicFrame>
        <p:nvGraphicFramePr>
          <p:cNvPr id="27" name="thinkcell data - do not delete" hidden="1">
            <a:extLst>
              <a:ext uri="{FF2B5EF4-FFF2-40B4-BE49-F238E27FC236}">
                <a16:creationId xmlns:a16="http://schemas.microsoft.com/office/drawing/2014/main" id="{43AE613C-9360-C642-EFA0-6B723BBD9452}"/>
              </a:ext>
            </a:extLst>
          </p:cNvPr>
          <p:cNvGraphicFramePr>
            <a:graphicFrameLocks/>
          </p:cNvGraphicFramePr>
          <p:nvPr>
            <p:custDataLst>
              <p:tags r:id="rId1"/>
            </p:custDataLst>
            <p:extLst>
              <p:ext uri="{D42A27DB-BD31-4B8C-83A1-F6EECF244321}">
                <p14:modId xmlns:p14="http://schemas.microsoft.com/office/powerpoint/2010/main" val="5190242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04" imgH="405" progId="TCLayout.ActiveDocument.1">
                  <p:embed/>
                </p:oleObj>
              </mc:Choice>
              <mc:Fallback>
                <p:oleObj name="thinkcell Slide" r:id="rId7" imgW="404" imgH="405" progId="TCLayout.ActiveDocument.1">
                  <p:embed/>
                  <p:pic>
                    <p:nvPicPr>
                      <p:cNvPr id="27" name="thinkcell data - do not delete" hidden="1">
                        <a:extLst>
                          <a:ext uri="{FF2B5EF4-FFF2-40B4-BE49-F238E27FC236}">
                            <a16:creationId xmlns:a16="http://schemas.microsoft.com/office/drawing/2014/main" id="{43AE613C-9360-C642-EFA0-6B723BBD9452}"/>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4" name="title accent">
            <a:extLst>
              <a:ext uri="{C183D7F6-B498-43B3-948B-1728B52AA6E4}">
                <adec:decorative xmlns:adec="http://schemas.microsoft.com/office/drawing/2017/decorative" val="1"/>
              </a:ext>
            </a:extLst>
          </p:cNvPr>
          <p:cNvSpPr/>
          <p:nvPr/>
        </p:nvSpPr>
        <p:spPr>
          <a:xfrm>
            <a:off x="457200" y="384048"/>
            <a:ext cx="292608" cy="310896"/>
          </a:xfrm>
          <a:prstGeom prst="parallelogram">
            <a:avLst/>
          </a:prstGeom>
          <a:solidFill>
            <a:srgbClr val="FFE600"/>
          </a:solidFill>
          <a:ln/>
        </p:spPr>
        <p:txBody>
          <a:bodyPr/>
          <a:lstStyle/>
          <a:p>
            <a:endParaRPr lang="es-ES" noProof="0">
              <a:latin typeface="EYInterstate Light"/>
            </a:endParaRPr>
          </a:p>
        </p:txBody>
      </p:sp>
      <p:sp>
        <p:nvSpPr>
          <p:cNvPr id="6" name="footer rule">
            <a:extLst>
              <a:ext uri="{C183D7F6-B498-43B3-948B-1728B52AA6E4}">
                <adec:decorative xmlns:adec="http://schemas.microsoft.com/office/drawing/2017/decorative" val="1"/>
              </a:ext>
            </a:extLst>
          </p:cNvPr>
          <p:cNvSpPr/>
          <p:nvPr/>
        </p:nvSpPr>
        <p:spPr>
          <a:xfrm>
            <a:off x="457200" y="4773168"/>
            <a:ext cx="8229600" cy="0"/>
          </a:xfrm>
          <a:prstGeom prst="line">
            <a:avLst/>
          </a:prstGeom>
          <a:noFill/>
          <a:ln w="9525">
            <a:solidFill>
              <a:srgbClr val="C4C4CD"/>
            </a:solidFill>
            <a:prstDash val="solid"/>
          </a:ln>
        </p:spPr>
        <p:txBody>
          <a:bodyPr/>
          <a:lstStyle/>
          <a:p>
            <a:endParaRPr lang="es-ES" noProof="0">
              <a:latin typeface="EYInterstate Light"/>
            </a:endParaRPr>
          </a:p>
        </p:txBody>
      </p:sp>
      <p:sp>
        <p:nvSpPr>
          <p:cNvPr id="7" name="Text 5"/>
          <p:cNvSpPr/>
          <p:nvPr/>
        </p:nvSpPr>
        <p:spPr>
          <a:xfrm>
            <a:off x="1112838" y="4851653"/>
            <a:ext cx="4572000" cy="228600"/>
          </a:xfrm>
          <a:prstGeom prst="rect">
            <a:avLst/>
          </a:prstGeom>
          <a:noFill/>
          <a:ln/>
        </p:spPr>
        <p:txBody>
          <a:bodyPr wrap="square" lIns="0" tIns="0" rIns="0" bIns="0" rtlCol="0" anchor="ctr"/>
          <a:lstStyle/>
          <a:p>
            <a:pPr marL="0" indent="0">
              <a:buNone/>
            </a:pPr>
            <a:r>
              <a:rPr lang="es-ES" sz="800" noProof="0">
                <a:solidFill>
                  <a:srgbClr val="747480"/>
                </a:solidFill>
                <a:latin typeface="EYInterstate Light"/>
                <a:ea typeface="Arial" pitchFamily="34" charset="-122"/>
                <a:cs typeface="Arial" pitchFamily="34" charset="-120"/>
              </a:rPr>
              <a:t>Gasto farmacéutico y sanitario · España</a:t>
            </a:r>
            <a:endParaRPr lang="es-ES" sz="800" noProof="0">
              <a:latin typeface="EYInterstate Light"/>
            </a:endParaRPr>
          </a:p>
        </p:txBody>
      </p:sp>
      <p:pic>
        <p:nvPicPr>
          <p:cNvPr id="9" name="Image 0" descr="/agent/turn1/workspace/icons/hosp.png"/>
          <p:cNvPicPr>
            <a:picLocks noChangeAspect="1"/>
          </p:cNvPicPr>
          <p:nvPr/>
        </p:nvPicPr>
        <p:blipFill>
          <a:blip r:embed="rId9"/>
          <a:stretch>
            <a:fillRect/>
          </a:stretch>
        </p:blipFill>
        <p:spPr>
          <a:xfrm>
            <a:off x="457200" y="914400"/>
            <a:ext cx="365760" cy="365760"/>
          </a:xfrm>
          <a:prstGeom prst="rect">
            <a:avLst/>
          </a:prstGeom>
        </p:spPr>
      </p:pic>
      <p:sp>
        <p:nvSpPr>
          <p:cNvPr id="10" name="Text 7"/>
          <p:cNvSpPr/>
          <p:nvPr/>
        </p:nvSpPr>
        <p:spPr>
          <a:xfrm>
            <a:off x="932688" y="914400"/>
            <a:ext cx="3474720" cy="365760"/>
          </a:xfrm>
          <a:prstGeom prst="rect">
            <a:avLst/>
          </a:prstGeom>
          <a:noFill/>
          <a:ln/>
        </p:spPr>
        <p:txBody>
          <a:bodyPr wrap="square" lIns="0" tIns="0" rIns="0" bIns="0" rtlCol="0" anchor="ctr"/>
          <a:lstStyle/>
          <a:p>
            <a:pPr marL="0" indent="0">
              <a:buNone/>
            </a:pPr>
            <a:r>
              <a:rPr lang="es-ES" sz="1300" b="1" noProof="0">
                <a:solidFill>
                  <a:srgbClr val="1A1A24"/>
                </a:solidFill>
                <a:latin typeface="EYInterstate"/>
                <a:ea typeface="Arial" pitchFamily="34" charset="-122"/>
                <a:cs typeface="Arial" pitchFamily="34" charset="-120"/>
              </a:rPr>
              <a:t>Composición del Gasto Nacional (2025)</a:t>
            </a:r>
            <a:endParaRPr lang="es-ES" sz="1300" noProof="0">
              <a:latin typeface="EYInterstate"/>
            </a:endParaRPr>
          </a:p>
        </p:txBody>
      </p:sp>
      <p:pic>
        <p:nvPicPr>
          <p:cNvPr id="19" name="Image 1" descr="/agent/turn1/workspace/icons/pill.png"/>
          <p:cNvPicPr>
            <a:picLocks noChangeAspect="1"/>
          </p:cNvPicPr>
          <p:nvPr/>
        </p:nvPicPr>
        <p:blipFill>
          <a:blip r:embed="rId10"/>
          <a:stretch>
            <a:fillRect/>
          </a:stretch>
        </p:blipFill>
        <p:spPr>
          <a:xfrm>
            <a:off x="4663440" y="914400"/>
            <a:ext cx="365760" cy="365760"/>
          </a:xfrm>
          <a:prstGeom prst="rect">
            <a:avLst/>
          </a:prstGeom>
        </p:spPr>
      </p:pic>
      <p:sp>
        <p:nvSpPr>
          <p:cNvPr id="20" name="Text 16"/>
          <p:cNvSpPr/>
          <p:nvPr/>
        </p:nvSpPr>
        <p:spPr>
          <a:xfrm>
            <a:off x="5138928" y="914400"/>
            <a:ext cx="3474720" cy="365760"/>
          </a:xfrm>
          <a:prstGeom prst="rect">
            <a:avLst/>
          </a:prstGeom>
          <a:noFill/>
          <a:ln/>
        </p:spPr>
        <p:txBody>
          <a:bodyPr wrap="square" lIns="0" tIns="0" rIns="0" bIns="0" rtlCol="0" anchor="ctr"/>
          <a:lstStyle/>
          <a:p>
            <a:pPr marL="0" indent="0">
              <a:buNone/>
            </a:pPr>
            <a:r>
              <a:rPr lang="es-ES" sz="1300" b="1" noProof="0">
                <a:solidFill>
                  <a:srgbClr val="1A1A24"/>
                </a:solidFill>
                <a:latin typeface="EYInterstate"/>
                <a:ea typeface="Arial" pitchFamily="34" charset="-122"/>
                <a:cs typeface="Arial" pitchFamily="34" charset="-120"/>
              </a:rPr>
              <a:t>Origen de la brecha (2025)</a:t>
            </a:r>
            <a:endParaRPr lang="es-ES" sz="1300" noProof="0">
              <a:latin typeface="EYInterstate"/>
            </a:endParaRPr>
          </a:p>
        </p:txBody>
      </p:sp>
      <p:sp>
        <p:nvSpPr>
          <p:cNvPr id="21" name="chip">
            <a:extLst>
              <a:ext uri="{C183D7F6-B498-43B3-948B-1728B52AA6E4}">
                <adec:decorative xmlns:adec="http://schemas.microsoft.com/office/drawing/2017/decorative" val="1"/>
              </a:ext>
            </a:extLst>
          </p:cNvPr>
          <p:cNvSpPr/>
          <p:nvPr/>
        </p:nvSpPr>
        <p:spPr>
          <a:xfrm>
            <a:off x="5138929" y="1240668"/>
            <a:ext cx="1591880" cy="292608"/>
          </a:xfrm>
          <a:prstGeom prst="rect">
            <a:avLst/>
          </a:prstGeom>
          <a:solidFill>
            <a:srgbClr val="F4F4F6"/>
          </a:solidFill>
          <a:ln/>
        </p:spPr>
        <p:txBody>
          <a:bodyPr/>
          <a:lstStyle/>
          <a:p>
            <a:endParaRPr lang="es-ES" noProof="0">
              <a:latin typeface="EYInterstate Light"/>
            </a:endParaRPr>
          </a:p>
        </p:txBody>
      </p:sp>
      <p:sp>
        <p:nvSpPr>
          <p:cNvPr id="22" name="Text 18"/>
          <p:cNvSpPr/>
          <p:nvPr/>
        </p:nvSpPr>
        <p:spPr>
          <a:xfrm>
            <a:off x="4974336" y="1237356"/>
            <a:ext cx="1812421" cy="292608"/>
          </a:xfrm>
          <a:prstGeom prst="rect">
            <a:avLst/>
          </a:prstGeom>
          <a:noFill/>
          <a:ln/>
        </p:spPr>
        <p:txBody>
          <a:bodyPr wrap="square" lIns="0" tIns="0" rIns="0" bIns="0" rtlCol="0" anchor="ctr"/>
          <a:lstStyle/>
          <a:p>
            <a:pPr algn="ctr"/>
            <a:r>
              <a:rPr lang="es-ES" sz="900" b="1">
                <a:solidFill>
                  <a:srgbClr val="2E2E38"/>
                </a:solidFill>
                <a:latin typeface="EYInterstate Light"/>
                <a:ea typeface="Arial" pitchFamily="34" charset="-122"/>
                <a:cs typeface="Arial" pitchFamily="34" charset="-120"/>
              </a:rPr>
              <a:t>Medida en €/habitante</a:t>
            </a:r>
            <a:endParaRPr lang="es-ES" sz="900">
              <a:latin typeface="EYInterstate Light"/>
            </a:endParaRPr>
          </a:p>
        </p:txBody>
      </p:sp>
      <p:sp>
        <p:nvSpPr>
          <p:cNvPr id="29" name="divider">
            <a:extLst>
              <a:ext uri="{C183D7F6-B498-43B3-948B-1728B52AA6E4}">
                <adec:decorative xmlns:adec="http://schemas.microsoft.com/office/drawing/2017/decorative" val="1"/>
              </a:ext>
            </a:extLst>
          </p:cNvPr>
          <p:cNvSpPr/>
          <p:nvPr/>
        </p:nvSpPr>
        <p:spPr>
          <a:xfrm>
            <a:off x="4572000" y="914400"/>
            <a:ext cx="0" cy="2880360"/>
          </a:xfrm>
          <a:prstGeom prst="line">
            <a:avLst/>
          </a:prstGeom>
          <a:noFill/>
          <a:ln w="9525">
            <a:solidFill>
              <a:srgbClr val="C4C4CD"/>
            </a:solidFill>
            <a:prstDash val="solid"/>
          </a:ln>
        </p:spPr>
        <p:txBody>
          <a:bodyPr/>
          <a:lstStyle/>
          <a:p>
            <a:endParaRPr lang="es-ES" noProof="0">
              <a:latin typeface="EYInterstate Light"/>
            </a:endParaRPr>
          </a:p>
        </p:txBody>
      </p:sp>
      <p:sp>
        <p:nvSpPr>
          <p:cNvPr id="30" name="insights strip">
            <a:extLst>
              <a:ext uri="{C183D7F6-B498-43B3-948B-1728B52AA6E4}">
                <adec:decorative xmlns:adec="http://schemas.microsoft.com/office/drawing/2017/decorative" val="1"/>
              </a:ext>
            </a:extLst>
          </p:cNvPr>
          <p:cNvSpPr/>
          <p:nvPr/>
        </p:nvSpPr>
        <p:spPr>
          <a:xfrm>
            <a:off x="457200" y="3931920"/>
            <a:ext cx="8229600" cy="731520"/>
          </a:xfrm>
          <a:prstGeom prst="rect">
            <a:avLst/>
          </a:prstGeom>
          <a:solidFill>
            <a:srgbClr val="1A1A24"/>
          </a:solidFill>
          <a:ln/>
        </p:spPr>
        <p:txBody>
          <a:bodyPr/>
          <a:lstStyle/>
          <a:p>
            <a:endParaRPr lang="es-ES" noProof="0">
              <a:latin typeface="EYInterstate Light"/>
            </a:endParaRPr>
          </a:p>
        </p:txBody>
      </p:sp>
      <p:sp>
        <p:nvSpPr>
          <p:cNvPr id="31" name="bar">
            <a:extLst>
              <a:ext uri="{C183D7F6-B498-43B3-948B-1728B52AA6E4}">
                <adec:decorative xmlns:adec="http://schemas.microsoft.com/office/drawing/2017/decorative" val="1"/>
              </a:ext>
            </a:extLst>
          </p:cNvPr>
          <p:cNvSpPr/>
          <p:nvPr/>
        </p:nvSpPr>
        <p:spPr>
          <a:xfrm>
            <a:off x="457200" y="3931920"/>
            <a:ext cx="54864" cy="731520"/>
          </a:xfrm>
          <a:prstGeom prst="rect">
            <a:avLst/>
          </a:prstGeom>
          <a:solidFill>
            <a:srgbClr val="FFE600"/>
          </a:solidFill>
          <a:ln/>
        </p:spPr>
        <p:txBody>
          <a:bodyPr/>
          <a:lstStyle/>
          <a:p>
            <a:endParaRPr lang="es-ES" noProof="0">
              <a:latin typeface="EYInterstate Light"/>
            </a:endParaRPr>
          </a:p>
        </p:txBody>
      </p:sp>
      <p:sp>
        <p:nvSpPr>
          <p:cNvPr id="32" name="Text 28"/>
          <p:cNvSpPr/>
          <p:nvPr/>
        </p:nvSpPr>
        <p:spPr>
          <a:xfrm>
            <a:off x="685800" y="3931920"/>
            <a:ext cx="1371600" cy="731520"/>
          </a:xfrm>
          <a:prstGeom prst="rect">
            <a:avLst/>
          </a:prstGeom>
          <a:noFill/>
          <a:ln/>
        </p:spPr>
        <p:txBody>
          <a:bodyPr wrap="square" lIns="0" tIns="0" rIns="0" bIns="0" rtlCol="0" anchor="ctr"/>
          <a:lstStyle/>
          <a:p>
            <a:pPr marL="0" indent="0">
              <a:buNone/>
            </a:pPr>
            <a:r>
              <a:rPr lang="es-ES" sz="1000" b="1" kern="0" spc="200" noProof="0">
                <a:solidFill>
                  <a:srgbClr val="FFE600"/>
                </a:solidFill>
                <a:latin typeface="EYInterstate Light"/>
                <a:ea typeface="Arial" pitchFamily="34" charset="-122"/>
                <a:cs typeface="Arial" pitchFamily="34" charset="-120"/>
              </a:rPr>
              <a:t>KEY INSIGHTS</a:t>
            </a:r>
            <a:endParaRPr lang="es-ES" sz="1000" noProof="0">
              <a:latin typeface="EYInterstate Light"/>
            </a:endParaRPr>
          </a:p>
        </p:txBody>
      </p:sp>
      <p:sp>
        <p:nvSpPr>
          <p:cNvPr id="33" name="Text 29"/>
          <p:cNvSpPr/>
          <p:nvPr/>
        </p:nvSpPr>
        <p:spPr>
          <a:xfrm>
            <a:off x="2194560" y="3931920"/>
            <a:ext cx="3108960" cy="731520"/>
          </a:xfrm>
          <a:prstGeom prst="rect">
            <a:avLst/>
          </a:prstGeom>
          <a:noFill/>
          <a:ln/>
        </p:spPr>
        <p:txBody>
          <a:bodyPr wrap="square" lIns="0" tIns="0" rIns="0" bIns="0" rtlCol="0" anchor="ctr"/>
          <a:lstStyle/>
          <a:p>
            <a:pPr marL="342900" indent="-342900">
              <a:buSzPct val="100000"/>
              <a:buChar char="•"/>
            </a:pPr>
            <a:r>
              <a:rPr lang="es-ES" sz="1000" i="1" noProof="0">
                <a:solidFill>
                  <a:srgbClr val="D6D6DC"/>
                </a:solidFill>
                <a:latin typeface="EYInterstate Light"/>
                <a:ea typeface="Arial" pitchFamily="34" charset="-122"/>
                <a:cs typeface="Arial" pitchFamily="34" charset="-120"/>
              </a:rPr>
              <a:t>A nivel nacional, las recetas son la principal partida de gasto, con un 43% del total</a:t>
            </a:r>
            <a:endParaRPr lang="es-ES" sz="1000" noProof="0">
              <a:latin typeface="EYInterstate Light"/>
            </a:endParaRPr>
          </a:p>
        </p:txBody>
      </p:sp>
      <p:sp>
        <p:nvSpPr>
          <p:cNvPr id="34" name="Text 30"/>
          <p:cNvSpPr/>
          <p:nvPr/>
        </p:nvSpPr>
        <p:spPr>
          <a:xfrm>
            <a:off x="5486400" y="3931920"/>
            <a:ext cx="3108960" cy="731520"/>
          </a:xfrm>
          <a:prstGeom prst="rect">
            <a:avLst/>
          </a:prstGeom>
          <a:noFill/>
          <a:ln/>
        </p:spPr>
        <p:txBody>
          <a:bodyPr wrap="square" lIns="0" tIns="0" rIns="0" bIns="0" rtlCol="0" anchor="ctr"/>
          <a:lstStyle/>
          <a:p>
            <a:pPr marL="342900" indent="-342900">
              <a:buSzPct val="100000"/>
              <a:buChar char="•"/>
            </a:pPr>
            <a:r>
              <a:rPr lang="es-ES" sz="1000" i="1" noProof="0">
                <a:solidFill>
                  <a:srgbClr val="D6D6DC"/>
                </a:solidFill>
                <a:latin typeface="EYInterstate Light"/>
                <a:ea typeface="Arial" pitchFamily="34" charset="-122"/>
                <a:cs typeface="Arial" pitchFamily="34" charset="-120"/>
              </a:rPr>
              <a:t>En la brecha Asturias-Cataluña, el 87,5% procede de recetas y productos sin receta</a:t>
            </a:r>
            <a:endParaRPr lang="es-ES" sz="1000" noProof="0">
              <a:latin typeface="EYInterstate Light"/>
            </a:endParaRPr>
          </a:p>
        </p:txBody>
      </p:sp>
      <p:pic>
        <p:nvPicPr>
          <p:cNvPr id="36" name="Picture 35" descr="EY - European Financial Congress">
            <a:extLst>
              <a:ext uri="{FF2B5EF4-FFF2-40B4-BE49-F238E27FC236}">
                <a16:creationId xmlns:a16="http://schemas.microsoft.com/office/drawing/2014/main" id="{E93B86D8-D835-A947-9F8F-4ABFD2F8F63E}"/>
              </a:ext>
            </a:extLst>
          </p:cNvPr>
          <p:cNvPicPr>
            <a:picLocks noChangeAspect="1"/>
          </p:cNvPicPr>
          <p:nvPr/>
        </p:nvPicPr>
        <p:blipFill>
          <a:blip r:embed="rId11"/>
          <a:srcRect t="1" b="29614"/>
          <a:stretch>
            <a:fillRect/>
          </a:stretch>
        </p:blipFill>
        <p:spPr>
          <a:xfrm>
            <a:off x="8635998" y="4749793"/>
            <a:ext cx="482580" cy="369819"/>
          </a:xfrm>
          <a:prstGeom prst="rect">
            <a:avLst/>
          </a:prstGeom>
        </p:spPr>
      </p:pic>
      <p:sp>
        <p:nvSpPr>
          <p:cNvPr id="37" name="Número de página"/>
          <p:cNvSpPr txBox="1"/>
          <p:nvPr/>
        </p:nvSpPr>
        <p:spPr>
          <a:xfrm>
            <a:off x="457200" y="4818888"/>
            <a:ext cx="548640" cy="228600"/>
          </a:xfrm>
          <a:prstGeom prst="rect">
            <a:avLst/>
          </a:prstGeom>
          <a:noFill/>
        </p:spPr>
        <p:txBody>
          <a:bodyPr wrap="none" lIns="0" tIns="0" rIns="0" bIns="0" anchor="ctr">
            <a:noAutofit/>
          </a:bodyPr>
          <a:lstStyle/>
          <a:p>
            <a:pPr marL="0" indent="0">
              <a:buNone/>
            </a:pPr>
            <a:r>
              <a:rPr lang="es-ES" sz="800" noProof="0">
                <a:solidFill>
                  <a:srgbClr val="747480"/>
                </a:solidFill>
                <a:latin typeface="EYInterstate Light"/>
                <a:cs typeface="Arial"/>
              </a:rPr>
              <a:t>Página 5</a:t>
            </a:r>
          </a:p>
        </p:txBody>
      </p:sp>
      <p:graphicFrame>
        <p:nvGraphicFramePr>
          <p:cNvPr id="41" name="Gráfico brecha por partida" descr="Chart"/>
          <p:cNvGraphicFramePr/>
          <p:nvPr>
            <p:extLst>
              <p:ext uri="{D42A27DB-BD31-4B8C-83A1-F6EECF244321}">
                <p14:modId xmlns:p14="http://schemas.microsoft.com/office/powerpoint/2010/main" val="1480568888"/>
              </p:ext>
            </p:extLst>
          </p:nvPr>
        </p:nvGraphicFramePr>
        <p:xfrm>
          <a:off x="4663440" y="1553339"/>
          <a:ext cx="4023360" cy="2011680"/>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38" name="Chart 37" descr="Chart">
            <a:extLst>
              <a:ext uri="{FF2B5EF4-FFF2-40B4-BE49-F238E27FC236}">
                <a16:creationId xmlns:a16="http://schemas.microsoft.com/office/drawing/2014/main" id="{7516F5DC-7A4F-ADA2-47EB-F61B99D672E3}"/>
              </a:ext>
            </a:extLst>
          </p:cNvPr>
          <p:cNvGraphicFramePr/>
          <p:nvPr>
            <p:custDataLst>
              <p:tags r:id="rId2"/>
            </p:custDataLst>
            <p:extLst>
              <p:ext uri="{D42A27DB-BD31-4B8C-83A1-F6EECF244321}">
                <p14:modId xmlns:p14="http://schemas.microsoft.com/office/powerpoint/2010/main" val="2876941785"/>
              </p:ext>
            </p:extLst>
          </p:nvPr>
        </p:nvGraphicFramePr>
        <p:xfrm>
          <a:off x="904875" y="1258888"/>
          <a:ext cx="2443163" cy="2568575"/>
        </p:xfrm>
        <a:graphic>
          <a:graphicData uri="http://schemas.openxmlformats.org/drawingml/2006/chart">
            <c:chart xmlns:c="http://schemas.openxmlformats.org/drawingml/2006/chart" xmlns:r="http://schemas.openxmlformats.org/officeDocument/2006/relationships" r:id="rId13"/>
          </a:graphicData>
        </a:graphic>
      </p:graphicFrame>
      <p:sp>
        <p:nvSpPr>
          <p:cNvPr id="48" name="Rectangle 47">
            <a:extLst>
              <a:ext uri="{FF2B5EF4-FFF2-40B4-BE49-F238E27FC236}">
                <a16:creationId xmlns:a16="http://schemas.microsoft.com/office/drawing/2014/main" id="{AB47B7B3-20B0-3DDE-43EA-66136DAC252E}"/>
              </a:ext>
            </a:extLst>
          </p:cNvPr>
          <p:cNvSpPr/>
          <p:nvPr>
            <p:custDataLst>
              <p:tags r:id="rId3"/>
            </p:custDataLst>
          </p:nvPr>
        </p:nvSpPr>
        <p:spPr bwMode="auto">
          <a:xfrm>
            <a:off x="2970213" y="1922463"/>
            <a:ext cx="8778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spcBef>
                <a:spcPct val="0"/>
              </a:spcBef>
              <a:spcAft>
                <a:spcPct val="0"/>
              </a:spcAft>
            </a:pPr>
            <a:fld id="{F395946D-C5C2-4D37-B0B6-4933AC07CD08}" type="datetime'''H''os''''pi''''''t''''a''''''la''''''''ri''''''''''''''''o'">
              <a:rPr lang="es-ES" sz="1100" noProof="0" smtClean="0">
                <a:solidFill>
                  <a:schemeClr val="tx1"/>
                </a:solidFill>
                <a:latin typeface="EYInterstate Light"/>
              </a:rPr>
              <a:pPr>
                <a:spcBef>
                  <a:spcPct val="0"/>
                </a:spcBef>
                <a:spcAft>
                  <a:spcPct val="0"/>
                </a:spcAft>
              </a:pPr>
              <a:t>Hospitalario</a:t>
            </a:fld>
            <a:endParaRPr lang="es-ES" sz="1100" noProof="0">
              <a:solidFill>
                <a:schemeClr val="tx1"/>
              </a:solidFill>
              <a:latin typeface="EYInterstate Light"/>
            </a:endParaRPr>
          </a:p>
        </p:txBody>
      </p:sp>
      <p:sp>
        <p:nvSpPr>
          <p:cNvPr id="17" name="TextBox 16">
            <a:extLst>
              <a:ext uri="{FF2B5EF4-FFF2-40B4-BE49-F238E27FC236}">
                <a16:creationId xmlns:a16="http://schemas.microsoft.com/office/drawing/2014/main" id="{3BF160FA-DDB4-0D0F-580B-74BD0AFD38F1}"/>
              </a:ext>
            </a:extLst>
          </p:cNvPr>
          <p:cNvSpPr txBox="1"/>
          <p:nvPr/>
        </p:nvSpPr>
        <p:spPr>
          <a:xfrm>
            <a:off x="650019" y="3153228"/>
            <a:ext cx="1051560" cy="261610"/>
          </a:xfrm>
          <a:prstGeom prst="rect">
            <a:avLst/>
          </a:prstGeom>
          <a:noFill/>
        </p:spPr>
        <p:txBody>
          <a:bodyPr wrap="square">
            <a:spAutoFit/>
          </a:bodyPr>
          <a:lstStyle/>
          <a:p>
            <a:r>
              <a:rPr lang="es-ES" sz="1100" noProof="0">
                <a:solidFill>
                  <a:schemeClr val="tx1"/>
                </a:solidFill>
                <a:latin typeface="EYInterstate Light"/>
              </a:rPr>
              <a:t>Recetas</a:t>
            </a:r>
            <a:endParaRPr lang="es-ES" sz="1100" noProof="0">
              <a:latin typeface="EYInterstate Light"/>
            </a:endParaRPr>
          </a:p>
        </p:txBody>
      </p:sp>
      <p:sp>
        <p:nvSpPr>
          <p:cNvPr id="40" name="TextBox 39">
            <a:extLst>
              <a:ext uri="{FF2B5EF4-FFF2-40B4-BE49-F238E27FC236}">
                <a16:creationId xmlns:a16="http://schemas.microsoft.com/office/drawing/2014/main" id="{898D8F67-5C40-460C-4413-E5D743FAC2DC}"/>
              </a:ext>
            </a:extLst>
          </p:cNvPr>
          <p:cNvSpPr txBox="1"/>
          <p:nvPr/>
        </p:nvSpPr>
        <p:spPr>
          <a:xfrm>
            <a:off x="834015" y="1278017"/>
            <a:ext cx="2249009" cy="261610"/>
          </a:xfrm>
          <a:prstGeom prst="rect">
            <a:avLst/>
          </a:prstGeom>
          <a:noFill/>
        </p:spPr>
        <p:txBody>
          <a:bodyPr wrap="square">
            <a:spAutoFit/>
          </a:bodyPr>
          <a:lstStyle/>
          <a:p>
            <a:pPr marL="0" indent="0">
              <a:buNone/>
            </a:pPr>
            <a:r>
              <a:rPr lang="es-ES" sz="1100" b="1" noProof="0">
                <a:solidFill>
                  <a:srgbClr val="2E2E38"/>
                </a:solidFill>
                <a:latin typeface="EYInterstate Light"/>
                <a:ea typeface="Arial" pitchFamily="34" charset="-122"/>
                <a:cs typeface="Arial" pitchFamily="34" charset="-120"/>
              </a:rPr>
              <a:t>33.739,5 M€ de gasto total</a:t>
            </a:r>
            <a:endParaRPr lang="es-ES" sz="1100" noProof="0">
              <a:latin typeface="EYInterstate Light"/>
            </a:endParaRPr>
          </a:p>
        </p:txBody>
      </p:sp>
      <p:sp>
        <p:nvSpPr>
          <p:cNvPr id="47" name="TextBox 46">
            <a:extLst>
              <a:ext uri="{FF2B5EF4-FFF2-40B4-BE49-F238E27FC236}">
                <a16:creationId xmlns:a16="http://schemas.microsoft.com/office/drawing/2014/main" id="{F59271E8-B1AF-F703-27DC-00085E0174F2}"/>
              </a:ext>
            </a:extLst>
          </p:cNvPr>
          <p:cNvSpPr txBox="1"/>
          <p:nvPr/>
        </p:nvSpPr>
        <p:spPr>
          <a:xfrm>
            <a:off x="4661533" y="3471470"/>
            <a:ext cx="2758441" cy="276999"/>
          </a:xfrm>
          <a:prstGeom prst="rect">
            <a:avLst/>
          </a:prstGeom>
          <a:noFill/>
        </p:spPr>
        <p:txBody>
          <a:bodyPr wrap="square">
            <a:spAutoFit/>
          </a:bodyPr>
          <a:lstStyle/>
          <a:p>
            <a:pPr marL="0" indent="0">
              <a:buNone/>
            </a:pPr>
            <a:r>
              <a:rPr lang="es-ES" sz="1200" u="sng">
                <a:solidFill>
                  <a:srgbClr val="2E2E38"/>
                </a:solidFill>
                <a:latin typeface="EYInterstate Light"/>
                <a:ea typeface="Arial" pitchFamily="34" charset="-122"/>
                <a:cs typeface="Arial" pitchFamily="34" charset="-120"/>
              </a:rPr>
              <a:t>Brecha total 2025</a:t>
            </a:r>
            <a:r>
              <a:rPr lang="es-ES" sz="1200">
                <a:solidFill>
                  <a:srgbClr val="2E2E38"/>
                </a:solidFill>
                <a:latin typeface="EYInterstate Light"/>
                <a:ea typeface="Arial" pitchFamily="34" charset="-122"/>
                <a:cs typeface="Arial" pitchFamily="34" charset="-120"/>
              </a:rPr>
              <a:t>: </a:t>
            </a:r>
            <a:r>
              <a:rPr lang="es-ES" sz="1200" noProof="0">
                <a:solidFill>
                  <a:srgbClr val="2E2E38"/>
                </a:solidFill>
                <a:latin typeface="EYInterstate Light"/>
                <a:ea typeface="Arial" pitchFamily="34" charset="-122"/>
                <a:cs typeface="Arial" pitchFamily="34" charset="-120"/>
              </a:rPr>
              <a:t>286,04 €/hab.</a:t>
            </a:r>
            <a:endParaRPr lang="es-ES" sz="1200" noProof="0">
              <a:latin typeface="EYInterstate Light"/>
            </a:endParaRPr>
          </a:p>
        </p:txBody>
      </p:sp>
      <p:sp>
        <p:nvSpPr>
          <p:cNvPr id="3" name="Text 3">
            <a:extLst>
              <a:ext uri="{FF2B5EF4-FFF2-40B4-BE49-F238E27FC236}">
                <a16:creationId xmlns:a16="http://schemas.microsoft.com/office/drawing/2014/main" id="{98F126AF-132B-C625-383B-A13B80DD84C4}"/>
              </a:ext>
            </a:extLst>
          </p:cNvPr>
          <p:cNvSpPr/>
          <p:nvPr/>
        </p:nvSpPr>
        <p:spPr>
          <a:xfrm>
            <a:off x="841248" y="274320"/>
            <a:ext cx="6858000" cy="530352"/>
          </a:xfrm>
          <a:prstGeom prst="rect">
            <a:avLst/>
          </a:prstGeom>
          <a:noFill/>
          <a:ln/>
        </p:spPr>
        <p:txBody>
          <a:bodyPr wrap="square" lIns="0" tIns="0" rIns="0" bIns="0" rtlCol="0" anchor="ctr"/>
          <a:lstStyle/>
          <a:p>
            <a:r>
              <a:rPr lang="es-ES" sz="2000" b="1">
                <a:solidFill>
                  <a:srgbClr val="1A1A24"/>
                </a:solidFill>
                <a:latin typeface="EYInterstate"/>
                <a:cs typeface="Arial"/>
              </a:rPr>
              <a:t>Factores que impulsan la brecha Asturias - Cataluña</a:t>
            </a:r>
            <a:endParaRPr lang="en-US" sz="2000">
              <a:solidFill>
                <a:srgbClr val="000000"/>
              </a:solidFill>
              <a:latin typeface="EYInterstate"/>
              <a:cs typeface="Arial"/>
            </a:endParaRPr>
          </a:p>
        </p:txBody>
      </p:sp>
      <p:sp>
        <p:nvSpPr>
          <p:cNvPr id="2" name="Rectangle 1">
            <a:extLst>
              <a:ext uri="{FF2B5EF4-FFF2-40B4-BE49-F238E27FC236}">
                <a16:creationId xmlns:a16="http://schemas.microsoft.com/office/drawing/2014/main" id="{BE2EE311-4291-9945-04AB-A386CC7AEBDA}"/>
              </a:ext>
            </a:extLst>
          </p:cNvPr>
          <p:cNvSpPr/>
          <p:nvPr/>
        </p:nvSpPr>
        <p:spPr bwMode="auto">
          <a:xfrm>
            <a:off x="684212" y="1712671"/>
            <a:ext cx="8778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spcBef>
                <a:spcPct val="0"/>
              </a:spcBef>
              <a:spcAft>
                <a:spcPct val="0"/>
              </a:spcAft>
            </a:pPr>
            <a:r>
              <a:rPr lang="es-ES" sz="1100">
                <a:solidFill>
                  <a:schemeClr val="tx1"/>
                </a:solidFill>
                <a:latin typeface="EYInterstate Light"/>
              </a:rPr>
              <a:t>Sin receta</a:t>
            </a:r>
            <a:endParaRPr lang="en-US"/>
          </a:p>
        </p:txBody>
      </p:sp>
      <p:pic>
        <p:nvPicPr>
          <p:cNvPr id="8" name="Picture 7" descr="Página Principal | Formación Consejería de Salud Asturias">
            <a:extLst>
              <a:ext uri="{FF2B5EF4-FFF2-40B4-BE49-F238E27FC236}">
                <a16:creationId xmlns:a16="http://schemas.microsoft.com/office/drawing/2014/main" id="{4513DFE1-E014-1B00-239F-A5F2040A2F9E}"/>
              </a:ext>
            </a:extLst>
          </p:cNvPr>
          <p:cNvPicPr>
            <a:picLocks noChangeAspect="1"/>
          </p:cNvPicPr>
          <p:nvPr/>
        </p:nvPicPr>
        <p:blipFill>
          <a:blip r:embed="rId14"/>
          <a:stretch>
            <a:fillRect/>
          </a:stretch>
        </p:blipFill>
        <p:spPr>
          <a:xfrm>
            <a:off x="7712836" y="4843846"/>
            <a:ext cx="856112" cy="222285"/>
          </a:xfrm>
          <a:prstGeom prst="rect">
            <a:avLst/>
          </a:prstGeom>
        </p:spPr>
      </p:pic>
    </p:spTree>
  </p:cSld>
  <p:clrMapOvr>
    <a:masterClrMapping/>
  </p:clrMapOvr>
  <p:extLst>
    <p:ext uri="{6950BFC3-D8DA-4A85-94F7-54DA5524770B}">
      <p188:commentRel xmlns:p188="http://schemas.microsoft.com/office/powerpoint/2018/8/main" r:id="rId6"/>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2826A-790E-339A-8983-68D95DA9535D}"/>
            </a:ext>
          </a:extLst>
        </p:cNvPr>
        <p:cNvGrpSpPr/>
        <p:nvPr/>
      </p:nvGrpSpPr>
      <p:grpSpPr>
        <a:xfrm>
          <a:off x="0" y="0"/>
          <a:ext cx="0" cy="0"/>
          <a:chOff x="0" y="0"/>
          <a:chExt cx="0" cy="0"/>
        </a:xfrm>
      </p:grpSpPr>
      <p:sp>
        <p:nvSpPr>
          <p:cNvPr id="2" name="title accent">
            <a:extLst>
              <a:ext uri="{FF2B5EF4-FFF2-40B4-BE49-F238E27FC236}">
                <a16:creationId xmlns:a16="http://schemas.microsoft.com/office/drawing/2014/main" id="{B99A02BF-2CA8-BB6E-8884-F6DBC9DD112C}"/>
              </a:ext>
            </a:extLst>
          </p:cNvPr>
          <p:cNvSpPr/>
          <p:nvPr/>
        </p:nvSpPr>
        <p:spPr>
          <a:xfrm>
            <a:off x="457200" y="384048"/>
            <a:ext cx="292608" cy="310896"/>
          </a:xfrm>
          <a:prstGeom prst="parallelogram">
            <a:avLst/>
          </a:prstGeom>
          <a:solidFill>
            <a:srgbClr val="FFE600"/>
          </a:solidFill>
          <a:ln>
            <a:noFill/>
          </a:ln>
        </p:spPr>
        <p:txBody>
          <a:bodyPr wrap="square" lIns="0" tIns="0" rIns="0" bIns="0" rtlCol="0" anchor="ctr">
            <a:no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800"/>
          </a:p>
        </p:txBody>
      </p:sp>
      <p:sp>
        <p:nvSpPr>
          <p:cNvPr id="19" name="footer rule">
            <a:extLst>
              <a:ext uri="{FF2B5EF4-FFF2-40B4-BE49-F238E27FC236}">
                <a16:creationId xmlns:a16="http://schemas.microsoft.com/office/drawing/2014/main" id="{B89ADC00-E79C-4461-FDD7-D8EF93574270}"/>
              </a:ext>
            </a:extLst>
          </p:cNvPr>
          <p:cNvSpPr/>
          <p:nvPr/>
        </p:nvSpPr>
        <p:spPr>
          <a:xfrm>
            <a:off x="457200" y="4773168"/>
            <a:ext cx="8229600" cy="0"/>
          </a:xfrm>
          <a:prstGeom prst="line">
            <a:avLst/>
          </a:prstGeom>
          <a:noFill/>
          <a:ln w="9525">
            <a:solidFill>
              <a:srgbClr val="C4C4CD"/>
            </a:solidFill>
          </a:ln>
        </p:spPr>
        <p:txBody>
          <a:bodyPr wrap="square" lIns="0" tIns="0" rIns="0" bIns="0" rtlCol="0" anchor="ctr">
            <a:no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800"/>
          </a:p>
        </p:txBody>
      </p:sp>
      <p:sp>
        <p:nvSpPr>
          <p:cNvPr id="20" name="Pie">
            <a:extLst>
              <a:ext uri="{FF2B5EF4-FFF2-40B4-BE49-F238E27FC236}">
                <a16:creationId xmlns:a16="http://schemas.microsoft.com/office/drawing/2014/main" id="{C9A60367-C128-8A95-F8C8-D16A2CE4CFED}"/>
              </a:ext>
            </a:extLst>
          </p:cNvPr>
          <p:cNvSpPr/>
          <p:nvPr/>
        </p:nvSpPr>
        <p:spPr>
          <a:xfrm>
            <a:off x="1112838" y="4851653"/>
            <a:ext cx="4572000" cy="228600"/>
          </a:xfrm>
          <a:prstGeom prst="rect">
            <a:avLst/>
          </a:prstGeom>
          <a:noFill/>
          <a:ln>
            <a:noFill/>
          </a:ln>
        </p:spPr>
        <p:txBody>
          <a:bodyPr wrap="square" lIns="0" tIns="0" rIns="0" bIns="0" rtlCol="0" anchor="ctr">
            <a:no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s-ES" sz="800">
                <a:solidFill>
                  <a:srgbClr val="747480"/>
                </a:solidFill>
                <a:latin typeface="Arial"/>
                <a:cs typeface="Arial"/>
              </a:rPr>
              <a:t>Gasto farmacéutico y sanitario · España</a:t>
            </a:r>
          </a:p>
        </p:txBody>
      </p:sp>
      <p:sp>
        <p:nvSpPr>
          <p:cNvPr id="21" name="Número de página">
            <a:extLst>
              <a:ext uri="{FF2B5EF4-FFF2-40B4-BE49-F238E27FC236}">
                <a16:creationId xmlns:a16="http://schemas.microsoft.com/office/drawing/2014/main" id="{4585D7A6-43C8-9D99-F61D-F86AAF38A086}"/>
              </a:ext>
            </a:extLst>
          </p:cNvPr>
          <p:cNvSpPr/>
          <p:nvPr/>
        </p:nvSpPr>
        <p:spPr>
          <a:xfrm>
            <a:off x="457200" y="4818888"/>
            <a:ext cx="548640" cy="228600"/>
          </a:xfrm>
          <a:prstGeom prst="rect">
            <a:avLst/>
          </a:prstGeom>
          <a:noFill/>
          <a:ln>
            <a:noFill/>
          </a:ln>
        </p:spPr>
        <p:txBody>
          <a:bodyPr wrap="square" lIns="0" tIns="0" rIns="0" bIns="0" rtlCol="0" anchor="ctr">
            <a:no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s-ES" sz="800">
                <a:solidFill>
                  <a:srgbClr val="747480"/>
                </a:solidFill>
                <a:latin typeface="Arial"/>
                <a:cs typeface="Arial"/>
              </a:rPr>
              <a:t>Página 6</a:t>
            </a:r>
          </a:p>
        </p:txBody>
      </p:sp>
      <p:pic>
        <p:nvPicPr>
          <p:cNvPr id="22" name="Logo" descr="EY - European Financial Congress">
            <a:extLst>
              <a:ext uri="{FF2B5EF4-FFF2-40B4-BE49-F238E27FC236}">
                <a16:creationId xmlns:a16="http://schemas.microsoft.com/office/drawing/2014/main" id="{A632F279-1E0D-2ADB-353C-722D031F39CC}"/>
              </a:ext>
            </a:extLst>
          </p:cNvPr>
          <p:cNvPicPr>
            <a:picLocks noChangeAspect="1"/>
          </p:cNvPicPr>
          <p:nvPr/>
        </p:nvPicPr>
        <p:blipFill>
          <a:blip r:embed="rId3"/>
          <a:srcRect t="1" b="29614"/>
          <a:stretch>
            <a:fillRect/>
          </a:stretch>
        </p:blipFill>
        <p:spPr>
          <a:xfrm>
            <a:off x="8635998" y="4749794"/>
            <a:ext cx="482580" cy="369819"/>
          </a:xfrm>
          <a:prstGeom prst="rect">
            <a:avLst/>
          </a:prstGeom>
        </p:spPr>
      </p:pic>
      <p:sp>
        <p:nvSpPr>
          <p:cNvPr id="300" name="Tarjeta 1"/>
          <p:cNvSpPr/>
          <p:nvPr/>
        </p:nvSpPr>
        <p:spPr>
          <a:xfrm>
            <a:off x="457200" y="1237500"/>
            <a:ext cx="2628900" cy="2700000"/>
          </a:xfrm>
          <a:prstGeom prst="rect">
            <a:avLst/>
          </a:prstGeom>
          <a:solidFill>
            <a:srgbClr val="F3F3F5"/>
          </a:solidFill>
          <a:ln>
            <a:no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013"/>
          </a:p>
        </p:txBody>
      </p:sp>
      <p:sp>
        <p:nvSpPr>
          <p:cNvPr id="310" name="Acento 1"/>
          <p:cNvSpPr/>
          <p:nvPr/>
        </p:nvSpPr>
        <p:spPr>
          <a:xfrm>
            <a:off x="457200" y="1237500"/>
            <a:ext cx="2628900" cy="48006"/>
          </a:xfrm>
          <a:prstGeom prst="rect">
            <a:avLst/>
          </a:prstGeom>
          <a:solidFill>
            <a:srgbClr val="FFE600"/>
          </a:solidFill>
          <a:ln>
            <a:no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013"/>
          </a:p>
        </p:txBody>
      </p:sp>
      <p:sp>
        <p:nvSpPr>
          <p:cNvPr id="301" name="Tarjeta 2"/>
          <p:cNvSpPr/>
          <p:nvPr/>
        </p:nvSpPr>
        <p:spPr>
          <a:xfrm>
            <a:off x="3257550" y="1237500"/>
            <a:ext cx="2628900" cy="2700000"/>
          </a:xfrm>
          <a:prstGeom prst="rect">
            <a:avLst/>
          </a:prstGeom>
          <a:solidFill>
            <a:srgbClr val="F3F3F5"/>
          </a:solidFill>
          <a:ln>
            <a:no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013"/>
          </a:p>
        </p:txBody>
      </p:sp>
      <p:sp>
        <p:nvSpPr>
          <p:cNvPr id="311" name="Acento 2"/>
          <p:cNvSpPr/>
          <p:nvPr/>
        </p:nvSpPr>
        <p:spPr>
          <a:xfrm>
            <a:off x="3257550" y="1237500"/>
            <a:ext cx="2628900" cy="48006"/>
          </a:xfrm>
          <a:prstGeom prst="rect">
            <a:avLst/>
          </a:prstGeom>
          <a:solidFill>
            <a:srgbClr val="FFE600"/>
          </a:solidFill>
          <a:ln>
            <a:no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013"/>
          </a:p>
        </p:txBody>
      </p:sp>
      <p:sp>
        <p:nvSpPr>
          <p:cNvPr id="302" name="Tarjeta 3"/>
          <p:cNvSpPr/>
          <p:nvPr/>
        </p:nvSpPr>
        <p:spPr>
          <a:xfrm>
            <a:off x="6057900" y="1237500"/>
            <a:ext cx="2628900" cy="2700000"/>
          </a:xfrm>
          <a:prstGeom prst="rect">
            <a:avLst/>
          </a:prstGeom>
          <a:solidFill>
            <a:srgbClr val="F3F3F5"/>
          </a:solidFill>
          <a:ln>
            <a:no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013"/>
          </a:p>
        </p:txBody>
      </p:sp>
      <p:sp>
        <p:nvSpPr>
          <p:cNvPr id="312" name="Acento 3"/>
          <p:cNvSpPr/>
          <p:nvPr/>
        </p:nvSpPr>
        <p:spPr>
          <a:xfrm>
            <a:off x="6057900" y="1237500"/>
            <a:ext cx="2628900" cy="48006"/>
          </a:xfrm>
          <a:prstGeom prst="rect">
            <a:avLst/>
          </a:prstGeom>
          <a:solidFill>
            <a:srgbClr val="FFE600"/>
          </a:solidFill>
          <a:ln>
            <a:no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013"/>
          </a:p>
        </p:txBody>
      </p:sp>
      <p:sp>
        <p:nvSpPr>
          <p:cNvPr id="36" name="Text 8">
            <a:extLst>
              <a:ext uri="{FF2B5EF4-FFF2-40B4-BE49-F238E27FC236}">
                <a16:creationId xmlns:a16="http://schemas.microsoft.com/office/drawing/2014/main" id="{68BDC5B9-F5BD-F506-2A16-35E4774E3E19}"/>
              </a:ext>
            </a:extLst>
          </p:cNvPr>
          <p:cNvSpPr/>
          <p:nvPr/>
        </p:nvSpPr>
        <p:spPr>
          <a:xfrm>
            <a:off x="594360" y="1342500"/>
            <a:ext cx="2354580" cy="320040"/>
          </a:xfrm>
          <a:prstGeom prst="rect">
            <a:avLst/>
          </a:prstGeom>
          <a:noFill/>
          <a:ln/>
        </p:spPr>
        <p:txBody>
          <a:bodyPr wrap="square" lIns="0" tIns="0" rIns="0" bIns="0" rtlCol="0" anchor="ctr">
            <a:norm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200" b="1">
                <a:solidFill>
                  <a:srgbClr val="2E2E38"/>
                </a:solidFill>
                <a:latin typeface="EYInterstate Light"/>
              </a:rPr>
              <a:t>Población más envejecida</a:t>
            </a:r>
            <a:endParaRPr lang="en-US" sz="1200">
              <a:latin typeface="EYInterstate Light"/>
            </a:endParaRPr>
          </a:p>
        </p:txBody>
      </p:sp>
      <p:sp>
        <p:nvSpPr>
          <p:cNvPr id="56" name="Text 18">
            <a:extLst>
              <a:ext uri="{FF2B5EF4-FFF2-40B4-BE49-F238E27FC236}">
                <a16:creationId xmlns:a16="http://schemas.microsoft.com/office/drawing/2014/main" id="{BF10F05C-D320-DF29-7D52-2841FEC59ECD}"/>
              </a:ext>
            </a:extLst>
          </p:cNvPr>
          <p:cNvSpPr/>
          <p:nvPr/>
        </p:nvSpPr>
        <p:spPr>
          <a:xfrm>
            <a:off x="594360" y="3015000"/>
            <a:ext cx="2354580" cy="660000"/>
          </a:xfrm>
          <a:prstGeom prst="rect">
            <a:avLst/>
          </a:prstGeom>
          <a:noFill/>
          <a:ln/>
        </p:spPr>
        <p:txBody>
          <a:bodyPr wrap="square" lIns="191" tIns="191" rIns="191" bIns="191" rtlCol="0" anchor="ctr">
            <a:norm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100">
                <a:latin typeface="EYInterstate Light"/>
              </a:rPr>
              <a:t>Asturias </a:t>
            </a:r>
            <a:r>
              <a:rPr lang="en-US" sz="1100" err="1">
                <a:latin typeface="EYInterstate Light"/>
              </a:rPr>
              <a:t>supera</a:t>
            </a:r>
            <a:r>
              <a:rPr lang="en-US" sz="1100">
                <a:latin typeface="EYInterstate Light"/>
              </a:rPr>
              <a:t> a Cataluña </a:t>
            </a:r>
            <a:r>
              <a:rPr lang="en-US" sz="1100" err="1">
                <a:latin typeface="EYInterstate Light"/>
              </a:rPr>
              <a:t>en</a:t>
            </a:r>
            <a:r>
              <a:rPr lang="en-US" sz="1100">
                <a:latin typeface="EYInterstate Light"/>
              </a:rPr>
              <a:t> </a:t>
            </a:r>
            <a:r>
              <a:rPr lang="en-US" sz="1100" err="1">
                <a:latin typeface="EYInterstate Light"/>
              </a:rPr>
              <a:t>casi</a:t>
            </a:r>
            <a:r>
              <a:rPr lang="en-US" sz="1100">
                <a:latin typeface="EYInterstate Light"/>
              </a:rPr>
              <a:t> 9 puntos de población de 65+ </a:t>
            </a:r>
            <a:r>
              <a:rPr lang="en-US" sz="1100" err="1">
                <a:latin typeface="EYInterstate Light"/>
              </a:rPr>
              <a:t>años</a:t>
            </a:r>
            <a:r>
              <a:rPr lang="en-US" sz="1100">
                <a:latin typeface="EYInterstate Light"/>
              </a:rPr>
              <a:t>.</a:t>
            </a:r>
          </a:p>
        </p:txBody>
      </p:sp>
      <p:sp>
        <p:nvSpPr>
          <p:cNvPr id="80" name="Text 30">
            <a:extLst>
              <a:ext uri="{FF2B5EF4-FFF2-40B4-BE49-F238E27FC236}">
                <a16:creationId xmlns:a16="http://schemas.microsoft.com/office/drawing/2014/main" id="{CA33E952-5630-D104-C469-9B2AB71988DF}"/>
              </a:ext>
            </a:extLst>
          </p:cNvPr>
          <p:cNvSpPr/>
          <p:nvPr/>
        </p:nvSpPr>
        <p:spPr>
          <a:xfrm>
            <a:off x="6195060" y="1342500"/>
            <a:ext cx="2354580" cy="320040"/>
          </a:xfrm>
          <a:prstGeom prst="rect">
            <a:avLst/>
          </a:prstGeom>
          <a:noFill/>
          <a:ln/>
        </p:spPr>
        <p:txBody>
          <a:bodyPr wrap="square" lIns="0" tIns="0" rIns="0" bIns="0" rtlCol="0" anchor="ctr">
            <a:norm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200" b="1">
                <a:solidFill>
                  <a:srgbClr val="2E2E38"/>
                </a:solidFill>
                <a:latin typeface="EYInterstate Light"/>
              </a:rPr>
              <a:t>Políticas y organización sanitaria</a:t>
            </a:r>
            <a:endParaRPr lang="en-US" sz="1200">
              <a:latin typeface="EYInterstate Light"/>
            </a:endParaRPr>
          </a:p>
        </p:txBody>
      </p:sp>
      <p:sp>
        <p:nvSpPr>
          <p:cNvPr id="104" name="insights strip">
            <a:extLst>
              <a:ext uri="{FF2B5EF4-FFF2-40B4-BE49-F238E27FC236}">
                <a16:creationId xmlns:a16="http://schemas.microsoft.com/office/drawing/2014/main" id="{D496802B-2D42-B2F7-4D06-90FC7C9BB65B}"/>
              </a:ext>
            </a:extLst>
          </p:cNvPr>
          <p:cNvSpPr/>
          <p:nvPr/>
        </p:nvSpPr>
        <p:spPr>
          <a:xfrm>
            <a:off x="478903" y="4185117"/>
            <a:ext cx="8200664" cy="478324"/>
          </a:xfrm>
          <a:prstGeom prst="rect">
            <a:avLst/>
          </a:prstGeom>
          <a:solidFill>
            <a:srgbClr val="1A1A24"/>
          </a:solidFill>
          <a:ln>
            <a:noFill/>
          </a:ln>
        </p:spPr>
        <p:txBody>
          <a:bodyPr wrap="square" lIns="0" tIns="0" rIns="0" bIns="0" rtlCol="0" anchor="ctr">
            <a:no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800"/>
          </a:p>
        </p:txBody>
      </p:sp>
      <p:sp>
        <p:nvSpPr>
          <p:cNvPr id="106" name="bar">
            <a:extLst>
              <a:ext uri="{FF2B5EF4-FFF2-40B4-BE49-F238E27FC236}">
                <a16:creationId xmlns:a16="http://schemas.microsoft.com/office/drawing/2014/main" id="{29A60BE5-FC4E-54D6-9E47-B99F17E24A5F}"/>
              </a:ext>
            </a:extLst>
          </p:cNvPr>
          <p:cNvSpPr/>
          <p:nvPr/>
        </p:nvSpPr>
        <p:spPr>
          <a:xfrm>
            <a:off x="457200" y="4175760"/>
            <a:ext cx="54864" cy="502920"/>
          </a:xfrm>
          <a:prstGeom prst="rect">
            <a:avLst/>
          </a:prstGeom>
          <a:solidFill>
            <a:srgbClr val="FFE600"/>
          </a:solidFill>
          <a:ln>
            <a:noFill/>
          </a:ln>
        </p:spPr>
        <p:txBody>
          <a:bodyPr wrap="square" lIns="0" tIns="0" rIns="0" bIns="0" rtlCol="0" anchor="ctr">
            <a:no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800"/>
          </a:p>
        </p:txBody>
      </p:sp>
      <p:sp>
        <p:nvSpPr>
          <p:cNvPr id="110" name="Conclusiones">
            <a:extLst>
              <a:ext uri="{FF2B5EF4-FFF2-40B4-BE49-F238E27FC236}">
                <a16:creationId xmlns:a16="http://schemas.microsoft.com/office/drawing/2014/main" id="{6C48081E-18E3-7B62-DA5B-619BD6CB388E}"/>
              </a:ext>
            </a:extLst>
          </p:cNvPr>
          <p:cNvSpPr/>
          <p:nvPr/>
        </p:nvSpPr>
        <p:spPr>
          <a:xfrm>
            <a:off x="733546" y="4199584"/>
            <a:ext cx="7837796" cy="463857"/>
          </a:xfrm>
          <a:prstGeom prst="rect">
            <a:avLst/>
          </a:prstGeom>
          <a:noFill/>
          <a:ln>
            <a:noFill/>
          </a:ln>
        </p:spPr>
        <p:txBody>
          <a:bodyPr wrap="square" lIns="0" tIns="0" rIns="0" bIns="0" rtlCol="0" anchor="ctr">
            <a:no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s-ES" sz="1050" b="1">
                <a:solidFill>
                  <a:srgbClr val="FFFFFF"/>
                </a:solidFill>
                <a:latin typeface="Arial"/>
                <a:ea typeface="+mn-lt"/>
                <a:cs typeface="Arial"/>
              </a:rPr>
              <a:t>La brecha no responde a una sola causa, sino a la combinación de envejecimiento, utilización farmacéutica y políticas sanitarias territoriales.</a:t>
            </a:r>
            <a:endParaRPr lang="en-US" sz="1800">
              <a:solidFill>
                <a:srgbClr val="000000"/>
              </a:solidFill>
              <a:latin typeface="Calibri" panose="020F0502020204030204"/>
              <a:ea typeface="Calibri" panose="020F0502020204030204"/>
              <a:cs typeface="Calibri" panose="020F0502020204030204"/>
            </a:endParaRPr>
          </a:p>
        </p:txBody>
      </p:sp>
      <p:sp>
        <p:nvSpPr>
          <p:cNvPr id="114" name="Text 3">
            <a:extLst>
              <a:ext uri="{FF2B5EF4-FFF2-40B4-BE49-F238E27FC236}">
                <a16:creationId xmlns:a16="http://schemas.microsoft.com/office/drawing/2014/main" id="{1F1848BB-BFD5-8C6D-BCBE-FB0E3C8AC059}"/>
              </a:ext>
            </a:extLst>
          </p:cNvPr>
          <p:cNvSpPr/>
          <p:nvPr/>
        </p:nvSpPr>
        <p:spPr>
          <a:xfrm>
            <a:off x="826782" y="332194"/>
            <a:ext cx="7791208" cy="732909"/>
          </a:xfrm>
          <a:prstGeom prst="rect">
            <a:avLst/>
          </a:prstGeom>
          <a:noFill/>
          <a:ln/>
        </p:spPr>
        <p:txBody>
          <a:bodyPr wrap="square" lIns="0" tIns="0" rIns="0" bIns="0" rtlCol="0" anchor="ct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s-ES" sz="2000" b="1">
                <a:solidFill>
                  <a:srgbClr val="1A1A24"/>
                </a:solidFill>
                <a:latin typeface="EYInterstate"/>
                <a:cs typeface="Arial"/>
              </a:rPr>
              <a:t>La brecha no depende solo del gasto: demografía y gestión ayudan a explicarla</a:t>
            </a:r>
          </a:p>
        </p:txBody>
      </p:sp>
      <p:sp>
        <p:nvSpPr>
          <p:cNvPr id="123" name="Text 24">
            <a:extLst>
              <a:ext uri="{FF2B5EF4-FFF2-40B4-BE49-F238E27FC236}">
                <a16:creationId xmlns:a16="http://schemas.microsoft.com/office/drawing/2014/main" id="{490C4BEE-E7EB-B302-9783-3DA54B1C9525}"/>
              </a:ext>
            </a:extLst>
          </p:cNvPr>
          <p:cNvSpPr/>
          <p:nvPr/>
        </p:nvSpPr>
        <p:spPr>
          <a:xfrm>
            <a:off x="6297930" y="1747500"/>
            <a:ext cx="2175000" cy="308136"/>
          </a:xfrm>
          <a:prstGeom prst="rect">
            <a:avLst/>
          </a:prstGeom>
          <a:noFill/>
          <a:ln/>
        </p:spPr>
        <p:txBody>
          <a:bodyPr wrap="square" lIns="0" tIns="0" rIns="0" bIns="0" rtlCol="0" anchor="ct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100">
                <a:solidFill>
                  <a:srgbClr val="747480"/>
                </a:solidFill>
                <a:latin typeface="EYInterstate Light"/>
              </a:rPr>
              <a:t>También pueden influir:</a:t>
            </a:r>
            <a:endParaRPr lang="en-US" sz="1100">
              <a:latin typeface="EYInterstate Light"/>
            </a:endParaRPr>
          </a:p>
        </p:txBody>
      </p:sp>
      <p:sp>
        <p:nvSpPr>
          <p:cNvPr id="124" name="Text 25">
            <a:extLst>
              <a:ext uri="{FF2B5EF4-FFF2-40B4-BE49-F238E27FC236}">
                <a16:creationId xmlns:a16="http://schemas.microsoft.com/office/drawing/2014/main" id="{4495AD5B-E319-7A8C-A67C-B705C83D849C}"/>
              </a:ext>
            </a:extLst>
          </p:cNvPr>
          <p:cNvSpPr/>
          <p:nvPr/>
        </p:nvSpPr>
        <p:spPr>
          <a:xfrm>
            <a:off x="6297930" y="2070000"/>
            <a:ext cx="2250000" cy="701802"/>
          </a:xfrm>
          <a:prstGeom prst="rect">
            <a:avLst/>
          </a:prstGeom>
          <a:noFill/>
          <a:ln/>
        </p:spPr>
        <p:txBody>
          <a:bodyPr wrap="square" lIns="0" tIns="0" rIns="0" bIns="0" rtlCol="0" anchor="ctr">
            <a:norm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85743" indent="-285743">
              <a:buFont typeface="Arial"/>
              <a:buChar char="•"/>
            </a:pPr>
            <a:r>
              <a:rPr lang="en-US" sz="1100" err="1">
                <a:solidFill>
                  <a:srgbClr val="2E2E38"/>
                </a:solidFill>
                <a:latin typeface="Segoe UI"/>
                <a:cs typeface="Segoe UI"/>
              </a:rPr>
              <a:t>Políticas</a:t>
            </a:r>
            <a:r>
              <a:rPr lang="en-US" sz="1100">
                <a:solidFill>
                  <a:srgbClr val="2E2E38"/>
                </a:solidFill>
                <a:latin typeface="Segoe UI"/>
                <a:cs typeface="Segoe UI"/>
              </a:rPr>
              <a:t> </a:t>
            </a:r>
            <a:r>
              <a:rPr lang="en-US" sz="1100" err="1">
                <a:solidFill>
                  <a:srgbClr val="2E2E38"/>
                </a:solidFill>
                <a:latin typeface="Segoe UI"/>
                <a:cs typeface="Segoe UI"/>
              </a:rPr>
              <a:t>sanitarias</a:t>
            </a:r>
            <a:endParaRPr lang="en-US" sz="1800" err="1"/>
          </a:p>
          <a:p>
            <a:pPr marL="285743" indent="-285743">
              <a:buFont typeface="Arial"/>
              <a:buChar char="•"/>
            </a:pPr>
            <a:r>
              <a:rPr lang="en-US" sz="1100" err="1">
                <a:solidFill>
                  <a:srgbClr val="2E2E38"/>
                </a:solidFill>
                <a:latin typeface="Segoe UI"/>
                <a:cs typeface="Segoe UI"/>
              </a:rPr>
              <a:t>Distribución</a:t>
            </a:r>
            <a:r>
              <a:rPr lang="en-US" sz="1100">
                <a:solidFill>
                  <a:srgbClr val="2E2E38"/>
                </a:solidFill>
                <a:latin typeface="Segoe UI"/>
                <a:cs typeface="Segoe UI"/>
              </a:rPr>
              <a:t> de </a:t>
            </a:r>
            <a:r>
              <a:rPr lang="en-US" sz="1100" err="1">
                <a:solidFill>
                  <a:srgbClr val="2E2E38"/>
                </a:solidFill>
                <a:latin typeface="Segoe UI"/>
                <a:cs typeface="Segoe UI"/>
              </a:rPr>
              <a:t>recursos</a:t>
            </a:r>
            <a:endParaRPr lang="en-US" sz="1800" err="1"/>
          </a:p>
          <a:p>
            <a:pPr marL="285743" indent="-285743">
              <a:buFont typeface="Arial"/>
              <a:buChar char="•"/>
            </a:pPr>
            <a:r>
              <a:rPr lang="en-US" sz="1100">
                <a:solidFill>
                  <a:srgbClr val="2E2E38"/>
                </a:solidFill>
                <a:latin typeface="Segoe UI"/>
                <a:cs typeface="Segoe UI"/>
              </a:rPr>
              <a:t>Modelo de </a:t>
            </a:r>
            <a:r>
              <a:rPr lang="en-US" sz="1100" err="1">
                <a:solidFill>
                  <a:srgbClr val="2E2E38"/>
                </a:solidFill>
                <a:latin typeface="Segoe UI"/>
                <a:cs typeface="Segoe UI"/>
              </a:rPr>
              <a:t>gestión</a:t>
            </a:r>
            <a:endParaRPr lang="en-US" sz="1800" err="1"/>
          </a:p>
        </p:txBody>
      </p:sp>
      <p:sp>
        <p:nvSpPr>
          <p:cNvPr id="125" name="Text 26">
            <a:extLst>
              <a:ext uri="{FF2B5EF4-FFF2-40B4-BE49-F238E27FC236}">
                <a16:creationId xmlns:a16="http://schemas.microsoft.com/office/drawing/2014/main" id="{B28C520F-1CAF-0C0D-1611-AFBF34B4EA25}"/>
              </a:ext>
            </a:extLst>
          </p:cNvPr>
          <p:cNvSpPr/>
          <p:nvPr/>
        </p:nvSpPr>
        <p:spPr>
          <a:xfrm>
            <a:off x="6195060" y="3015000"/>
            <a:ext cx="2354580" cy="660000"/>
          </a:xfrm>
          <a:prstGeom prst="rect">
            <a:avLst/>
          </a:prstGeom>
          <a:noFill/>
          <a:ln/>
        </p:spPr>
        <p:txBody>
          <a:bodyPr wrap="square" lIns="0" tIns="0" rIns="0" bIns="0" rtlCol="0" anchor="ctr">
            <a:norm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100">
                <a:latin typeface="EYInterstate Light"/>
              </a:rPr>
              <a:t>La brecha responde probablemente a varios factores combinados.</a:t>
            </a:r>
          </a:p>
        </p:txBody>
      </p:sp>
      <p:sp>
        <p:nvSpPr>
          <p:cNvPr id="132" name="Text 11">
            <a:extLst>
              <a:ext uri="{FF2B5EF4-FFF2-40B4-BE49-F238E27FC236}">
                <a16:creationId xmlns:a16="http://schemas.microsoft.com/office/drawing/2014/main" id="{200F3D9B-C0D1-8E5A-534F-5735BCA217C1}"/>
              </a:ext>
            </a:extLst>
          </p:cNvPr>
          <p:cNvSpPr/>
          <p:nvPr/>
        </p:nvSpPr>
        <p:spPr>
          <a:xfrm>
            <a:off x="3394710" y="1342500"/>
            <a:ext cx="2354580" cy="320040"/>
          </a:xfrm>
          <a:prstGeom prst="rect">
            <a:avLst/>
          </a:prstGeom>
          <a:noFill/>
          <a:ln/>
        </p:spPr>
        <p:txBody>
          <a:bodyPr wrap="square" lIns="0" tIns="0" rIns="0" bIns="0" rtlCol="0" anchor="ctr">
            <a:norm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200" b="1">
                <a:solidFill>
                  <a:srgbClr val="2E2E38"/>
                </a:solidFill>
                <a:latin typeface="EYInterstate Light"/>
              </a:rPr>
              <a:t>Uso </a:t>
            </a:r>
            <a:r>
              <a:rPr lang="en-US" sz="1200" b="1" err="1">
                <a:solidFill>
                  <a:srgbClr val="2E2E38"/>
                </a:solidFill>
                <a:latin typeface="EYInterstate Light"/>
              </a:rPr>
              <a:t>farmacéutico</a:t>
            </a:r>
            <a:endParaRPr lang="en-US" sz="1200">
              <a:latin typeface="EYInterstate Light"/>
            </a:endParaRPr>
          </a:p>
        </p:txBody>
      </p:sp>
      <p:sp>
        <p:nvSpPr>
          <p:cNvPr id="133" name="Text 19">
            <a:extLst>
              <a:ext uri="{FF2B5EF4-FFF2-40B4-BE49-F238E27FC236}">
                <a16:creationId xmlns:a16="http://schemas.microsoft.com/office/drawing/2014/main" id="{FC8CF7CC-A09C-4A50-0BB6-66B0981AF81A}"/>
              </a:ext>
            </a:extLst>
          </p:cNvPr>
          <p:cNvSpPr/>
          <p:nvPr/>
        </p:nvSpPr>
        <p:spPr>
          <a:xfrm>
            <a:off x="4320540" y="1815000"/>
            <a:ext cx="1462500" cy="703386"/>
          </a:xfrm>
          <a:prstGeom prst="rect">
            <a:avLst/>
          </a:prstGeom>
          <a:noFill/>
          <a:ln/>
        </p:spPr>
        <p:txBody>
          <a:bodyPr wrap="square" lIns="0" tIns="0" rIns="0" bIns="0" rtlCol="0" anchor="ctr">
            <a:norm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85743" indent="-285743">
              <a:buFont typeface="Arial"/>
              <a:buChar char="•"/>
            </a:pPr>
            <a:r>
              <a:rPr lang="en-US" sz="1100">
                <a:solidFill>
                  <a:srgbClr val="2E2E38"/>
                </a:solidFill>
                <a:latin typeface="Segoe UI"/>
                <a:cs typeface="Segoe UI"/>
              </a:rPr>
              <a:t>Más </a:t>
            </a:r>
            <a:r>
              <a:rPr lang="en-US" sz="1100" err="1">
                <a:solidFill>
                  <a:srgbClr val="2E2E38"/>
                </a:solidFill>
                <a:latin typeface="Segoe UI"/>
                <a:cs typeface="Segoe UI"/>
              </a:rPr>
              <a:t>tratamientos</a:t>
            </a:r>
            <a:endParaRPr lang="en-US" sz="1800" err="1"/>
          </a:p>
          <a:p>
            <a:pPr marL="285743" indent="-285743">
              <a:buFont typeface="Arial"/>
              <a:buChar char="•"/>
            </a:pPr>
            <a:r>
              <a:rPr lang="en-US" sz="1100">
                <a:solidFill>
                  <a:srgbClr val="2E2E38"/>
                </a:solidFill>
                <a:latin typeface="Segoe UI"/>
                <a:cs typeface="Segoe UI"/>
              </a:rPr>
              <a:t>Más </a:t>
            </a:r>
            <a:r>
              <a:rPr lang="en-US" sz="1100" err="1">
                <a:solidFill>
                  <a:srgbClr val="2E2E38"/>
                </a:solidFill>
                <a:latin typeface="Segoe UI"/>
                <a:cs typeface="Segoe UI"/>
              </a:rPr>
              <a:t>recetas</a:t>
            </a:r>
            <a:endParaRPr lang="en-US" sz="1800" err="1"/>
          </a:p>
          <a:p>
            <a:pPr marL="285743" indent="-285743">
              <a:buFont typeface="Arial"/>
              <a:buChar char="•"/>
            </a:pPr>
            <a:r>
              <a:rPr lang="en-US" sz="1100">
                <a:solidFill>
                  <a:srgbClr val="2E2E38"/>
                </a:solidFill>
                <a:latin typeface="Segoe UI"/>
                <a:cs typeface="Segoe UI"/>
              </a:rPr>
              <a:t>Mayor </a:t>
            </a:r>
            <a:r>
              <a:rPr lang="en-US" sz="1100" err="1">
                <a:solidFill>
                  <a:srgbClr val="2E2E38"/>
                </a:solidFill>
                <a:latin typeface="Segoe UI"/>
                <a:cs typeface="Segoe UI"/>
              </a:rPr>
              <a:t>consumo</a:t>
            </a:r>
            <a:r>
              <a:rPr lang="en-US" sz="1100">
                <a:solidFill>
                  <a:srgbClr val="2E2E38"/>
                </a:solidFill>
                <a:latin typeface="Segoe UI"/>
                <a:cs typeface="Segoe UI"/>
              </a:rPr>
              <a:t> </a:t>
            </a:r>
            <a:r>
              <a:rPr lang="en-US" sz="1100" err="1">
                <a:solidFill>
                  <a:srgbClr val="2E2E38"/>
                </a:solidFill>
                <a:latin typeface="Segoe UI"/>
                <a:cs typeface="Segoe UI"/>
              </a:rPr>
              <a:t>sanitario</a:t>
            </a:r>
            <a:endParaRPr lang="en-US" sz="1800" err="1"/>
          </a:p>
        </p:txBody>
      </p:sp>
      <p:sp>
        <p:nvSpPr>
          <p:cNvPr id="134" name="Text 21">
            <a:extLst>
              <a:ext uri="{FF2B5EF4-FFF2-40B4-BE49-F238E27FC236}">
                <a16:creationId xmlns:a16="http://schemas.microsoft.com/office/drawing/2014/main" id="{B0D5001F-78C4-487F-1540-86F32260FAD5}"/>
              </a:ext>
            </a:extLst>
          </p:cNvPr>
          <p:cNvSpPr/>
          <p:nvPr/>
        </p:nvSpPr>
        <p:spPr>
          <a:xfrm>
            <a:off x="3394710" y="3015000"/>
            <a:ext cx="2354580" cy="660000"/>
          </a:xfrm>
          <a:prstGeom prst="rect">
            <a:avLst/>
          </a:prstGeom>
          <a:noFill/>
          <a:ln/>
        </p:spPr>
        <p:txBody>
          <a:bodyPr wrap="square" lIns="0" tIns="0" rIns="0" bIns="0" rtlCol="0" anchor="ctr">
            <a:norm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100">
                <a:latin typeface="EYInterstate Light"/>
              </a:rPr>
              <a:t>No solo importa cuánto se gasta, sino el uso de medicamentos.</a:t>
            </a:r>
          </a:p>
        </p:txBody>
      </p:sp>
      <p:pic>
        <p:nvPicPr>
          <p:cNvPr id="139" name="Graphic 138">
            <a:extLst>
              <a:ext uri="{FF2B5EF4-FFF2-40B4-BE49-F238E27FC236}">
                <a16:creationId xmlns:a16="http://schemas.microsoft.com/office/drawing/2014/main" id="{B6290567-77C9-49FF-7536-8975F56CAD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97580" y="1815000"/>
            <a:ext cx="707478" cy="707478"/>
          </a:xfrm>
          <a:prstGeom prst="rect">
            <a:avLst/>
          </a:prstGeom>
        </p:spPr>
      </p:pic>
      <p:sp>
        <p:nvSpPr>
          <p:cNvPr id="201" name="Fuente gráfico"/>
          <p:cNvSpPr txBox="1"/>
          <p:nvPr/>
        </p:nvSpPr>
        <p:spPr>
          <a:xfrm>
            <a:off x="594360" y="3720000"/>
            <a:ext cx="2354580" cy="150000"/>
          </a:xfrm>
          <a:prstGeom prst="rect">
            <a:avLst/>
          </a:prstGeom>
          <a:noFill/>
        </p:spPr>
        <p:txBody>
          <a:bodyPr wrap="square" lIns="0" tIns="0" rIns="0" bIns="0" anchor="ctr">
            <a:normAutofit/>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s-ES" sz="750" i="1">
                <a:solidFill>
                  <a:srgbClr val="747480"/>
                </a:solidFill>
                <a:latin typeface="Arial"/>
              </a:rPr>
              <a:t>% población de 65+ años · Fuente: INE (2025)</a:t>
            </a:r>
          </a:p>
        </p:txBody>
      </p:sp>
      <p:sp>
        <p:nvSpPr>
          <p:cNvPr id="320" name="Divisor 1"/>
          <p:cNvSpPr/>
          <p:nvPr/>
        </p:nvSpPr>
        <p:spPr>
          <a:xfrm>
            <a:off x="594360" y="2962500"/>
            <a:ext cx="2354580" cy="6858"/>
          </a:xfrm>
          <a:prstGeom prst="rect">
            <a:avLst/>
          </a:prstGeom>
          <a:solidFill>
            <a:srgbClr val="C4C4CD"/>
          </a:solidFill>
          <a:ln>
            <a:no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013"/>
          </a:p>
        </p:txBody>
      </p:sp>
      <p:sp>
        <p:nvSpPr>
          <p:cNvPr id="321" name="Divisor 2"/>
          <p:cNvSpPr/>
          <p:nvPr/>
        </p:nvSpPr>
        <p:spPr>
          <a:xfrm>
            <a:off x="3394710" y="2962500"/>
            <a:ext cx="2354580" cy="6858"/>
          </a:xfrm>
          <a:prstGeom prst="rect">
            <a:avLst/>
          </a:prstGeom>
          <a:solidFill>
            <a:srgbClr val="C4C4CD"/>
          </a:solidFill>
          <a:ln>
            <a:no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013"/>
          </a:p>
        </p:txBody>
      </p:sp>
      <p:sp>
        <p:nvSpPr>
          <p:cNvPr id="322" name="Divisor 3"/>
          <p:cNvSpPr/>
          <p:nvPr/>
        </p:nvSpPr>
        <p:spPr>
          <a:xfrm>
            <a:off x="6195060" y="2962500"/>
            <a:ext cx="2354580" cy="6858"/>
          </a:xfrm>
          <a:prstGeom prst="rect">
            <a:avLst/>
          </a:prstGeom>
          <a:solidFill>
            <a:srgbClr val="C4C4CD"/>
          </a:solidFill>
          <a:ln>
            <a:noFill/>
          </a:ln>
        </p:spPr>
        <p:txBody>
          <a:bodyPr/>
          <a:ls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s-ES" sz="1013"/>
          </a:p>
        </p:txBody>
      </p:sp>
      <p:pic>
        <p:nvPicPr>
          <p:cNvPr id="4" name="Picture 3">
            <a:extLst>
              <a:ext uri="{FF2B5EF4-FFF2-40B4-BE49-F238E27FC236}">
                <a16:creationId xmlns:a16="http://schemas.microsoft.com/office/drawing/2014/main" id="{D93B2F6A-B92A-8713-448C-CFE740C32745}"/>
              </a:ext>
            </a:extLst>
          </p:cNvPr>
          <p:cNvPicPr>
            <a:picLocks noChangeAspect="1"/>
          </p:cNvPicPr>
          <p:nvPr/>
        </p:nvPicPr>
        <p:blipFill>
          <a:blip r:embed="rId5"/>
          <a:stretch>
            <a:fillRect/>
          </a:stretch>
        </p:blipFill>
        <p:spPr>
          <a:xfrm>
            <a:off x="604838" y="1746885"/>
            <a:ext cx="2226945" cy="1078230"/>
          </a:xfrm>
          <a:prstGeom prst="rect">
            <a:avLst/>
          </a:prstGeom>
        </p:spPr>
      </p:pic>
      <p:pic>
        <p:nvPicPr>
          <p:cNvPr id="5" name="Picture 4" descr="Página Principal | Formación Consejería de Salud Asturias">
            <a:extLst>
              <a:ext uri="{FF2B5EF4-FFF2-40B4-BE49-F238E27FC236}">
                <a16:creationId xmlns:a16="http://schemas.microsoft.com/office/drawing/2014/main" id="{35F3F4BA-AB07-4BD3-82EF-794B0F94C435}"/>
              </a:ext>
            </a:extLst>
          </p:cNvPr>
          <p:cNvPicPr>
            <a:picLocks noChangeAspect="1"/>
          </p:cNvPicPr>
          <p:nvPr/>
        </p:nvPicPr>
        <p:blipFill>
          <a:blip r:embed="rId6"/>
          <a:stretch>
            <a:fillRect/>
          </a:stretch>
        </p:blipFill>
        <p:spPr>
          <a:xfrm>
            <a:off x="7712836" y="4843846"/>
            <a:ext cx="856112" cy="222285"/>
          </a:xfrm>
          <a:prstGeom prst="rect">
            <a:avLst/>
          </a:prstGeom>
        </p:spPr>
      </p:pic>
    </p:spTree>
    <p:extLst>
      <p:ext uri="{BB962C8B-B14F-4D97-AF65-F5344CB8AC3E}">
        <p14:creationId xmlns:p14="http://schemas.microsoft.com/office/powerpoint/2010/main" val="1637996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C4D5C3E-B963-F570-AF60-9178A3B3342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2" name="thinkcell data - do not delete" hidden="1">
                        <a:extLst>
                          <a:ext uri="{FF2B5EF4-FFF2-40B4-BE49-F238E27FC236}">
                            <a16:creationId xmlns:a16="http://schemas.microsoft.com/office/drawing/2014/main" id="{DC4D5C3E-B963-F570-AF60-9178A3B3342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title accent">
            <a:extLst>
              <a:ext uri="{C183D7F6-B498-43B3-948B-1728B52AA6E4}">
                <adec:decorative xmlns:adec="http://schemas.microsoft.com/office/drawing/2017/decorative" val="1"/>
              </a:ext>
            </a:extLst>
          </p:cNvPr>
          <p:cNvSpPr/>
          <p:nvPr/>
        </p:nvSpPr>
        <p:spPr>
          <a:xfrm>
            <a:off x="457200" y="384048"/>
            <a:ext cx="292608" cy="310896"/>
          </a:xfrm>
          <a:prstGeom prst="parallelogram">
            <a:avLst/>
          </a:prstGeom>
          <a:solidFill>
            <a:srgbClr val="FFE600"/>
          </a:solidFill>
          <a:ln/>
        </p:spPr>
        <p:txBody>
          <a:bodyPr/>
          <a:lstStyle/>
          <a:p>
            <a:endParaRPr lang="es-ES">
              <a:latin typeface="EYInterstate Light"/>
            </a:endParaRPr>
          </a:p>
        </p:txBody>
      </p:sp>
      <p:sp>
        <p:nvSpPr>
          <p:cNvPr id="5" name="Text 3"/>
          <p:cNvSpPr/>
          <p:nvPr/>
        </p:nvSpPr>
        <p:spPr>
          <a:xfrm>
            <a:off x="841248" y="296023"/>
            <a:ext cx="4638277" cy="530352"/>
          </a:xfrm>
          <a:prstGeom prst="rect">
            <a:avLst/>
          </a:prstGeom>
          <a:noFill/>
          <a:ln/>
        </p:spPr>
        <p:txBody>
          <a:bodyPr wrap="square" lIns="0" tIns="0" rIns="0" bIns="0" rtlCol="0" anchor="ctr"/>
          <a:lstStyle/>
          <a:p>
            <a:pPr marL="0" indent="0">
              <a:buNone/>
            </a:pPr>
            <a:r>
              <a:rPr lang="en-US" sz="2200" b="1" err="1">
                <a:solidFill>
                  <a:srgbClr val="1A1A24"/>
                </a:solidFill>
                <a:latin typeface="EYInterstate"/>
                <a:ea typeface="Arial" pitchFamily="34" charset="-122"/>
                <a:cs typeface="Arial"/>
              </a:rPr>
              <a:t>Conclusiones</a:t>
            </a:r>
            <a:endParaRPr lang="en-US" sz="2200" b="1" err="1">
              <a:solidFill>
                <a:srgbClr val="1A1A24"/>
              </a:solidFill>
              <a:latin typeface="EYInterstate"/>
              <a:cs typeface="Arial"/>
            </a:endParaRPr>
          </a:p>
        </p:txBody>
      </p:sp>
      <p:sp>
        <p:nvSpPr>
          <p:cNvPr id="6" name="footer rule">
            <a:extLst>
              <a:ext uri="{C183D7F6-B498-43B3-948B-1728B52AA6E4}">
                <adec:decorative xmlns:adec="http://schemas.microsoft.com/office/drawing/2017/decorative" val="1"/>
              </a:ext>
            </a:extLst>
          </p:cNvPr>
          <p:cNvSpPr/>
          <p:nvPr/>
        </p:nvSpPr>
        <p:spPr>
          <a:xfrm>
            <a:off x="457200" y="4773168"/>
            <a:ext cx="8229600" cy="0"/>
          </a:xfrm>
          <a:prstGeom prst="line">
            <a:avLst/>
          </a:prstGeom>
          <a:noFill/>
          <a:ln w="9525">
            <a:solidFill>
              <a:srgbClr val="C4C4CD"/>
            </a:solidFill>
            <a:prstDash val="solid"/>
          </a:ln>
        </p:spPr>
        <p:txBody>
          <a:bodyPr/>
          <a:lstStyle/>
          <a:p>
            <a:endParaRPr lang="es-ES">
              <a:latin typeface="EYInterstate Light"/>
            </a:endParaRPr>
          </a:p>
        </p:txBody>
      </p:sp>
      <p:sp>
        <p:nvSpPr>
          <p:cNvPr id="7" name="Text 5"/>
          <p:cNvSpPr/>
          <p:nvPr/>
        </p:nvSpPr>
        <p:spPr>
          <a:xfrm>
            <a:off x="1024465" y="4818888"/>
            <a:ext cx="4572000" cy="228600"/>
          </a:xfrm>
          <a:prstGeom prst="rect">
            <a:avLst/>
          </a:prstGeom>
          <a:noFill/>
          <a:ln/>
        </p:spPr>
        <p:txBody>
          <a:bodyPr wrap="square" lIns="0" tIns="0" rIns="0" bIns="0" rtlCol="0" anchor="ctr"/>
          <a:lstStyle/>
          <a:p>
            <a:pPr marL="0" indent="0">
              <a:buNone/>
            </a:pPr>
            <a:r>
              <a:rPr lang="en-US" sz="800">
                <a:solidFill>
                  <a:srgbClr val="747480"/>
                </a:solidFill>
                <a:latin typeface="EYInterstate Light"/>
                <a:ea typeface="Arial" pitchFamily="34" charset="-122"/>
                <a:cs typeface="Arial" pitchFamily="34" charset="-120"/>
              </a:rPr>
              <a:t>Gasto farmacéutico y sanitario · España</a:t>
            </a:r>
            <a:endParaRPr lang="en-US" sz="800">
              <a:latin typeface="EYInterstate Light"/>
            </a:endParaRPr>
          </a:p>
        </p:txBody>
      </p:sp>
      <p:sp>
        <p:nvSpPr>
          <p:cNvPr id="28" name="accent">
            <a:extLst>
              <a:ext uri="{C183D7F6-B498-43B3-948B-1728B52AA6E4}">
                <adec:decorative xmlns:adec="http://schemas.microsoft.com/office/drawing/2017/decorative" val="1"/>
              </a:ext>
            </a:extLst>
          </p:cNvPr>
          <p:cNvSpPr/>
          <p:nvPr/>
        </p:nvSpPr>
        <p:spPr>
          <a:xfrm>
            <a:off x="7208120" y="417109"/>
            <a:ext cx="274320" cy="274320"/>
          </a:xfrm>
          <a:prstGeom prst="parallelogram">
            <a:avLst/>
          </a:prstGeom>
          <a:solidFill>
            <a:srgbClr val="FFE600"/>
          </a:solidFill>
          <a:ln/>
        </p:spPr>
        <p:txBody>
          <a:bodyPr/>
          <a:lstStyle/>
          <a:p>
            <a:endParaRPr lang="es-ES">
              <a:latin typeface="EYInterstate Light"/>
            </a:endParaRPr>
          </a:p>
        </p:txBody>
      </p:sp>
      <p:sp>
        <p:nvSpPr>
          <p:cNvPr id="29" name="Text 27"/>
          <p:cNvSpPr/>
          <p:nvPr/>
        </p:nvSpPr>
        <p:spPr>
          <a:xfrm>
            <a:off x="7573880" y="389677"/>
            <a:ext cx="738223" cy="329184"/>
          </a:xfrm>
          <a:prstGeom prst="rect">
            <a:avLst/>
          </a:prstGeom>
          <a:noFill/>
          <a:ln/>
        </p:spPr>
        <p:txBody>
          <a:bodyPr wrap="square" lIns="0" tIns="0" rIns="0" bIns="0" rtlCol="0" anchor="ctr"/>
          <a:lstStyle/>
          <a:p>
            <a:pPr marL="0" indent="0">
              <a:buNone/>
            </a:pPr>
            <a:r>
              <a:rPr lang="en-US" sz="1300" b="1" err="1">
                <a:solidFill>
                  <a:srgbClr val="1A1A24"/>
                </a:solidFill>
                <a:latin typeface="EYInterstate Light"/>
                <a:ea typeface="Arial" pitchFamily="34" charset="-122"/>
                <a:cs typeface="Arial" pitchFamily="34" charset="-120"/>
              </a:rPr>
              <a:t>Gráficos</a:t>
            </a:r>
            <a:endParaRPr lang="en-US" sz="1300">
              <a:latin typeface="EYInterstate Light"/>
            </a:endParaRPr>
          </a:p>
        </p:txBody>
      </p:sp>
      <p:pic>
        <p:nvPicPr>
          <p:cNvPr id="31" name="Picture 30" descr="EY - European Financial Congress">
            <a:extLst>
              <a:ext uri="{FF2B5EF4-FFF2-40B4-BE49-F238E27FC236}">
                <a16:creationId xmlns:a16="http://schemas.microsoft.com/office/drawing/2014/main" id="{5FBC0E2E-44EF-B447-5845-18B42AAE3036}"/>
              </a:ext>
            </a:extLst>
          </p:cNvPr>
          <p:cNvPicPr>
            <a:picLocks noChangeAspect="1"/>
          </p:cNvPicPr>
          <p:nvPr/>
        </p:nvPicPr>
        <p:blipFill>
          <a:blip r:embed="rId7"/>
          <a:srcRect t="1" b="29614"/>
          <a:stretch>
            <a:fillRect/>
          </a:stretch>
        </p:blipFill>
        <p:spPr>
          <a:xfrm>
            <a:off x="8635998" y="4749793"/>
            <a:ext cx="482580" cy="369819"/>
          </a:xfrm>
          <a:prstGeom prst="rect">
            <a:avLst/>
          </a:prstGeom>
        </p:spPr>
      </p:pic>
      <p:sp>
        <p:nvSpPr>
          <p:cNvPr id="32" name="Número de página"/>
          <p:cNvSpPr txBox="1"/>
          <p:nvPr/>
        </p:nvSpPr>
        <p:spPr>
          <a:xfrm>
            <a:off x="457200" y="4818888"/>
            <a:ext cx="548640" cy="228600"/>
          </a:xfrm>
          <a:prstGeom prst="rect">
            <a:avLst/>
          </a:prstGeom>
          <a:noFill/>
        </p:spPr>
        <p:txBody>
          <a:bodyPr wrap="none" lIns="0" tIns="0" rIns="0" bIns="0" anchor="ctr">
            <a:noAutofit/>
          </a:bodyPr>
          <a:lstStyle/>
          <a:p>
            <a:pPr marL="0" indent="0">
              <a:buNone/>
            </a:pPr>
            <a:r>
              <a:rPr lang="es-ES" sz="800">
                <a:solidFill>
                  <a:srgbClr val="747480"/>
                </a:solidFill>
                <a:latin typeface="EYInterstate Light"/>
                <a:cs typeface="Arial"/>
              </a:rPr>
              <a:t>Página 7</a:t>
            </a:r>
          </a:p>
        </p:txBody>
      </p:sp>
      <p:grpSp>
        <p:nvGrpSpPr>
          <p:cNvPr id="44" name="Group 43">
            <a:extLst>
              <a:ext uri="{FF2B5EF4-FFF2-40B4-BE49-F238E27FC236}">
                <a16:creationId xmlns:a16="http://schemas.microsoft.com/office/drawing/2014/main" id="{560C21E9-61E4-4C04-2D51-41B6A069D1C8}"/>
              </a:ext>
            </a:extLst>
          </p:cNvPr>
          <p:cNvGrpSpPr/>
          <p:nvPr/>
        </p:nvGrpSpPr>
        <p:grpSpPr>
          <a:xfrm>
            <a:off x="241298" y="2387008"/>
            <a:ext cx="6178546" cy="694944"/>
            <a:chOff x="475487" y="1757363"/>
            <a:chExt cx="6372201" cy="694944"/>
          </a:xfrm>
        </p:grpSpPr>
        <p:grpSp>
          <p:nvGrpSpPr>
            <p:cNvPr id="35" name="Group 34">
              <a:extLst>
                <a:ext uri="{FF2B5EF4-FFF2-40B4-BE49-F238E27FC236}">
                  <a16:creationId xmlns:a16="http://schemas.microsoft.com/office/drawing/2014/main" id="{594277A0-BBC6-537D-DDB4-BAD773584E12}"/>
                </a:ext>
              </a:extLst>
            </p:cNvPr>
            <p:cNvGrpSpPr/>
            <p:nvPr/>
          </p:nvGrpSpPr>
          <p:grpSpPr>
            <a:xfrm>
              <a:off x="475487" y="1757363"/>
              <a:ext cx="5643429" cy="694944"/>
              <a:chOff x="475487" y="2543061"/>
              <a:chExt cx="5643429" cy="694944"/>
            </a:xfrm>
          </p:grpSpPr>
          <p:sp>
            <p:nvSpPr>
              <p:cNvPr id="22" name="finding card">
                <a:extLst>
                  <a:ext uri="{C183D7F6-B498-43B3-948B-1728B52AA6E4}">
                    <adec:decorative xmlns:adec="http://schemas.microsoft.com/office/drawing/2017/decorative" val="1"/>
                  </a:ext>
                </a:extLst>
              </p:cNvPr>
              <p:cNvSpPr/>
              <p:nvPr/>
            </p:nvSpPr>
            <p:spPr>
              <a:xfrm>
                <a:off x="475487" y="2543061"/>
                <a:ext cx="5643429" cy="694944"/>
              </a:xfrm>
              <a:prstGeom prst="rect">
                <a:avLst/>
              </a:prstGeom>
              <a:solidFill>
                <a:srgbClr val="FFFFFF"/>
              </a:solidFill>
              <a:ln w="9525">
                <a:solidFill>
                  <a:srgbClr val="C4C4CD"/>
                </a:solidFill>
                <a:prstDash val="solid"/>
              </a:ln>
            </p:spPr>
            <p:txBody>
              <a:bodyPr/>
              <a:lstStyle/>
              <a:p>
                <a:endParaRPr lang="es-ES">
                  <a:latin typeface="Arial"/>
                  <a:cs typeface="Arial"/>
                </a:endParaRPr>
              </a:p>
            </p:txBody>
          </p:sp>
          <p:sp>
            <p:nvSpPr>
              <p:cNvPr id="25" name="Text 23"/>
              <p:cNvSpPr/>
              <p:nvPr/>
            </p:nvSpPr>
            <p:spPr>
              <a:xfrm>
                <a:off x="1042415" y="2597925"/>
                <a:ext cx="4842745" cy="585216"/>
              </a:xfrm>
              <a:prstGeom prst="rect">
                <a:avLst/>
              </a:prstGeom>
              <a:noFill/>
              <a:ln/>
            </p:spPr>
            <p:txBody>
              <a:bodyPr wrap="square" lIns="0" tIns="0" rIns="0" bIns="0" rtlCol="0" anchor="ctr"/>
              <a:lstStyle/>
              <a:p>
                <a:pPr marL="0" indent="0">
                  <a:buNone/>
                </a:pPr>
                <a:r>
                  <a:rPr lang="es-ES" sz="1200" b="1" noProof="0">
                    <a:solidFill>
                      <a:srgbClr val="2E2E38"/>
                    </a:solidFill>
                    <a:latin typeface="Arial"/>
                    <a:ea typeface="Arial" pitchFamily="34" charset="-122"/>
                    <a:cs typeface="Arial"/>
                  </a:rPr>
                  <a:t>Más diferencias territoriales: </a:t>
                </a:r>
                <a:r>
                  <a:rPr lang="es-ES" sz="1200" noProof="0">
                    <a:solidFill>
                      <a:srgbClr val="2E2E38"/>
                    </a:solidFill>
                    <a:latin typeface="Arial"/>
                    <a:ea typeface="Arial" pitchFamily="34" charset="-122"/>
                    <a:cs typeface="Arial"/>
                  </a:rPr>
                  <a:t>Aparte del envejecimiento, hay otras variables como la estructura demográfica, las necesidades</a:t>
                </a:r>
                <a:r>
                  <a:rPr lang="es-ES" sz="1200" b="1" noProof="0">
                    <a:solidFill>
                      <a:srgbClr val="2E2E38"/>
                    </a:solidFill>
                    <a:latin typeface="Arial"/>
                    <a:ea typeface="Arial" pitchFamily="34" charset="-122"/>
                    <a:cs typeface="Arial"/>
                  </a:rPr>
                  <a:t> </a:t>
                </a:r>
                <a:r>
                  <a:rPr lang="es-ES" sz="1200" noProof="0">
                    <a:solidFill>
                      <a:srgbClr val="2E2E38"/>
                    </a:solidFill>
                    <a:latin typeface="Arial"/>
                    <a:ea typeface="Arial" pitchFamily="34" charset="-122"/>
                    <a:cs typeface="Arial"/>
                  </a:rPr>
                  <a:t>o la organización sanitaria que podrían contribuir a explicar las variaciones.</a:t>
                </a:r>
                <a:endParaRPr lang="es-ES" sz="1200" noProof="0">
                  <a:latin typeface="Arial"/>
                  <a:cs typeface="Arial"/>
                </a:endParaRPr>
              </a:p>
            </p:txBody>
          </p:sp>
        </p:grpSp>
        <p:sp>
          <p:nvSpPr>
            <p:cNvPr id="33" name="finding card">
              <a:extLst>
                <a:ext uri="{C183D7F6-B498-43B3-948B-1728B52AA6E4}">
                  <adec:decorative xmlns:adec="http://schemas.microsoft.com/office/drawing/2017/decorative" val="1"/>
                </a:ext>
              </a:extLst>
            </p:cNvPr>
            <p:cNvSpPr/>
            <p:nvPr/>
          </p:nvSpPr>
          <p:spPr>
            <a:xfrm>
              <a:off x="475487" y="1757363"/>
              <a:ext cx="6372201" cy="694944"/>
            </a:xfrm>
            <a:prstGeom prst="rect">
              <a:avLst/>
            </a:prstGeom>
            <a:solidFill>
              <a:srgbClr val="FFFFFF"/>
            </a:solidFill>
            <a:ln w="9525">
              <a:solidFill>
                <a:srgbClr val="C4C4CD"/>
              </a:solidFill>
              <a:prstDash val="solid"/>
            </a:ln>
          </p:spPr>
          <p:txBody>
            <a:bodyPr/>
            <a:lstStyle/>
            <a:p>
              <a:endParaRPr lang="es-ES">
                <a:latin typeface="Arial"/>
                <a:cs typeface="Arial"/>
              </a:endParaRPr>
            </a:p>
          </p:txBody>
        </p:sp>
        <p:sp>
          <p:nvSpPr>
            <p:cNvPr id="38" name="badge">
              <a:extLst>
                <a:ext uri="{C183D7F6-B498-43B3-948B-1728B52AA6E4}">
                  <adec:decorative xmlns:adec="http://schemas.microsoft.com/office/drawing/2017/decorative" val="1"/>
                </a:ext>
              </a:extLst>
            </p:cNvPr>
            <p:cNvSpPr/>
            <p:nvPr/>
          </p:nvSpPr>
          <p:spPr>
            <a:xfrm>
              <a:off x="599386" y="1931099"/>
              <a:ext cx="328765" cy="347472"/>
            </a:xfrm>
            <a:prstGeom prst="ellipse">
              <a:avLst/>
            </a:prstGeom>
            <a:solidFill>
              <a:srgbClr val="FFE600"/>
            </a:solidFill>
            <a:ln/>
          </p:spPr>
          <p:txBody>
            <a:bodyPr/>
            <a:lstStyle/>
            <a:p>
              <a:endParaRPr lang="es-ES">
                <a:latin typeface="Arial"/>
                <a:cs typeface="Arial"/>
              </a:endParaRPr>
            </a:p>
          </p:txBody>
        </p:sp>
        <p:sp>
          <p:nvSpPr>
            <p:cNvPr id="39" name="Text 22"/>
            <p:cNvSpPr/>
            <p:nvPr/>
          </p:nvSpPr>
          <p:spPr>
            <a:xfrm>
              <a:off x="571886" y="1931099"/>
              <a:ext cx="392343" cy="347472"/>
            </a:xfrm>
            <a:prstGeom prst="rect">
              <a:avLst/>
            </a:prstGeom>
            <a:noFill/>
            <a:ln/>
          </p:spPr>
          <p:txBody>
            <a:bodyPr wrap="square" lIns="0" tIns="0" rIns="0" bIns="0" rtlCol="0" anchor="ctr"/>
            <a:lstStyle/>
            <a:p>
              <a:pPr marL="0" indent="0" algn="ctr">
                <a:buNone/>
              </a:pPr>
              <a:r>
                <a:rPr lang="en-US" sz="1200" b="1">
                  <a:solidFill>
                    <a:srgbClr val="1A1A24"/>
                  </a:solidFill>
                  <a:latin typeface="Arial"/>
                  <a:cs typeface="Arial"/>
                </a:rPr>
                <a:t>2</a:t>
              </a:r>
              <a:endParaRPr lang="en-US" sz="1200">
                <a:latin typeface="Arial"/>
                <a:cs typeface="Arial"/>
              </a:endParaRPr>
            </a:p>
          </p:txBody>
        </p:sp>
        <p:sp>
          <p:nvSpPr>
            <p:cNvPr id="41" name="Text 23"/>
            <p:cNvSpPr/>
            <p:nvPr/>
          </p:nvSpPr>
          <p:spPr>
            <a:xfrm>
              <a:off x="1115626" y="1812227"/>
              <a:ext cx="5468120" cy="585216"/>
            </a:xfrm>
            <a:prstGeom prst="rect">
              <a:avLst/>
            </a:prstGeom>
            <a:noFill/>
            <a:ln/>
          </p:spPr>
          <p:txBody>
            <a:bodyPr wrap="square" lIns="0" tIns="0" rIns="0" bIns="0" rtlCol="0" anchor="ctr"/>
            <a:lstStyle/>
            <a:p>
              <a:pPr marL="0" indent="0">
                <a:buNone/>
              </a:pPr>
              <a:r>
                <a:rPr lang="es-ES" sz="1200" b="1" noProof="0">
                  <a:solidFill>
                    <a:srgbClr val="2E2E38"/>
                  </a:solidFill>
                  <a:latin typeface="Arial"/>
                  <a:ea typeface="Arial" pitchFamily="34" charset="-122"/>
                  <a:cs typeface="Arial"/>
                </a:rPr>
                <a:t>Más diferencias territoriales: </a:t>
              </a:r>
              <a:r>
                <a:rPr lang="es-ES" sz="1200" noProof="0">
                  <a:solidFill>
                    <a:srgbClr val="2E2E38"/>
                  </a:solidFill>
                  <a:latin typeface="Arial"/>
                  <a:ea typeface="Arial" pitchFamily="34" charset="-122"/>
                  <a:cs typeface="Arial"/>
                </a:rPr>
                <a:t>Aparte del envejecimiento, hay otras variables como la </a:t>
              </a:r>
              <a:r>
                <a:rPr lang="es-ES" sz="1200" b="1" noProof="0">
                  <a:solidFill>
                    <a:srgbClr val="2E2E38"/>
                  </a:solidFill>
                  <a:latin typeface="Arial"/>
                  <a:ea typeface="Arial" pitchFamily="34" charset="-122"/>
                  <a:cs typeface="Arial"/>
                </a:rPr>
                <a:t>estructura demográfica</a:t>
              </a:r>
              <a:r>
                <a:rPr lang="es-ES" sz="1200" noProof="0">
                  <a:solidFill>
                    <a:srgbClr val="2E2E38"/>
                  </a:solidFill>
                  <a:latin typeface="Arial"/>
                  <a:ea typeface="Arial" pitchFamily="34" charset="-122"/>
                  <a:cs typeface="Arial"/>
                </a:rPr>
                <a:t>, las necesidades</a:t>
              </a:r>
              <a:r>
                <a:rPr lang="es-ES" sz="1200" b="1" noProof="0">
                  <a:solidFill>
                    <a:srgbClr val="2E2E38"/>
                  </a:solidFill>
                  <a:latin typeface="Arial"/>
                  <a:ea typeface="Arial" pitchFamily="34" charset="-122"/>
                  <a:cs typeface="Arial"/>
                </a:rPr>
                <a:t> </a:t>
              </a:r>
              <a:r>
                <a:rPr lang="es-ES" sz="1200" noProof="0">
                  <a:solidFill>
                    <a:srgbClr val="2E2E38"/>
                  </a:solidFill>
                  <a:latin typeface="Arial"/>
                  <a:ea typeface="Arial" pitchFamily="34" charset="-122"/>
                  <a:cs typeface="Arial"/>
                </a:rPr>
                <a:t>asistenciales</a:t>
              </a:r>
              <a:r>
                <a:rPr lang="es-ES" sz="1200" b="1" noProof="0">
                  <a:solidFill>
                    <a:srgbClr val="2E2E38"/>
                  </a:solidFill>
                  <a:latin typeface="Arial"/>
                  <a:ea typeface="Arial" pitchFamily="34" charset="-122"/>
                  <a:cs typeface="Arial"/>
                </a:rPr>
                <a:t> </a:t>
              </a:r>
              <a:r>
                <a:rPr lang="es-ES" sz="1200" noProof="0">
                  <a:solidFill>
                    <a:srgbClr val="2E2E38"/>
                  </a:solidFill>
                  <a:latin typeface="Arial"/>
                  <a:ea typeface="Arial" pitchFamily="34" charset="-122"/>
                  <a:cs typeface="Arial"/>
                </a:rPr>
                <a:t>o la organización sanitaria que podrían contribuir a explicar las variaciones.</a:t>
              </a:r>
              <a:endParaRPr lang="es-ES" sz="1200" noProof="0">
                <a:latin typeface="Arial"/>
                <a:cs typeface="Arial"/>
              </a:endParaRPr>
            </a:p>
          </p:txBody>
        </p:sp>
      </p:grpSp>
      <p:sp>
        <p:nvSpPr>
          <p:cNvPr id="40" name="bar">
            <a:extLst>
              <a:ext uri="{FF2B5EF4-FFF2-40B4-BE49-F238E27FC236}">
                <a16:creationId xmlns:a16="http://schemas.microsoft.com/office/drawing/2014/main" id="{FD635A1E-34E7-7923-DCBE-A70C0625A11C}"/>
              </a:ext>
              <a:ext uri="{C183D7F6-B498-43B3-948B-1728B52AA6E4}">
                <adec:decorative xmlns:adec="http://schemas.microsoft.com/office/drawing/2017/decorative" val="1"/>
              </a:ext>
            </a:extLst>
          </p:cNvPr>
          <p:cNvSpPr/>
          <p:nvPr/>
        </p:nvSpPr>
        <p:spPr>
          <a:xfrm>
            <a:off x="6249441" y="330906"/>
            <a:ext cx="60007" cy="4337348"/>
          </a:xfrm>
          <a:prstGeom prst="rect">
            <a:avLst/>
          </a:prstGeom>
          <a:solidFill>
            <a:srgbClr val="FFE600"/>
          </a:solidFill>
          <a:ln/>
        </p:spPr>
        <p:txBody>
          <a:bodyPr/>
          <a:lstStyle/>
          <a:p>
            <a:endParaRPr lang="es-ES" noProof="0">
              <a:latin typeface="EYInterstate Light"/>
            </a:endParaRPr>
          </a:p>
        </p:txBody>
      </p:sp>
      <p:grpSp>
        <p:nvGrpSpPr>
          <p:cNvPr id="47" name="Group 46">
            <a:extLst>
              <a:ext uri="{FF2B5EF4-FFF2-40B4-BE49-F238E27FC236}">
                <a16:creationId xmlns:a16="http://schemas.microsoft.com/office/drawing/2014/main" id="{C0FB47F9-5DC2-2D56-B8B4-DFAEABF02885}"/>
              </a:ext>
            </a:extLst>
          </p:cNvPr>
          <p:cNvGrpSpPr/>
          <p:nvPr/>
        </p:nvGrpSpPr>
        <p:grpSpPr>
          <a:xfrm>
            <a:off x="241295" y="1093323"/>
            <a:ext cx="6178549" cy="694944"/>
            <a:chOff x="475487" y="969963"/>
            <a:chExt cx="6372201" cy="694944"/>
          </a:xfrm>
        </p:grpSpPr>
        <p:sp>
          <p:nvSpPr>
            <p:cNvPr id="48" name="finding card">
              <a:extLst>
                <a:ext uri="{FF2B5EF4-FFF2-40B4-BE49-F238E27FC236}">
                  <a16:creationId xmlns:a16="http://schemas.microsoft.com/office/drawing/2014/main" id="{FF558C95-F091-1581-8CEF-D6268481A04F}"/>
                </a:ext>
                <a:ext uri="{C183D7F6-B498-43B3-948B-1728B52AA6E4}">
                  <adec:decorative xmlns:adec="http://schemas.microsoft.com/office/drawing/2017/decorative" val="1"/>
                </a:ext>
              </a:extLst>
            </p:cNvPr>
            <p:cNvSpPr/>
            <p:nvPr/>
          </p:nvSpPr>
          <p:spPr>
            <a:xfrm>
              <a:off x="475487" y="969963"/>
              <a:ext cx="6372201" cy="694944"/>
            </a:xfrm>
            <a:prstGeom prst="rect">
              <a:avLst/>
            </a:prstGeom>
            <a:solidFill>
              <a:srgbClr val="FFFFFF"/>
            </a:solidFill>
            <a:ln w="9525">
              <a:solidFill>
                <a:srgbClr val="C4C4CD"/>
              </a:solidFill>
              <a:prstDash val="solid"/>
            </a:ln>
          </p:spPr>
          <p:txBody>
            <a:bodyPr/>
            <a:lstStyle/>
            <a:p>
              <a:endParaRPr lang="es-ES">
                <a:latin typeface="Arial"/>
                <a:cs typeface="Arial"/>
              </a:endParaRPr>
            </a:p>
          </p:txBody>
        </p:sp>
        <p:sp>
          <p:nvSpPr>
            <p:cNvPr id="49" name="badge">
              <a:extLst>
                <a:ext uri="{FF2B5EF4-FFF2-40B4-BE49-F238E27FC236}">
                  <a16:creationId xmlns:a16="http://schemas.microsoft.com/office/drawing/2014/main" id="{BD31A752-FCE0-B1A9-EF44-4826E3D0928D}"/>
                </a:ext>
                <a:ext uri="{C183D7F6-B498-43B3-948B-1728B52AA6E4}">
                  <adec:decorative xmlns:adec="http://schemas.microsoft.com/office/drawing/2017/decorative" val="1"/>
                </a:ext>
              </a:extLst>
            </p:cNvPr>
            <p:cNvSpPr/>
            <p:nvPr/>
          </p:nvSpPr>
          <p:spPr>
            <a:xfrm>
              <a:off x="599386" y="1143699"/>
              <a:ext cx="328765" cy="347472"/>
            </a:xfrm>
            <a:prstGeom prst="ellipse">
              <a:avLst/>
            </a:prstGeom>
            <a:solidFill>
              <a:srgbClr val="FFE600"/>
            </a:solidFill>
            <a:ln/>
          </p:spPr>
          <p:txBody>
            <a:bodyPr/>
            <a:lstStyle/>
            <a:p>
              <a:endParaRPr lang="es-ES">
                <a:latin typeface="Arial"/>
                <a:cs typeface="Arial"/>
              </a:endParaRPr>
            </a:p>
          </p:txBody>
        </p:sp>
        <p:sp>
          <p:nvSpPr>
            <p:cNvPr id="50" name="Text 18">
              <a:extLst>
                <a:ext uri="{FF2B5EF4-FFF2-40B4-BE49-F238E27FC236}">
                  <a16:creationId xmlns:a16="http://schemas.microsoft.com/office/drawing/2014/main" id="{96FA81C7-6C96-3881-FDF3-81207606C68C}"/>
                </a:ext>
              </a:extLst>
            </p:cNvPr>
            <p:cNvSpPr/>
            <p:nvPr/>
          </p:nvSpPr>
          <p:spPr>
            <a:xfrm>
              <a:off x="571886" y="1143699"/>
              <a:ext cx="392343" cy="347472"/>
            </a:xfrm>
            <a:prstGeom prst="rect">
              <a:avLst/>
            </a:prstGeom>
            <a:noFill/>
            <a:ln/>
          </p:spPr>
          <p:txBody>
            <a:bodyPr wrap="square" lIns="0" tIns="0" rIns="0" bIns="0" rtlCol="0" anchor="ctr"/>
            <a:lstStyle/>
            <a:p>
              <a:pPr marL="0" indent="0" algn="ctr">
                <a:buNone/>
              </a:pPr>
              <a:r>
                <a:rPr lang="en-US" sz="1200" b="1">
                  <a:solidFill>
                    <a:srgbClr val="1A1A24"/>
                  </a:solidFill>
                  <a:latin typeface="Arial"/>
                  <a:cs typeface="Arial"/>
                </a:rPr>
                <a:t>1</a:t>
              </a:r>
              <a:endParaRPr lang="en-US" sz="1200">
                <a:latin typeface="Arial"/>
                <a:cs typeface="Arial"/>
              </a:endParaRPr>
            </a:p>
          </p:txBody>
        </p:sp>
        <p:sp>
          <p:nvSpPr>
            <p:cNvPr id="51" name="Text 19">
              <a:extLst>
                <a:ext uri="{FF2B5EF4-FFF2-40B4-BE49-F238E27FC236}">
                  <a16:creationId xmlns:a16="http://schemas.microsoft.com/office/drawing/2014/main" id="{F3DEEA11-96FE-99FA-4C85-7D9AA86409FC}"/>
                </a:ext>
              </a:extLst>
            </p:cNvPr>
            <p:cNvSpPr/>
            <p:nvPr/>
          </p:nvSpPr>
          <p:spPr>
            <a:xfrm>
              <a:off x="1115626" y="1024827"/>
              <a:ext cx="5468120" cy="585216"/>
            </a:xfrm>
            <a:prstGeom prst="rect">
              <a:avLst/>
            </a:prstGeom>
            <a:noFill/>
            <a:ln/>
          </p:spPr>
          <p:txBody>
            <a:bodyPr wrap="square" lIns="0" tIns="0" rIns="0" bIns="0" rtlCol="0" anchor="ctr"/>
            <a:lstStyle/>
            <a:p>
              <a:pPr marL="0" indent="0">
                <a:buNone/>
              </a:pPr>
              <a:r>
                <a:rPr lang="es-ES" sz="1200" b="1" noProof="0">
                  <a:solidFill>
                    <a:srgbClr val="2E2E38"/>
                  </a:solidFill>
                  <a:latin typeface="Arial"/>
                  <a:cs typeface="Arial"/>
                </a:rPr>
                <a:t>Influencia de la edad: </a:t>
              </a:r>
              <a:r>
                <a:rPr lang="es-ES" sz="1200">
                  <a:solidFill>
                    <a:srgbClr val="2E2E38"/>
                  </a:solidFill>
                  <a:latin typeface="Arial"/>
                  <a:cs typeface="Arial"/>
                </a:rPr>
                <a:t>Aunque h</a:t>
              </a:r>
              <a:r>
                <a:rPr lang="es-ES" sz="1200" noProof="0">
                  <a:solidFill>
                    <a:srgbClr val="2E2E38"/>
                  </a:solidFill>
                  <a:latin typeface="Arial"/>
                  <a:cs typeface="Arial"/>
                </a:rPr>
                <a:t>ay una fuerte concentración territorial del gasto, ya que entre Andalucía, Cataluña, Madrid y Valencia se concentra más de la mitad del gasto, el gasto por habitante muestra otra realidad</a:t>
              </a:r>
              <a:endParaRPr lang="es-ES" sz="1200" noProof="0">
                <a:latin typeface="Arial"/>
                <a:cs typeface="Arial"/>
              </a:endParaRPr>
            </a:p>
          </p:txBody>
        </p:sp>
      </p:grpSp>
      <p:grpSp>
        <p:nvGrpSpPr>
          <p:cNvPr id="43" name="Group 42">
            <a:extLst>
              <a:ext uri="{FF2B5EF4-FFF2-40B4-BE49-F238E27FC236}">
                <a16:creationId xmlns:a16="http://schemas.microsoft.com/office/drawing/2014/main" id="{B2E2EC51-1BBE-266B-9730-4EBC4A3CDDB4}"/>
              </a:ext>
            </a:extLst>
          </p:cNvPr>
          <p:cNvGrpSpPr/>
          <p:nvPr/>
        </p:nvGrpSpPr>
        <p:grpSpPr>
          <a:xfrm>
            <a:off x="241298" y="3678109"/>
            <a:ext cx="6178549" cy="694944"/>
            <a:chOff x="475487" y="2543175"/>
            <a:chExt cx="6372201" cy="694944"/>
          </a:xfrm>
        </p:grpSpPr>
        <p:sp>
          <p:nvSpPr>
            <p:cNvPr id="14" name="finding card">
              <a:extLst>
                <a:ext uri="{C183D7F6-B498-43B3-948B-1728B52AA6E4}">
                  <adec:decorative xmlns:adec="http://schemas.microsoft.com/office/drawing/2017/decorative" val="1"/>
                </a:ext>
              </a:extLst>
            </p:cNvPr>
            <p:cNvSpPr/>
            <p:nvPr/>
          </p:nvSpPr>
          <p:spPr>
            <a:xfrm>
              <a:off x="475487" y="2543175"/>
              <a:ext cx="6372201" cy="694944"/>
            </a:xfrm>
            <a:prstGeom prst="rect">
              <a:avLst/>
            </a:prstGeom>
            <a:solidFill>
              <a:srgbClr val="FFFFFF"/>
            </a:solidFill>
            <a:ln w="9525">
              <a:solidFill>
                <a:srgbClr val="C4C4CD"/>
              </a:solidFill>
              <a:prstDash val="solid"/>
            </a:ln>
          </p:spPr>
          <p:txBody>
            <a:bodyPr/>
            <a:lstStyle/>
            <a:p>
              <a:endParaRPr lang="es-ES">
                <a:latin typeface="Arial"/>
                <a:cs typeface="Arial"/>
              </a:endParaRPr>
            </a:p>
          </p:txBody>
        </p:sp>
        <p:sp>
          <p:nvSpPr>
            <p:cNvPr id="15" name="badge">
              <a:extLst>
                <a:ext uri="{C183D7F6-B498-43B3-948B-1728B52AA6E4}">
                  <adec:decorative xmlns:adec="http://schemas.microsoft.com/office/drawing/2017/decorative" val="1"/>
                </a:ext>
              </a:extLst>
            </p:cNvPr>
            <p:cNvSpPr/>
            <p:nvPr/>
          </p:nvSpPr>
          <p:spPr>
            <a:xfrm>
              <a:off x="599386" y="2716911"/>
              <a:ext cx="328765" cy="347472"/>
            </a:xfrm>
            <a:prstGeom prst="ellipse">
              <a:avLst/>
            </a:prstGeom>
            <a:solidFill>
              <a:srgbClr val="FFE600"/>
            </a:solidFill>
            <a:ln/>
          </p:spPr>
          <p:txBody>
            <a:bodyPr/>
            <a:lstStyle/>
            <a:p>
              <a:endParaRPr lang="es-ES">
                <a:latin typeface="Arial"/>
                <a:cs typeface="Arial"/>
              </a:endParaRPr>
            </a:p>
          </p:txBody>
        </p:sp>
        <p:sp>
          <p:nvSpPr>
            <p:cNvPr id="16" name="Text 14"/>
            <p:cNvSpPr/>
            <p:nvPr/>
          </p:nvSpPr>
          <p:spPr>
            <a:xfrm>
              <a:off x="571886" y="2716911"/>
              <a:ext cx="392343" cy="347472"/>
            </a:xfrm>
            <a:prstGeom prst="rect">
              <a:avLst/>
            </a:prstGeom>
            <a:noFill/>
            <a:ln/>
          </p:spPr>
          <p:txBody>
            <a:bodyPr wrap="square" lIns="0" tIns="0" rIns="0" bIns="0" rtlCol="0" anchor="ctr"/>
            <a:lstStyle/>
            <a:p>
              <a:pPr marL="0" indent="0" algn="ctr">
                <a:buNone/>
              </a:pPr>
              <a:r>
                <a:rPr lang="en-US" sz="1200" b="1">
                  <a:solidFill>
                    <a:srgbClr val="1A1A24"/>
                  </a:solidFill>
                  <a:latin typeface="Arial"/>
                  <a:cs typeface="Arial"/>
                </a:rPr>
                <a:t>3</a:t>
              </a:r>
              <a:endParaRPr lang="en-US" sz="1200">
                <a:latin typeface="Arial"/>
                <a:cs typeface="Arial"/>
              </a:endParaRPr>
            </a:p>
          </p:txBody>
        </p:sp>
        <p:sp>
          <p:nvSpPr>
            <p:cNvPr id="17" name="Text 15"/>
            <p:cNvSpPr/>
            <p:nvPr/>
          </p:nvSpPr>
          <p:spPr>
            <a:xfrm>
              <a:off x="1115626" y="2598039"/>
              <a:ext cx="5468120" cy="585216"/>
            </a:xfrm>
            <a:prstGeom prst="rect">
              <a:avLst/>
            </a:prstGeom>
            <a:noFill/>
            <a:ln/>
          </p:spPr>
          <p:txBody>
            <a:bodyPr wrap="square" lIns="0" tIns="0" rIns="0" bIns="0" rtlCol="0" anchor="ctr"/>
            <a:lstStyle/>
            <a:p>
              <a:pPr marL="0" indent="0">
                <a:buNone/>
              </a:pPr>
              <a:r>
                <a:rPr lang="es-ES" sz="1200" b="1" noProof="0">
                  <a:solidFill>
                    <a:srgbClr val="2E2E38"/>
                  </a:solidFill>
                  <a:latin typeface="Arial"/>
                  <a:ea typeface="Arial" pitchFamily="34" charset="-122"/>
                  <a:cs typeface="Arial"/>
                </a:rPr>
                <a:t>Volumen persistente: </a:t>
              </a:r>
              <a:r>
                <a:rPr lang="es-ES" sz="1200" noProof="0">
                  <a:solidFill>
                    <a:srgbClr val="2E2E38"/>
                  </a:solidFill>
                  <a:latin typeface="Arial"/>
                  <a:ea typeface="Arial" pitchFamily="34" charset="-122"/>
                  <a:cs typeface="Arial"/>
                </a:rPr>
                <a:t>El gasto en originales y genéricos, se mantiene estable entre un </a:t>
              </a:r>
              <a:r>
                <a:rPr lang="es-ES" sz="1200" b="1" noProof="0">
                  <a:solidFill>
                    <a:srgbClr val="2E2E38"/>
                  </a:solidFill>
                  <a:latin typeface="Arial"/>
                  <a:ea typeface="Arial" pitchFamily="34" charset="-122"/>
                  <a:cs typeface="Arial"/>
                </a:rPr>
                <a:t>60% y </a:t>
              </a:r>
              <a:r>
                <a:rPr lang="es-ES" sz="1200" b="1">
                  <a:solidFill>
                    <a:srgbClr val="2E2E38"/>
                  </a:solidFill>
                  <a:latin typeface="Arial"/>
                  <a:ea typeface="Arial" pitchFamily="34" charset="-122"/>
                  <a:cs typeface="Arial"/>
                </a:rPr>
                <a:t>15</a:t>
              </a:r>
              <a:r>
                <a:rPr lang="es-ES" sz="1200" b="1" noProof="0">
                  <a:solidFill>
                    <a:srgbClr val="2E2E38"/>
                  </a:solidFill>
                  <a:latin typeface="Arial"/>
                  <a:ea typeface="Arial" pitchFamily="34" charset="-122"/>
                  <a:cs typeface="Arial"/>
                </a:rPr>
                <a:t>%</a:t>
              </a:r>
              <a:r>
                <a:rPr lang="es-ES" sz="1200" noProof="0">
                  <a:solidFill>
                    <a:srgbClr val="2E2E38"/>
                  </a:solidFill>
                  <a:latin typeface="Arial"/>
                  <a:ea typeface="Arial" pitchFamily="34" charset="-122"/>
                  <a:cs typeface="Arial"/>
                </a:rPr>
                <a:t> respectivamente, mientras que los </a:t>
              </a:r>
              <a:r>
                <a:rPr lang="es-ES" sz="1200" b="1" noProof="0">
                  <a:solidFill>
                    <a:srgbClr val="2E2E38"/>
                  </a:solidFill>
                  <a:latin typeface="Arial"/>
                  <a:ea typeface="Arial" pitchFamily="34" charset="-122"/>
                  <a:cs typeface="Arial"/>
                </a:rPr>
                <a:t>biosimilares</a:t>
              </a:r>
              <a:r>
                <a:rPr lang="es-ES" sz="1200" noProof="0">
                  <a:solidFill>
                    <a:srgbClr val="2E2E38"/>
                  </a:solidFill>
                  <a:latin typeface="Arial"/>
                  <a:ea typeface="Arial" pitchFamily="34" charset="-122"/>
                  <a:cs typeface="Arial"/>
                </a:rPr>
                <a:t> tienen el crecimiento acumulado más alto (2,5%)</a:t>
              </a:r>
              <a:endParaRPr lang="es-ES" sz="1200" noProof="0">
                <a:latin typeface="Arial"/>
                <a:cs typeface="Arial"/>
              </a:endParaRPr>
            </a:p>
          </p:txBody>
        </p:sp>
      </p:grpSp>
      <p:graphicFrame>
        <p:nvGraphicFramePr>
          <p:cNvPr id="3" name="Chart 2">
            <a:extLst>
              <a:ext uri="{FF2B5EF4-FFF2-40B4-BE49-F238E27FC236}">
                <a16:creationId xmlns:a16="http://schemas.microsoft.com/office/drawing/2014/main" id="{C6701A84-FC64-8F10-E1C8-ED7ED0284037}"/>
              </a:ext>
            </a:extLst>
          </p:cNvPr>
          <p:cNvGraphicFramePr/>
          <p:nvPr>
            <p:extLst>
              <p:ext uri="{D42A27DB-BD31-4B8C-83A1-F6EECF244321}">
                <p14:modId xmlns:p14="http://schemas.microsoft.com/office/powerpoint/2010/main" val="193346766"/>
              </p:ext>
            </p:extLst>
          </p:nvPr>
        </p:nvGraphicFramePr>
        <p:xfrm>
          <a:off x="6279266" y="1529626"/>
          <a:ext cx="3146868" cy="2408198"/>
        </p:xfrm>
        <a:graphic>
          <a:graphicData uri="http://schemas.openxmlformats.org/drawingml/2006/chart">
            <c:chart xmlns:c="http://schemas.openxmlformats.org/drawingml/2006/chart" xmlns:r="http://schemas.openxmlformats.org/officeDocument/2006/relationships" r:id="rId8"/>
          </a:graphicData>
        </a:graphic>
      </p:graphicFrame>
      <p:pic>
        <p:nvPicPr>
          <p:cNvPr id="9" name="Picture 8" descr="Página Principal | Formación Consejería de Salud Asturias">
            <a:extLst>
              <a:ext uri="{FF2B5EF4-FFF2-40B4-BE49-F238E27FC236}">
                <a16:creationId xmlns:a16="http://schemas.microsoft.com/office/drawing/2014/main" id="{5CC783AC-6147-54E4-6225-1CDA75F2FAAC}"/>
              </a:ext>
            </a:extLst>
          </p:cNvPr>
          <p:cNvPicPr>
            <a:picLocks noChangeAspect="1"/>
          </p:cNvPicPr>
          <p:nvPr/>
        </p:nvPicPr>
        <p:blipFill>
          <a:blip r:embed="rId9"/>
          <a:stretch>
            <a:fillRect/>
          </a:stretch>
        </p:blipFill>
        <p:spPr>
          <a:xfrm>
            <a:off x="7712836" y="4843846"/>
            <a:ext cx="856112" cy="222285"/>
          </a:xfrm>
          <a:prstGeom prst="rect">
            <a:avLst/>
          </a:prstGeom>
        </p:spPr>
      </p:pic>
    </p:spTree>
    <p:extLst>
      <p:ext uri="{BB962C8B-B14F-4D97-AF65-F5344CB8AC3E}">
        <p14:creationId xmlns:p14="http://schemas.microsoft.com/office/powerpoint/2010/main" val="2026433699"/>
      </p:ext>
    </p:extLst>
  </p:cSld>
  <p:clrMapOvr>
    <a:masterClrMapping/>
  </p:clrMapOvr>
  <p:extLst>
    <p:ext uri="{6950BFC3-D8DA-4A85-94F7-54DA5524770B}">
      <p188:commentRel xmlns:p188="http://schemas.microsoft.com/office/powerpoint/2018/8/main" r:id="rId4"/>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0802E-D49D-1FEB-3AAE-58AE1FFDAA2C}"/>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2C15D29-EAD5-8281-F072-C9ACB1BAD65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3" progId="TCLayout.ActiveDocument.1">
                  <p:embed/>
                </p:oleObj>
              </mc:Choice>
              <mc:Fallback>
                <p:oleObj name="thinkcell Slide" r:id="rId3" imgW="404" imgH="403" progId="TCLayout.ActiveDocument.1">
                  <p:embed/>
                  <p:pic>
                    <p:nvPicPr>
                      <p:cNvPr id="3" name="thinkcell data - do not delete" hidden="1">
                        <a:extLst>
                          <a:ext uri="{FF2B5EF4-FFF2-40B4-BE49-F238E27FC236}">
                            <a16:creationId xmlns:a16="http://schemas.microsoft.com/office/drawing/2014/main" id="{52C15D29-EAD5-8281-F072-C9ACB1BAD65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3C9FEFD6-AAC4-902E-C660-C245389A5EA4}"/>
              </a:ext>
            </a:extLst>
          </p:cNvPr>
          <p:cNvSpPr>
            <a:spLocks noGrp="1"/>
          </p:cNvSpPr>
          <p:nvPr>
            <p:ph type="title"/>
          </p:nvPr>
        </p:nvSpPr>
        <p:spPr>
          <a:xfrm>
            <a:off x="667321" y="1916264"/>
            <a:ext cx="3586627" cy="1107768"/>
          </a:xfrm>
        </p:spPr>
        <p:txBody>
          <a:bodyPr vert="horz" rIns="91440"/>
          <a:lstStyle/>
          <a:p>
            <a:pPr algn="l"/>
            <a:r>
              <a:rPr lang="es-ES" sz="2200"/>
              <a:t>Muchas gracias por vuestra atención</a:t>
            </a:r>
          </a:p>
        </p:txBody>
      </p:sp>
      <p:sp>
        <p:nvSpPr>
          <p:cNvPr id="6" name="Text Placeholder 5">
            <a:extLst>
              <a:ext uri="{FF2B5EF4-FFF2-40B4-BE49-F238E27FC236}">
                <a16:creationId xmlns:a16="http://schemas.microsoft.com/office/drawing/2014/main" id="{AA26F77E-12C2-284D-E73E-54B44B1CECBE}"/>
              </a:ext>
            </a:extLst>
          </p:cNvPr>
          <p:cNvSpPr>
            <a:spLocks noGrp="1"/>
          </p:cNvSpPr>
          <p:nvPr>
            <p:ph type="body" sz="quarter" idx="10"/>
          </p:nvPr>
        </p:nvSpPr>
        <p:spPr>
          <a:xfrm>
            <a:off x="667321" y="3283800"/>
            <a:ext cx="3679508" cy="485118"/>
          </a:xfrm>
        </p:spPr>
        <p:txBody>
          <a:bodyPr/>
          <a:lstStyle/>
          <a:p>
            <a:r>
              <a:rPr lang="es-ES" sz="1050" b="0" err="1"/>
              <a:t>Ironhack</a:t>
            </a:r>
            <a:r>
              <a:rPr lang="es-ES" sz="1050" b="0"/>
              <a:t> 2026</a:t>
            </a:r>
          </a:p>
        </p:txBody>
      </p:sp>
      <p:pic>
        <p:nvPicPr>
          <p:cNvPr id="7" name="Picture 6" descr="EY - European Financial Congress">
            <a:extLst>
              <a:ext uri="{FF2B5EF4-FFF2-40B4-BE49-F238E27FC236}">
                <a16:creationId xmlns:a16="http://schemas.microsoft.com/office/drawing/2014/main" id="{3674B228-39AE-041F-5489-E7AD28C9059B}"/>
              </a:ext>
            </a:extLst>
          </p:cNvPr>
          <p:cNvPicPr>
            <a:picLocks noChangeAspect="1"/>
          </p:cNvPicPr>
          <p:nvPr/>
        </p:nvPicPr>
        <p:blipFill>
          <a:blip r:embed="rId5"/>
          <a:srcRect t="1" b="29614"/>
          <a:stretch>
            <a:fillRect/>
          </a:stretch>
        </p:blipFill>
        <p:spPr>
          <a:xfrm>
            <a:off x="7918041" y="4063236"/>
            <a:ext cx="1225959" cy="939498"/>
          </a:xfrm>
          <a:prstGeom prst="rect">
            <a:avLst/>
          </a:prstGeom>
        </p:spPr>
      </p:pic>
      <p:pic>
        <p:nvPicPr>
          <p:cNvPr id="11" name="Picture 10" descr="Página Principal | Formación Consejería de Salud Asturias">
            <a:extLst>
              <a:ext uri="{FF2B5EF4-FFF2-40B4-BE49-F238E27FC236}">
                <a16:creationId xmlns:a16="http://schemas.microsoft.com/office/drawing/2014/main" id="{79044912-35B4-9CD0-B561-E424E90EE822}"/>
              </a:ext>
            </a:extLst>
          </p:cNvPr>
          <p:cNvPicPr>
            <a:picLocks noChangeAspect="1"/>
          </p:cNvPicPr>
          <p:nvPr/>
        </p:nvPicPr>
        <p:blipFill>
          <a:blip r:embed="rId6"/>
          <a:stretch>
            <a:fillRect/>
          </a:stretch>
        </p:blipFill>
        <p:spPr>
          <a:xfrm>
            <a:off x="6562602" y="4532777"/>
            <a:ext cx="1355270" cy="330797"/>
          </a:xfrm>
          <a:prstGeom prst="rect">
            <a:avLst/>
          </a:prstGeom>
        </p:spPr>
      </p:pic>
    </p:spTree>
    <p:extLst>
      <p:ext uri="{BB962C8B-B14F-4D97-AF65-F5344CB8AC3E}">
        <p14:creationId xmlns:p14="http://schemas.microsoft.com/office/powerpoint/2010/main" val="23260225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USTOMLAYOUT" val="F"/>
  <p:tag name="EYLAYOUT" val="n_"/>
  <p:tag name="THINKCELLPRESENTATIONDONOTDELETE" val="&lt;?xml version=&quot;1.0&quot; encoding=&quot;UTF-16&quot; standalone=&quot;yes&quot;?&gt;&lt;root reqver=&quot;32687&quot;&gt;&lt;version val=&quot;38782&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yearfmt&gt;&lt;begin val=&quot;0&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quot;&gt;&lt;elem m_fUsage=&quot;1.00000000000000000000E+00&quot;&gt;&lt;m_msothmcolidx val=&quot;0&quot;/&gt;&lt;m_rgb r=&quot;FF&quot; g=&quot;E6&quot; b=&quot;00&quot;/&gt;&lt;/elem&gt;&lt;/m_vecMRU&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N5p9_HWzFccvmCrZzeXeg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49j2hIkfi2bajPmO23vD.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CBDA59A-CE5D-4D45-BBF4-BAA66606D347}">
  <we:reference id="c3b3159f-c9fe-4860-a4cb-a5d5f254c545" version="9.5.6.7" store="EXCatalog" storeType="EXCatalog"/>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0</TotalTime>
  <Words>1419</Words>
  <Application>Microsoft Office PowerPoint</Application>
  <PresentationFormat>On-screen Show (16:9)</PresentationFormat>
  <Paragraphs>221</Paragraphs>
  <Slides>8</Slides>
  <Notes>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5" baseType="lpstr">
      <vt:lpstr>Arial</vt:lpstr>
      <vt:lpstr>Calibri</vt:lpstr>
      <vt:lpstr>EYInterstate</vt:lpstr>
      <vt:lpstr>EYInterstate Light</vt:lpstr>
      <vt:lpstr>Segoe UI</vt:lpstr>
      <vt:lpstr>Office Theme</vt:lpstr>
      <vt:lpstr>thinkcell Slide</vt:lpstr>
      <vt:lpstr>Evolución del gasto farmacéutico y sanitario en España</vt:lpstr>
      <vt:lpstr>PowerPoint Presentation</vt:lpstr>
      <vt:lpstr>PowerPoint Presentation</vt:lpstr>
      <vt:lpstr>PowerPoint Presentation</vt:lpstr>
      <vt:lpstr>PowerPoint Presentation</vt:lpstr>
      <vt:lpstr>PowerPoint Presentation</vt:lpstr>
      <vt:lpstr>PowerPoint Presentation</vt:lpstr>
      <vt:lpstr>Muchas gracias por vuestra atención</vt:lpstr>
    </vt:vector>
  </TitlesOfParts>
  <Company>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Laia Maso I Reixach</dc:creator>
  <cp:lastModifiedBy>Carlos Herrera Guinart</cp:lastModifiedBy>
  <cp:revision>21</cp:revision>
  <dcterms:created xsi:type="dcterms:W3CDTF">2026-10-01T08:02:13Z</dcterms:created>
  <dcterms:modified xsi:type="dcterms:W3CDTF">2026-10-06T10:51:10Z</dcterms:modified>
</cp:coreProperties>
</file>