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7"/>
  </p:notesMasterIdLst>
  <p:sldIdLst>
    <p:sldId id="261" r:id="rId3"/>
    <p:sldId id="256" r:id="rId4"/>
    <p:sldId id="257" r:id="rId5"/>
    <p:sldId id="262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7214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5726B-857A-025B-6234-EF3E37C7D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634812-2C08-8207-ECAB-6BA19A269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E91C1-5D57-7E0C-50E8-6C39BF7D5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8F458-FD39-EE85-A482-6668BCA796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776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79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121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88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10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175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463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77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93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96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616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884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499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B40232-FF49-630A-1C94-1BAEAE7093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48" r="234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FAD0E7-92BD-02E3-6498-01FEE5EB2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s-ES" b="1"/>
              <a:t>CARS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99916B-89A5-2DE5-EFFB-C44AFA35A680}"/>
              </a:ext>
            </a:extLst>
          </p:cNvPr>
          <p:cNvSpPr txBox="1"/>
          <p:nvPr/>
        </p:nvSpPr>
        <p:spPr>
          <a:xfrm>
            <a:off x="8006507" y="5233393"/>
            <a:ext cx="101662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200">
                <a:solidFill>
                  <a:srgbClr val="697076"/>
                </a:solidFill>
              </a:defRPr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69707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Carlos e Iñaki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69707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5120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Anuncios de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coches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interactivo en Excel para analizar precio, marca y características de +46.000 anuncios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31089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2631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640080" y="336499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46.405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anuncios de coches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31089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2631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3474720" y="336499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distintas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31089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2631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6309360" y="336499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por anuncio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0" y="31089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2631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9144000" y="336499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2011–2021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matriculación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2578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 </a:t>
            </a:r>
            <a:r>
              <a:rPr lang="es-ES" sz="1400" i="1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Crear un buscador de automóviles en el mercado alemán entre los años 2011 y 2021 y poder ver sus características.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tabla de </a:t>
            </a:r>
            <a:r>
              <a:rPr lang="en-US" sz="3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 variable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“data” · 46.405 filas · 10 columnas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44880"/>
        </p:xfrm>
        <a:graphic>
          <a:graphicData uri="http://schemas.openxmlformats.org/drawingml/2006/table">
            <a:tbl>
              <a:tblPr/>
              <a:tblGrid>
                <a:gridCol w="1106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mileage (km)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Brand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fuel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Gear type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Condition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price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Horsepower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Car year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Price range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235000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BMW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316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Diesel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Manual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Used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6.800 €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116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2011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0-10k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92800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Volkswagen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Golf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Gasoline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Manual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Used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6.877 €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122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2011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0-10k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149300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SEAT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Exeo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Gasoline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Manual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Used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6.900 €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160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2011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A2A2A"/>
                          </a:solidFill>
                        </a:rPr>
                        <a:t>0-10k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79192"/>
            <a:ext cx="256032" cy="256032"/>
          </a:xfrm>
          <a:prstGeom prst="ellipse">
            <a:avLst/>
          </a:prstGeom>
          <a:solidFill>
            <a:srgbClr val="FF6B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 txBox="1"/>
          <p:nvPr/>
        </p:nvSpPr>
        <p:spPr>
          <a:xfrm>
            <a:off x="932688" y="2606040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 (km)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32688" y="2852928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Kilometraje del vehículo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63640" y="2679192"/>
            <a:ext cx="256032" cy="256032"/>
          </a:xfrm>
          <a:prstGeom prst="ellipse">
            <a:avLst/>
          </a:prstGeom>
          <a:solidFill>
            <a:srgbClr val="FF6B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 txBox="1"/>
          <p:nvPr/>
        </p:nvSpPr>
        <p:spPr>
          <a:xfrm>
            <a:off x="6647688" y="2606040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647688" y="2852928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del coche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3246120"/>
            <a:ext cx="256032" cy="256032"/>
          </a:xfrm>
          <a:prstGeom prst="ellipse">
            <a:avLst/>
          </a:prstGeom>
          <a:solidFill>
            <a:srgbClr val="FF6B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 txBox="1"/>
          <p:nvPr/>
        </p:nvSpPr>
        <p:spPr>
          <a:xfrm>
            <a:off x="932688" y="3172968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" y="341985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concreto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63640" y="3246120"/>
            <a:ext cx="256032" cy="256032"/>
          </a:xfrm>
          <a:prstGeom prst="ellipse">
            <a:avLst/>
          </a:prstGeom>
          <a:solidFill>
            <a:srgbClr val="FF6B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 txBox="1"/>
          <p:nvPr/>
        </p:nvSpPr>
        <p:spPr>
          <a:xfrm>
            <a:off x="6647688" y="3172968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647688" y="341985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combustible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3813048"/>
            <a:ext cx="256032" cy="256032"/>
          </a:xfrm>
          <a:prstGeom prst="ellipse">
            <a:avLst/>
          </a:prstGeom>
          <a:solidFill>
            <a:srgbClr val="FF6B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 txBox="1"/>
          <p:nvPr/>
        </p:nvSpPr>
        <p:spPr>
          <a:xfrm>
            <a:off x="932688" y="3739896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type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32688" y="3986784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cambio (manual/auto)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63640" y="3813048"/>
            <a:ext cx="256032" cy="256032"/>
          </a:xfrm>
          <a:prstGeom prst="ellipse">
            <a:avLst/>
          </a:prstGeom>
          <a:solidFill>
            <a:srgbClr val="FF6B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 txBox="1"/>
          <p:nvPr/>
        </p:nvSpPr>
        <p:spPr>
          <a:xfrm>
            <a:off x="6647688" y="3739896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647688" y="3986784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(usado, km 0...)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8640" y="4379976"/>
            <a:ext cx="256032" cy="256032"/>
          </a:xfrm>
          <a:prstGeom prst="ellipse">
            <a:avLst/>
          </a:prstGeom>
          <a:solidFill>
            <a:srgbClr val="FF6B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 txBox="1"/>
          <p:nvPr/>
        </p:nvSpPr>
        <p:spPr>
          <a:xfrm>
            <a:off x="932688" y="4306824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32688" y="4553712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 venta (€)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263640" y="4379976"/>
            <a:ext cx="256032" cy="256032"/>
          </a:xfrm>
          <a:prstGeom prst="ellipse">
            <a:avLst/>
          </a:prstGeom>
          <a:solidFill>
            <a:srgbClr val="FF6B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 txBox="1"/>
          <p:nvPr/>
        </p:nvSpPr>
        <p:spPr>
          <a:xfrm>
            <a:off x="6647688" y="4306824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Horsepower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647688" y="4553712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en caballos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48640" y="4946904"/>
            <a:ext cx="256032" cy="256032"/>
          </a:xfrm>
          <a:prstGeom prst="ellipse">
            <a:avLst/>
          </a:prstGeom>
          <a:solidFill>
            <a:srgbClr val="FF6B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 txBox="1"/>
          <p:nvPr/>
        </p:nvSpPr>
        <p:spPr>
          <a:xfrm>
            <a:off x="932688" y="4873752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year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932688" y="512064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de matriculación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263640" y="4946904"/>
            <a:ext cx="256032" cy="256032"/>
          </a:xfrm>
          <a:prstGeom prst="ellipse">
            <a:avLst/>
          </a:prstGeom>
          <a:solidFill>
            <a:srgbClr val="FF6B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 txBox="1"/>
          <p:nvPr/>
        </p:nvSpPr>
        <p:spPr>
          <a:xfrm>
            <a:off x="6647688" y="4873752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647688" y="512064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Tramo de precio calculado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2692E-5F10-EB36-537C-41B5F978E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1F1C83-BE96-4D27-AF8C-A7911FAA09B0}"/>
              </a:ext>
            </a:extLst>
          </p:cNvPr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0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Dificultades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763FA4-6EC3-FFCA-4A80-461D2E75C7E9}"/>
              </a:ext>
            </a:extLst>
          </p:cNvPr>
          <p:cNvSpPr txBox="1"/>
          <p:nvPr/>
        </p:nvSpPr>
        <p:spPr>
          <a:xfrm>
            <a:off x="548640" y="8961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noProof="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mayor error y lo que hemos aprendido</a:t>
            </a:r>
            <a:endParaRPr lang="es-ES" sz="1300" noProof="0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B1CE0F0D-E8DB-3A33-7B74-28CFC740929A}"/>
              </a:ext>
            </a:extLst>
          </p:cNvPr>
          <p:cNvSpPr txBox="1"/>
          <p:nvPr/>
        </p:nvSpPr>
        <p:spPr>
          <a:xfrm>
            <a:off x="820720" y="1886757"/>
            <a:ext cx="75021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Tx/>
              <a:buChar char="-"/>
            </a:pPr>
            <a:r>
              <a:rPr lang="es-ES" sz="1600" noProof="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Rangos de los precios: Para poder segmentar por distintos rangos </a:t>
            </a:r>
            <a:r>
              <a:rPr lang="es-ES" sz="1600" noProof="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IFS</a:t>
            </a:r>
          </a:p>
          <a:p>
            <a:pPr marL="285750" indent="-285750">
              <a:buFontTx/>
              <a:buChar char="-"/>
            </a:pPr>
            <a:endParaRPr lang="es-ES" sz="1600" noProof="0" dirty="0">
              <a:solidFill>
                <a:srgbClr val="5B6577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es-ES" sz="16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Gráficos: Realizar una tabla dinámica para poder habilitar gráficos distintos y detallar tanto colores como formato.</a:t>
            </a:r>
            <a:r>
              <a:rPr lang="es-ES" sz="1600" noProof="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s-ES" sz="1600" noProof="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FBF28CB-5C04-E942-24FC-ACFB93791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919" y="2838312"/>
            <a:ext cx="3404656" cy="178326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4B7CA18-8F88-BB93-9BD1-24497D662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5510" y="2822215"/>
            <a:ext cx="3735761" cy="181546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2796C70-FD4C-7F9F-195B-D1ED7746E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3934" y="2822215"/>
            <a:ext cx="3623388" cy="181546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ED69A92-E510-E134-2EB8-C52546F983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4688" y="4914681"/>
            <a:ext cx="5730737" cy="1539373"/>
          </a:xfrm>
          <a:prstGeom prst="rect">
            <a:avLst/>
          </a:prstGeom>
        </p:spPr>
      </p:pic>
      <p:sp>
        <p:nvSpPr>
          <p:cNvPr id="46" name="Shape 2">
            <a:extLst>
              <a:ext uri="{FF2B5EF4-FFF2-40B4-BE49-F238E27FC236}">
                <a16:creationId xmlns:a16="http://schemas.microsoft.com/office/drawing/2014/main" id="{DE1365C0-C3B6-E867-7147-6731EE37AF9A}"/>
              </a:ext>
            </a:extLst>
          </p:cNvPr>
          <p:cNvSpPr/>
          <p:nvPr/>
        </p:nvSpPr>
        <p:spPr>
          <a:xfrm>
            <a:off x="692704" y="1605631"/>
            <a:ext cx="256032" cy="256032"/>
          </a:xfrm>
          <a:prstGeom prst="ellipse">
            <a:avLst/>
          </a:prstGeom>
          <a:solidFill>
            <a:srgbClr val="FF6B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Shape 2">
            <a:extLst>
              <a:ext uri="{FF2B5EF4-FFF2-40B4-BE49-F238E27FC236}">
                <a16:creationId xmlns:a16="http://schemas.microsoft.com/office/drawing/2014/main" id="{7F4D50A8-1150-E820-86A8-EFD3C16DCD44}"/>
              </a:ext>
            </a:extLst>
          </p:cNvPr>
          <p:cNvSpPr/>
          <p:nvPr/>
        </p:nvSpPr>
        <p:spPr>
          <a:xfrm>
            <a:off x="692704" y="2124501"/>
            <a:ext cx="256032" cy="256032"/>
          </a:xfrm>
          <a:prstGeom prst="ellipse">
            <a:avLst/>
          </a:prstGeom>
          <a:solidFill>
            <a:srgbClr val="FF6B45"/>
          </a:solidFill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5144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226</Words>
  <Application>Microsoft Office PowerPoint</Application>
  <PresentationFormat>Widescreen</PresentationFormat>
  <Paragraphs>83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Iñaki Quer</cp:lastModifiedBy>
  <cp:revision>2</cp:revision>
  <dcterms:created xsi:type="dcterms:W3CDTF">2026-09-17T13:50:36Z</dcterms:created>
  <dcterms:modified xsi:type="dcterms:W3CDTF">2026-09-17T15:38:52Z</dcterms:modified>
</cp:coreProperties>
</file>